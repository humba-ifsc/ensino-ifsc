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2" roundtripDataSignature="AMtx7mgVtGEOzbPDHGQNrO07mgtitKtr+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10" Type="http://schemas.openxmlformats.org/officeDocument/2006/relationships/slide" Target="slides/slide5.xml"/><Relationship Id="rId32"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f9eeb33fd5_1_6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f9eeb33fd5_1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fa0fa10d16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fa0fa10d1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f9eceff479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f9eceff47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f9eceff479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f9eceff47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f9eceff479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f9eceff47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f9eeb33fd5_1_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f9eeb33fd5_1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f9eceff479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f9eceff479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f9eceff479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f9eceff479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f9eceff479_0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f9eceff479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fa011831ea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fa011831e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fa011831ea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fa011831e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fa011831ea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fa011831e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fa011831ea_0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fa011831ea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fa011831ea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fa011831ea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fa011831ea_0_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fa011831ea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mente título" type="titleOnly">
  <p:cSld name="TITLE_ONLY">
    <p:spTree>
      <p:nvGrpSpPr>
        <p:cNvPr id="14" name="Shape 14"/>
        <p:cNvGrpSpPr/>
        <p:nvPr/>
      </p:nvGrpSpPr>
      <p:grpSpPr>
        <a:xfrm>
          <a:off x="0" y="0"/>
          <a:ext cx="0" cy="0"/>
          <a:chOff x="0" y="0"/>
          <a:chExt cx="0" cy="0"/>
        </a:xfrm>
      </p:grpSpPr>
      <p:sp>
        <p:nvSpPr>
          <p:cNvPr id="15" name="Google Shape;15;p1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14"/>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14"/>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14"/>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e título" showMasterSp="0" type="title">
  <p:cSld name="TITLE">
    <p:spTree>
      <p:nvGrpSpPr>
        <p:cNvPr id="19" name="Shape 19"/>
        <p:cNvGrpSpPr/>
        <p:nvPr/>
      </p:nvGrpSpPr>
      <p:grpSpPr>
        <a:xfrm>
          <a:off x="0" y="0"/>
          <a:ext cx="0" cy="0"/>
          <a:chOff x="0" y="0"/>
          <a:chExt cx="0" cy="0"/>
        </a:xfrm>
      </p:grpSpPr>
      <p:sp>
        <p:nvSpPr>
          <p:cNvPr id="20" name="Google Shape;20;p15"/>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15"/>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15"/>
          <p:cNvSpPr txBox="1"/>
          <p:nvPr>
            <p:ph type="ctr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5"/>
          <p:cNvSpPr txBox="1"/>
          <p:nvPr>
            <p:ph idx="1" type="subTitle"/>
          </p:nvPr>
        </p:nvSpPr>
        <p:spPr>
          <a:xfrm>
            <a:off x="1100051" y="4455620"/>
            <a:ext cx="10058400" cy="11430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sp>
        <p:nvSpPr>
          <p:cNvPr id="24" name="Google Shape;24;p15"/>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5"/>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5"/>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27" name="Google Shape;27;p15"/>
          <p:cNvCxnSpPr/>
          <p:nvPr/>
        </p:nvCxnSpPr>
        <p:spPr>
          <a:xfrm>
            <a:off x="1207658" y="4343400"/>
            <a:ext cx="987552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conteúdo" type="obj">
  <p:cSld name="OBJECT">
    <p:spTree>
      <p:nvGrpSpPr>
        <p:cNvPr id="28" name="Shape 28"/>
        <p:cNvGrpSpPr/>
        <p:nvPr/>
      </p:nvGrpSpPr>
      <p:grpSpPr>
        <a:xfrm>
          <a:off x="0" y="0"/>
          <a:ext cx="0" cy="0"/>
          <a:chOff x="0" y="0"/>
          <a:chExt cx="0" cy="0"/>
        </a:xfrm>
      </p:grpSpPr>
      <p:sp>
        <p:nvSpPr>
          <p:cNvPr id="29" name="Google Shape;29;p16"/>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48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16"/>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31" name="Google Shape;31;p16"/>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6"/>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6"/>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beçalho da Seção" showMasterSp="0" type="secHead">
  <p:cSld name="SECTION_HEADER">
    <p:bg>
      <p:bgPr>
        <a:solidFill>
          <a:schemeClr val="lt1"/>
        </a:solidFill>
      </p:bgPr>
    </p:bg>
    <p:spTree>
      <p:nvGrpSpPr>
        <p:cNvPr id="34" name="Shape 34"/>
        <p:cNvGrpSpPr/>
        <p:nvPr/>
      </p:nvGrpSpPr>
      <p:grpSpPr>
        <a:xfrm>
          <a:off x="0" y="0"/>
          <a:ext cx="0" cy="0"/>
          <a:chOff x="0" y="0"/>
          <a:chExt cx="0" cy="0"/>
        </a:xfrm>
      </p:grpSpPr>
      <p:sp>
        <p:nvSpPr>
          <p:cNvPr id="35" name="Google Shape;35;p17"/>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17"/>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17"/>
          <p:cNvSpPr txBox="1"/>
          <p:nvPr>
            <p:ph type="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b="0"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7"/>
          <p:cNvSpPr txBox="1"/>
          <p:nvPr>
            <p:ph idx="1" type="body"/>
          </p:nvPr>
        </p:nvSpPr>
        <p:spPr>
          <a:xfrm>
            <a:off x="1097280" y="4453128"/>
            <a:ext cx="10058400" cy="1143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indent="-228600" lvl="1" marL="914400" algn="l">
              <a:lnSpc>
                <a:spcPct val="90000"/>
              </a:lnSpc>
              <a:spcBef>
                <a:spcPts val="200"/>
              </a:spcBef>
              <a:spcAft>
                <a:spcPts val="0"/>
              </a:spcAft>
              <a:buSzPts val="1800"/>
              <a:buNone/>
              <a:defRPr sz="1800">
                <a:solidFill>
                  <a:srgbClr val="888888"/>
                </a:solidFill>
              </a:defRPr>
            </a:lvl2pPr>
            <a:lvl3pPr indent="-228600" lvl="2" marL="1371600" algn="l">
              <a:lnSpc>
                <a:spcPct val="90000"/>
              </a:lnSpc>
              <a:spcBef>
                <a:spcPts val="400"/>
              </a:spcBef>
              <a:spcAft>
                <a:spcPts val="0"/>
              </a:spcAft>
              <a:buSzPts val="1600"/>
              <a:buNone/>
              <a:defRPr sz="1600">
                <a:solidFill>
                  <a:srgbClr val="888888"/>
                </a:solidFill>
              </a:defRPr>
            </a:lvl3pPr>
            <a:lvl4pPr indent="-228600" lvl="3" marL="1828800" algn="l">
              <a:lnSpc>
                <a:spcPct val="90000"/>
              </a:lnSpc>
              <a:spcBef>
                <a:spcPts val="400"/>
              </a:spcBef>
              <a:spcAft>
                <a:spcPts val="0"/>
              </a:spcAft>
              <a:buSzPts val="1400"/>
              <a:buNone/>
              <a:defRPr sz="1400">
                <a:solidFill>
                  <a:srgbClr val="888888"/>
                </a:solidFill>
              </a:defRPr>
            </a:lvl4pPr>
            <a:lvl5pPr indent="-228600" lvl="4" marL="2286000" algn="l">
              <a:lnSpc>
                <a:spcPct val="9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39" name="Google Shape;39;p17"/>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17"/>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17"/>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42" name="Google Shape;42;p17"/>
          <p:cNvCxnSpPr/>
          <p:nvPr/>
        </p:nvCxnSpPr>
        <p:spPr>
          <a:xfrm>
            <a:off x="1207658" y="4343400"/>
            <a:ext cx="987552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as Partes de Conteúdo" type="twoObj">
  <p:cSld name="TWO_OBJECTS">
    <p:spTree>
      <p:nvGrpSpPr>
        <p:cNvPr id="43" name="Shape 43"/>
        <p:cNvGrpSpPr/>
        <p:nvPr/>
      </p:nvGrpSpPr>
      <p:grpSpPr>
        <a:xfrm>
          <a:off x="0" y="0"/>
          <a:ext cx="0" cy="0"/>
          <a:chOff x="0" y="0"/>
          <a:chExt cx="0" cy="0"/>
        </a:xfrm>
      </p:grpSpPr>
      <p:sp>
        <p:nvSpPr>
          <p:cNvPr id="44" name="Google Shape;44;p1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18"/>
          <p:cNvSpPr txBox="1"/>
          <p:nvPr>
            <p:ph idx="1" type="body"/>
          </p:nvPr>
        </p:nvSpPr>
        <p:spPr>
          <a:xfrm>
            <a:off x="1097279" y="1845734"/>
            <a:ext cx="493776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6" name="Google Shape;46;p18"/>
          <p:cNvSpPr txBox="1"/>
          <p:nvPr>
            <p:ph idx="2" type="body"/>
          </p:nvPr>
        </p:nvSpPr>
        <p:spPr>
          <a:xfrm>
            <a:off x="6217920" y="1845735"/>
            <a:ext cx="493776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7" name="Google Shape;47;p18"/>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8"/>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8"/>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ção" type="twoTxTwoObj">
  <p:cSld name="TWO_OBJECTS_WITH_TEXT">
    <p:spTree>
      <p:nvGrpSpPr>
        <p:cNvPr id="50" name="Shape 50"/>
        <p:cNvGrpSpPr/>
        <p:nvPr/>
      </p:nvGrpSpPr>
      <p:grpSpPr>
        <a:xfrm>
          <a:off x="0" y="0"/>
          <a:ext cx="0" cy="0"/>
          <a:chOff x="0" y="0"/>
          <a:chExt cx="0" cy="0"/>
        </a:xfrm>
      </p:grpSpPr>
      <p:sp>
        <p:nvSpPr>
          <p:cNvPr id="51" name="Google Shape;51;p19"/>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19"/>
          <p:cNvSpPr txBox="1"/>
          <p:nvPr>
            <p:ph idx="1" type="body"/>
          </p:nvPr>
        </p:nvSpPr>
        <p:spPr>
          <a:xfrm>
            <a:off x="109728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3" name="Google Shape;53;p19"/>
          <p:cNvSpPr txBox="1"/>
          <p:nvPr>
            <p:ph idx="2" type="body"/>
          </p:nvPr>
        </p:nvSpPr>
        <p:spPr>
          <a:xfrm>
            <a:off x="1097280" y="2582334"/>
            <a:ext cx="4937760" cy="3378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4" name="Google Shape;54;p19"/>
          <p:cNvSpPr txBox="1"/>
          <p:nvPr>
            <p:ph idx="3" type="body"/>
          </p:nvPr>
        </p:nvSpPr>
        <p:spPr>
          <a:xfrm>
            <a:off x="621792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5" name="Google Shape;55;p19"/>
          <p:cNvSpPr txBox="1"/>
          <p:nvPr>
            <p:ph idx="4" type="body"/>
          </p:nvPr>
        </p:nvSpPr>
        <p:spPr>
          <a:xfrm>
            <a:off x="6217920" y="2582334"/>
            <a:ext cx="4937760" cy="3378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6" name="Google Shape;56;p19"/>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9"/>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19"/>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 branco" showMasterSp="0" type="blank">
  <p:cSld name="BLANK">
    <p:spTree>
      <p:nvGrpSpPr>
        <p:cNvPr id="59" name="Shape 59"/>
        <p:cNvGrpSpPr/>
        <p:nvPr/>
      </p:nvGrpSpPr>
      <p:grpSpPr>
        <a:xfrm>
          <a:off x="0" y="0"/>
          <a:ext cx="0" cy="0"/>
          <a:chOff x="0" y="0"/>
          <a:chExt cx="0" cy="0"/>
        </a:xfrm>
      </p:grpSpPr>
      <p:sp>
        <p:nvSpPr>
          <p:cNvPr id="60" name="Google Shape;60;p20"/>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0"/>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20"/>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0"/>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0"/>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údo com Legenda" showMasterSp="0" type="objTx">
  <p:cSld name="OBJECT_WITH_CAPTION_TEXT">
    <p:spTree>
      <p:nvGrpSpPr>
        <p:cNvPr id="65" name="Shape 65"/>
        <p:cNvGrpSpPr/>
        <p:nvPr/>
      </p:nvGrpSpPr>
      <p:grpSpPr>
        <a:xfrm>
          <a:off x="0" y="0"/>
          <a:ext cx="0" cy="0"/>
          <a:chOff x="0" y="0"/>
          <a:chExt cx="0" cy="0"/>
        </a:xfrm>
      </p:grpSpPr>
      <p:sp>
        <p:nvSpPr>
          <p:cNvPr id="66" name="Google Shape;66;p21"/>
          <p:cNvSpPr/>
          <p:nvPr/>
        </p:nvSpPr>
        <p:spPr>
          <a:xfrm>
            <a:off x="16" y="0"/>
            <a:ext cx="4050791" cy="6858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1"/>
          <p:cNvSpPr/>
          <p:nvPr/>
        </p:nvSpPr>
        <p:spPr>
          <a:xfrm>
            <a:off x="4040071" y="0"/>
            <a:ext cx="64008"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1"/>
          <p:cNvSpPr txBox="1"/>
          <p:nvPr>
            <p:ph type="title"/>
          </p:nvPr>
        </p:nvSpPr>
        <p:spPr>
          <a:xfrm>
            <a:off x="457200" y="594359"/>
            <a:ext cx="3200400" cy="22860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21"/>
          <p:cNvSpPr txBox="1"/>
          <p:nvPr>
            <p:ph idx="1" type="body"/>
          </p:nvPr>
        </p:nvSpPr>
        <p:spPr>
          <a:xfrm>
            <a:off x="4800600" y="731520"/>
            <a:ext cx="6492240" cy="52578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70" name="Google Shape;70;p21"/>
          <p:cNvSpPr txBox="1"/>
          <p:nvPr>
            <p:ph idx="2" type="body"/>
          </p:nvPr>
        </p:nvSpPr>
        <p:spPr>
          <a:xfrm>
            <a:off x="457200" y="2926080"/>
            <a:ext cx="3200400" cy="33791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500"/>
              <a:buNone/>
              <a:defRPr sz="1500">
                <a:solidFill>
                  <a:srgbClr val="FFFFFF"/>
                </a:solidFill>
              </a:defRPr>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71" name="Google Shape;71;p21"/>
          <p:cNvSpPr txBox="1"/>
          <p:nvPr>
            <p:ph idx="10" type="dt"/>
          </p:nvPr>
        </p:nvSpPr>
        <p:spPr>
          <a:xfrm>
            <a:off x="465512" y="6459785"/>
            <a:ext cx="26185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1"/>
          <p:cNvSpPr txBox="1"/>
          <p:nvPr>
            <p:ph idx="11" type="ftr"/>
          </p:nvPr>
        </p:nvSpPr>
        <p:spPr>
          <a:xfrm>
            <a:off x="4800600" y="6459785"/>
            <a:ext cx="4648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1"/>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050" u="none" cap="none" strike="noStrike">
                <a:solidFill>
                  <a:schemeClr val="dk2"/>
                </a:solidFill>
                <a:latin typeface="Calibri"/>
                <a:ea typeface="Calibri"/>
                <a:cs typeface="Calibri"/>
                <a:sym typeface="Calibri"/>
              </a:defRPr>
            </a:lvl1pPr>
            <a:lvl2pPr indent="0" lvl="1" marL="0" algn="r">
              <a:spcBef>
                <a:spcPts val="0"/>
              </a:spcBef>
              <a:buNone/>
              <a:defRPr b="0" i="0" sz="1050" u="none" cap="none" strike="noStrike">
                <a:solidFill>
                  <a:schemeClr val="dk2"/>
                </a:solidFill>
                <a:latin typeface="Calibri"/>
                <a:ea typeface="Calibri"/>
                <a:cs typeface="Calibri"/>
                <a:sym typeface="Calibri"/>
              </a:defRPr>
            </a:lvl2pPr>
            <a:lvl3pPr indent="0" lvl="2" marL="0" algn="r">
              <a:spcBef>
                <a:spcPts val="0"/>
              </a:spcBef>
              <a:buNone/>
              <a:defRPr b="0" i="0" sz="1050" u="none" cap="none" strike="noStrike">
                <a:solidFill>
                  <a:schemeClr val="dk2"/>
                </a:solidFill>
                <a:latin typeface="Calibri"/>
                <a:ea typeface="Calibri"/>
                <a:cs typeface="Calibri"/>
                <a:sym typeface="Calibri"/>
              </a:defRPr>
            </a:lvl3pPr>
            <a:lvl4pPr indent="0" lvl="3" marL="0" algn="r">
              <a:spcBef>
                <a:spcPts val="0"/>
              </a:spcBef>
              <a:buNone/>
              <a:defRPr b="0" i="0" sz="1050" u="none" cap="none" strike="noStrike">
                <a:solidFill>
                  <a:schemeClr val="dk2"/>
                </a:solidFill>
                <a:latin typeface="Calibri"/>
                <a:ea typeface="Calibri"/>
                <a:cs typeface="Calibri"/>
                <a:sym typeface="Calibri"/>
              </a:defRPr>
            </a:lvl4pPr>
            <a:lvl5pPr indent="0" lvl="4" marL="0" algn="r">
              <a:spcBef>
                <a:spcPts val="0"/>
              </a:spcBef>
              <a:buNone/>
              <a:defRPr b="0" i="0" sz="1050" u="none" cap="none" strike="noStrike">
                <a:solidFill>
                  <a:schemeClr val="dk2"/>
                </a:solidFill>
                <a:latin typeface="Calibri"/>
                <a:ea typeface="Calibri"/>
                <a:cs typeface="Calibri"/>
                <a:sym typeface="Calibri"/>
              </a:defRPr>
            </a:lvl5pPr>
            <a:lvl6pPr indent="0" lvl="5" marL="0" algn="r">
              <a:spcBef>
                <a:spcPts val="0"/>
              </a:spcBef>
              <a:buNone/>
              <a:defRPr b="0" i="0" sz="1050" u="none" cap="none" strike="noStrike">
                <a:solidFill>
                  <a:schemeClr val="dk2"/>
                </a:solidFill>
                <a:latin typeface="Calibri"/>
                <a:ea typeface="Calibri"/>
                <a:cs typeface="Calibri"/>
                <a:sym typeface="Calibri"/>
              </a:defRPr>
            </a:lvl6pPr>
            <a:lvl7pPr indent="0" lvl="6" marL="0" algn="r">
              <a:spcBef>
                <a:spcPts val="0"/>
              </a:spcBef>
              <a:buNone/>
              <a:defRPr b="0" i="0" sz="1050" u="none" cap="none" strike="noStrike">
                <a:solidFill>
                  <a:schemeClr val="dk2"/>
                </a:solidFill>
                <a:latin typeface="Calibri"/>
                <a:ea typeface="Calibri"/>
                <a:cs typeface="Calibri"/>
                <a:sym typeface="Calibri"/>
              </a:defRPr>
            </a:lvl7pPr>
            <a:lvl8pPr indent="0" lvl="7" marL="0" algn="r">
              <a:spcBef>
                <a:spcPts val="0"/>
              </a:spcBef>
              <a:buNone/>
              <a:defRPr b="0" i="0" sz="1050" u="none" cap="none" strike="noStrike">
                <a:solidFill>
                  <a:schemeClr val="dk2"/>
                </a:solidFill>
                <a:latin typeface="Calibri"/>
                <a:ea typeface="Calibri"/>
                <a:cs typeface="Calibri"/>
                <a:sym typeface="Calibri"/>
              </a:defRPr>
            </a:lvl8pPr>
            <a:lvl9pPr indent="0" lvl="8" marL="0" algn="r">
              <a:spcBef>
                <a:spcPts val="0"/>
              </a:spcBef>
              <a:buNone/>
              <a:defRPr b="0" i="0" sz="1050" u="none" cap="none" strike="noStrike">
                <a:solidFill>
                  <a:schemeClr val="dk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m com Legenda" showMasterSp="0" type="picTx">
  <p:cSld name="PICTURE_WITH_CAPTION_TEXT">
    <p:spTree>
      <p:nvGrpSpPr>
        <p:cNvPr id="74" name="Shape 74"/>
        <p:cNvGrpSpPr/>
        <p:nvPr/>
      </p:nvGrpSpPr>
      <p:grpSpPr>
        <a:xfrm>
          <a:off x="0" y="0"/>
          <a:ext cx="0" cy="0"/>
          <a:chOff x="0" y="0"/>
          <a:chExt cx="0" cy="0"/>
        </a:xfrm>
      </p:grpSpPr>
      <p:sp>
        <p:nvSpPr>
          <p:cNvPr id="75" name="Google Shape;75;p22"/>
          <p:cNvSpPr/>
          <p:nvPr/>
        </p:nvSpPr>
        <p:spPr>
          <a:xfrm>
            <a:off x="0" y="4953000"/>
            <a:ext cx="12188825" cy="1905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22"/>
          <p:cNvSpPr/>
          <p:nvPr/>
        </p:nvSpPr>
        <p:spPr>
          <a:xfrm>
            <a:off x="15" y="491507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22"/>
          <p:cNvSpPr txBox="1"/>
          <p:nvPr>
            <p:ph type="title"/>
          </p:nvPr>
        </p:nvSpPr>
        <p:spPr>
          <a:xfrm>
            <a:off x="1097280" y="5074920"/>
            <a:ext cx="10113264" cy="822960"/>
          </a:xfrm>
          <a:prstGeom prst="rect">
            <a:avLst/>
          </a:prstGeom>
          <a:noFill/>
          <a:ln>
            <a:noFill/>
          </a:ln>
        </p:spPr>
        <p:txBody>
          <a:bodyPr anchorCtr="0" anchor="b" bIns="0" lIns="91425" spcFirstLastPara="1" rIns="91425" wrap="square" tIns="0">
            <a:no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78" name="Google Shape;78;p22"/>
          <p:cNvPicPr preferRelativeResize="0"/>
          <p:nvPr>
            <p:ph idx="2" type="pic"/>
          </p:nvPr>
        </p:nvPicPr>
        <p:blipFill/>
        <p:spPr>
          <a:xfrm>
            <a:off x="15" y="0"/>
            <a:ext cx="12191985" cy="4915076"/>
          </a:xfrm>
          <a:prstGeom prst="rect">
            <a:avLst/>
          </a:prstGeom>
          <a:blipFill rotWithShape="1">
            <a:blip r:embed="rId2">
              <a:alphaModFix/>
            </a:blip>
            <a:stretch>
              <a:fillRect b="0" l="0" r="0" t="0"/>
            </a:stretch>
          </a:blipFill>
          <a:ln>
            <a:noFill/>
          </a:ln>
        </p:spPr>
      </p:pic>
      <p:sp>
        <p:nvSpPr>
          <p:cNvPr id="79" name="Google Shape;79;p22"/>
          <p:cNvSpPr txBox="1"/>
          <p:nvPr>
            <p:ph idx="1" type="body"/>
          </p:nvPr>
        </p:nvSpPr>
        <p:spPr>
          <a:xfrm>
            <a:off x="1097280" y="5907023"/>
            <a:ext cx="10113264" cy="594360"/>
          </a:xfrm>
          <a:prstGeom prst="rect">
            <a:avLst/>
          </a:prstGeom>
          <a:noFill/>
          <a:ln>
            <a:noFill/>
          </a:ln>
        </p:spPr>
        <p:txBody>
          <a:bodyPr anchorCtr="0" anchor="t" bIns="0" lIns="91425" spcFirstLastPara="1" rIns="91425" wrap="square" tIns="0">
            <a:normAutofit/>
          </a:bodyPr>
          <a:lstStyle>
            <a:lvl1pPr indent="-228600" lvl="0" marL="457200" algn="l">
              <a:lnSpc>
                <a:spcPct val="90000"/>
              </a:lnSpc>
              <a:spcBef>
                <a:spcPts val="0"/>
              </a:spcBef>
              <a:spcAft>
                <a:spcPts val="0"/>
              </a:spcAft>
              <a:buSzPts val="1500"/>
              <a:buNone/>
              <a:defRPr sz="1500">
                <a:solidFill>
                  <a:srgbClr val="FFFFFF"/>
                </a:solidFill>
              </a:defRPr>
            </a:lvl1pPr>
            <a:lvl2pPr indent="-228600" lvl="1" marL="914400" algn="l">
              <a:lnSpc>
                <a:spcPct val="90000"/>
              </a:lnSpc>
              <a:spcBef>
                <a:spcPts val="6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80" name="Google Shape;80;p22"/>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22"/>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2"/>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texto vertical" type="vertTx">
  <p:cSld name="VERTICAL_TEXT">
    <p:spTree>
      <p:nvGrpSpPr>
        <p:cNvPr id="83" name="Shape 83"/>
        <p:cNvGrpSpPr/>
        <p:nvPr/>
      </p:nvGrpSpPr>
      <p:grpSpPr>
        <a:xfrm>
          <a:off x="0" y="0"/>
          <a:ext cx="0" cy="0"/>
          <a:chOff x="0" y="0"/>
          <a:chExt cx="0" cy="0"/>
        </a:xfrm>
      </p:grpSpPr>
      <p:sp>
        <p:nvSpPr>
          <p:cNvPr id="84" name="Google Shape;84;p23"/>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23"/>
          <p:cNvSpPr txBox="1"/>
          <p:nvPr>
            <p:ph idx="1" type="body"/>
          </p:nvPr>
        </p:nvSpPr>
        <p:spPr>
          <a:xfrm rot="5400000">
            <a:off x="4114800" y="-1171786"/>
            <a:ext cx="4023360" cy="100584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6" name="Google Shape;86;p23"/>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23"/>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23"/>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texto verticais" showMasterSp="0" type="vertTitleAndTx">
  <p:cSld name="VERTICAL_TITLE_AND_VERTICAL_TEXT">
    <p:spTree>
      <p:nvGrpSpPr>
        <p:cNvPr id="89" name="Shape 89"/>
        <p:cNvGrpSpPr/>
        <p:nvPr/>
      </p:nvGrpSpPr>
      <p:grpSpPr>
        <a:xfrm>
          <a:off x="0" y="0"/>
          <a:ext cx="0" cy="0"/>
          <a:chOff x="0" y="0"/>
          <a:chExt cx="0" cy="0"/>
        </a:xfrm>
      </p:grpSpPr>
      <p:sp>
        <p:nvSpPr>
          <p:cNvPr id="90" name="Google Shape;90;p24"/>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4"/>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4"/>
          <p:cNvSpPr txBox="1"/>
          <p:nvPr>
            <p:ph type="title"/>
          </p:nvPr>
        </p:nvSpPr>
        <p:spPr>
          <a:xfrm rot="5400000">
            <a:off x="7160640" y="1979039"/>
            <a:ext cx="5757421" cy="26289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24"/>
          <p:cNvSpPr txBox="1"/>
          <p:nvPr>
            <p:ph idx="1" type="body"/>
          </p:nvPr>
        </p:nvSpPr>
        <p:spPr>
          <a:xfrm rot="5400000">
            <a:off x="1826639" y="-573661"/>
            <a:ext cx="5757422" cy="77343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4" name="Google Shape;94;p24"/>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24"/>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24"/>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3"/>
          <p:cNvSpPr/>
          <p:nvPr/>
        </p:nvSpPr>
        <p:spPr>
          <a:xfrm>
            <a:off x="1" y="6400800"/>
            <a:ext cx="12192000"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 name="Google Shape;7;p13"/>
          <p:cNvSpPr/>
          <p:nvPr/>
        </p:nvSpPr>
        <p:spPr>
          <a:xfrm>
            <a:off x="0" y="6334316"/>
            <a:ext cx="12192001" cy="659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 name="Google Shape;8;p13"/>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marR="0" rtl="0" algn="l">
              <a:lnSpc>
                <a:spcPct val="85000"/>
              </a:lnSpc>
              <a:spcBef>
                <a:spcPts val="0"/>
              </a:spcBef>
              <a:spcAft>
                <a:spcPts val="0"/>
              </a:spcAft>
              <a:buClr>
                <a:srgbClr val="3F3F3F"/>
              </a:buClr>
              <a:buSzPts val="4800"/>
              <a:buFont typeface="Calibri"/>
              <a:buNone/>
              <a:defRPr b="0" i="0" sz="4800" u="none" cap="none" strike="noStrike">
                <a:solidFill>
                  <a:srgbClr val="3F3F3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13"/>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55600" lvl="0" marL="457200" marR="0" rtl="0" algn="l">
              <a:lnSpc>
                <a:spcPct val="90000"/>
              </a:lnSpc>
              <a:spcBef>
                <a:spcPts val="1200"/>
              </a:spcBef>
              <a:spcAft>
                <a:spcPts val="0"/>
              </a:spcAft>
              <a:buClr>
                <a:schemeClr val="accent1"/>
              </a:buClr>
              <a:buSzPts val="2000"/>
              <a:buFont typeface="Calibri"/>
              <a:buChar char=" "/>
              <a:defRPr b="0" i="0" sz="2000" u="none" cap="none" strike="noStrike">
                <a:solidFill>
                  <a:srgbClr val="3F3F3F"/>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
        <p:nvSpPr>
          <p:cNvPr id="10" name="Google Shape;10;p13"/>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FFFFF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 name="Google Shape;11;p13"/>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FFFFF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 name="Google Shape;12;p13"/>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50" u="none" cap="none" strike="noStrike">
                <a:solidFill>
                  <a:srgbClr val="FFFFFF"/>
                </a:solidFill>
                <a:latin typeface="Calibri"/>
                <a:ea typeface="Calibri"/>
                <a:cs typeface="Calibri"/>
                <a:sym typeface="Calibri"/>
              </a:defRPr>
            </a:lvl1pPr>
            <a:lvl2pPr indent="0" lvl="1" marL="0" marR="0" rtl="0" algn="r">
              <a:spcBef>
                <a:spcPts val="0"/>
              </a:spcBef>
              <a:buNone/>
              <a:defRPr b="0" i="0" sz="1050" u="none" cap="none" strike="noStrike">
                <a:solidFill>
                  <a:srgbClr val="FFFFFF"/>
                </a:solidFill>
                <a:latin typeface="Calibri"/>
                <a:ea typeface="Calibri"/>
                <a:cs typeface="Calibri"/>
                <a:sym typeface="Calibri"/>
              </a:defRPr>
            </a:lvl2pPr>
            <a:lvl3pPr indent="0" lvl="2" marL="0" marR="0" rtl="0" algn="r">
              <a:spcBef>
                <a:spcPts val="0"/>
              </a:spcBef>
              <a:buNone/>
              <a:defRPr b="0" i="0" sz="1050" u="none" cap="none" strike="noStrike">
                <a:solidFill>
                  <a:srgbClr val="FFFFFF"/>
                </a:solidFill>
                <a:latin typeface="Calibri"/>
                <a:ea typeface="Calibri"/>
                <a:cs typeface="Calibri"/>
                <a:sym typeface="Calibri"/>
              </a:defRPr>
            </a:lvl3pPr>
            <a:lvl4pPr indent="0" lvl="3" marL="0" marR="0" rtl="0" algn="r">
              <a:spcBef>
                <a:spcPts val="0"/>
              </a:spcBef>
              <a:buNone/>
              <a:defRPr b="0" i="0" sz="1050" u="none" cap="none" strike="noStrike">
                <a:solidFill>
                  <a:srgbClr val="FFFFFF"/>
                </a:solidFill>
                <a:latin typeface="Calibri"/>
                <a:ea typeface="Calibri"/>
                <a:cs typeface="Calibri"/>
                <a:sym typeface="Calibri"/>
              </a:defRPr>
            </a:lvl4pPr>
            <a:lvl5pPr indent="0" lvl="4" marL="0" marR="0" rtl="0" algn="r">
              <a:spcBef>
                <a:spcPts val="0"/>
              </a:spcBef>
              <a:buNone/>
              <a:defRPr b="0" i="0" sz="1050" u="none" cap="none" strike="noStrike">
                <a:solidFill>
                  <a:srgbClr val="FFFFFF"/>
                </a:solidFill>
                <a:latin typeface="Calibri"/>
                <a:ea typeface="Calibri"/>
                <a:cs typeface="Calibri"/>
                <a:sym typeface="Calibri"/>
              </a:defRPr>
            </a:lvl5pPr>
            <a:lvl6pPr indent="0" lvl="5" marL="0" marR="0" rtl="0" algn="r">
              <a:spcBef>
                <a:spcPts val="0"/>
              </a:spcBef>
              <a:buNone/>
              <a:defRPr b="0" i="0" sz="1050" u="none" cap="none" strike="noStrike">
                <a:solidFill>
                  <a:srgbClr val="FFFFFF"/>
                </a:solidFill>
                <a:latin typeface="Calibri"/>
                <a:ea typeface="Calibri"/>
                <a:cs typeface="Calibri"/>
                <a:sym typeface="Calibri"/>
              </a:defRPr>
            </a:lvl6pPr>
            <a:lvl7pPr indent="0" lvl="6" marL="0" marR="0" rtl="0" algn="r">
              <a:spcBef>
                <a:spcPts val="0"/>
              </a:spcBef>
              <a:buNone/>
              <a:defRPr b="0" i="0" sz="1050" u="none" cap="none" strike="noStrike">
                <a:solidFill>
                  <a:srgbClr val="FFFFFF"/>
                </a:solidFill>
                <a:latin typeface="Calibri"/>
                <a:ea typeface="Calibri"/>
                <a:cs typeface="Calibri"/>
                <a:sym typeface="Calibri"/>
              </a:defRPr>
            </a:lvl7pPr>
            <a:lvl8pPr indent="0" lvl="7" marL="0" marR="0" rtl="0" algn="r">
              <a:spcBef>
                <a:spcPts val="0"/>
              </a:spcBef>
              <a:buNone/>
              <a:defRPr b="0" i="0" sz="1050" u="none" cap="none" strike="noStrike">
                <a:solidFill>
                  <a:srgbClr val="FFFFFF"/>
                </a:solidFill>
                <a:latin typeface="Calibri"/>
                <a:ea typeface="Calibri"/>
                <a:cs typeface="Calibri"/>
                <a:sym typeface="Calibri"/>
              </a:defRPr>
            </a:lvl8pPr>
            <a:lvl9pPr indent="0" lvl="8" marL="0" marR="0" rtl="0" algn="r">
              <a:spcBef>
                <a:spcPts val="0"/>
              </a:spcBef>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13" name="Google Shape;13;p13"/>
          <p:cNvCxnSpPr/>
          <p:nvPr/>
        </p:nvCxnSpPr>
        <p:spPr>
          <a:xfrm>
            <a:off x="1193532" y="1737845"/>
            <a:ext cx="9966960" cy="0"/>
          </a:xfrm>
          <a:prstGeom prst="straightConnector1">
            <a:avLst/>
          </a:prstGeom>
          <a:noFill/>
          <a:ln cap="flat" cmpd="sng" w="9525">
            <a:solidFill>
              <a:srgbClr val="7F7F7F"/>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hyperlink" Target="https://www.youtube.com/watch?v=fCGvDeehhmY"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g3f9eeb33fd5_1_64"/>
          <p:cNvSpPr/>
          <p:nvPr/>
        </p:nvSpPr>
        <p:spPr>
          <a:xfrm>
            <a:off x="1163750" y="677200"/>
            <a:ext cx="10241700" cy="5229300"/>
          </a:xfrm>
          <a:prstGeom prst="rect">
            <a:avLst/>
          </a:prstGeom>
          <a:noFill/>
          <a:ln>
            <a:noFill/>
          </a:ln>
        </p:spPr>
        <p:txBody>
          <a:bodyPr anchorCtr="0" anchor="t" bIns="45700" lIns="91425" spcFirstLastPara="1" rIns="91425" wrap="square" tIns="45700">
            <a:noAutofit/>
          </a:bodyPr>
          <a:lstStyle/>
          <a:p>
            <a:pPr indent="0" lvl="0" marL="0" rtl="0" algn="l">
              <a:spcBef>
                <a:spcPts val="1000"/>
              </a:spcBef>
              <a:spcAft>
                <a:spcPts val="0"/>
              </a:spcAft>
              <a:buNone/>
            </a:pPr>
            <a:r>
              <a:t/>
            </a:r>
            <a:endParaRPr b="1" sz="2900">
              <a:solidFill>
                <a:schemeClr val="dk1"/>
              </a:solidFill>
              <a:latin typeface="Cambria"/>
              <a:ea typeface="Cambria"/>
              <a:cs typeface="Cambria"/>
              <a:sym typeface="Cambria"/>
            </a:endParaRPr>
          </a:p>
          <a:p>
            <a:pPr indent="0" lvl="0" marL="0" rtl="0" algn="l">
              <a:spcBef>
                <a:spcPts val="1000"/>
              </a:spcBef>
              <a:spcAft>
                <a:spcPts val="0"/>
              </a:spcAft>
              <a:buClr>
                <a:schemeClr val="dk1"/>
              </a:buClr>
              <a:buFont typeface="Arial"/>
              <a:buNone/>
            </a:pPr>
            <a:r>
              <a:rPr b="1" lang="en-US" sz="2300">
                <a:solidFill>
                  <a:schemeClr val="dk1"/>
                </a:solidFill>
                <a:latin typeface="Cambria"/>
                <a:ea typeface="Cambria"/>
                <a:cs typeface="Cambria"/>
                <a:sym typeface="Cambria"/>
              </a:rPr>
              <a:t>Seminário das metodologias -  Análise Textual Discursiva (ATD)</a:t>
            </a:r>
            <a:endParaRPr b="1" sz="2300">
              <a:solidFill>
                <a:schemeClr val="dk1"/>
              </a:solidFill>
              <a:latin typeface="Cambria"/>
              <a:ea typeface="Cambria"/>
              <a:cs typeface="Cambria"/>
              <a:sym typeface="Cambria"/>
            </a:endParaRPr>
          </a:p>
          <a:p>
            <a:pPr indent="0" lvl="0" marL="0" rtl="0" algn="l">
              <a:spcBef>
                <a:spcPts val="1000"/>
              </a:spcBef>
              <a:spcAft>
                <a:spcPts val="0"/>
              </a:spcAft>
              <a:buNone/>
            </a:pPr>
            <a:r>
              <a:t/>
            </a:r>
            <a:endParaRPr sz="1800">
              <a:solidFill>
                <a:schemeClr val="dk1"/>
              </a:solidFill>
              <a:latin typeface="Cambria"/>
              <a:ea typeface="Cambria"/>
              <a:cs typeface="Cambria"/>
              <a:sym typeface="Cambria"/>
            </a:endParaRPr>
          </a:p>
          <a:p>
            <a:pPr indent="0" lvl="0" marL="0" rtl="0" algn="l">
              <a:spcBef>
                <a:spcPts val="1000"/>
              </a:spcBef>
              <a:spcAft>
                <a:spcPts val="0"/>
              </a:spcAft>
              <a:buNone/>
            </a:pPr>
            <a:r>
              <a:rPr lang="en-US" sz="1800">
                <a:solidFill>
                  <a:schemeClr val="dk1"/>
                </a:solidFill>
                <a:latin typeface="Cambria"/>
                <a:ea typeface="Cambria"/>
                <a:cs typeface="Cambria"/>
                <a:sym typeface="Cambria"/>
              </a:rPr>
              <a:t>Disc</a:t>
            </a:r>
            <a:r>
              <a:rPr lang="en-US" sz="1800">
                <a:solidFill>
                  <a:srgbClr val="262626"/>
                </a:solidFill>
                <a:latin typeface="Cambria"/>
                <a:ea typeface="Cambria"/>
                <a:cs typeface="Cambria"/>
                <a:sym typeface="Cambria"/>
              </a:rPr>
              <a:t>iplina: </a:t>
            </a:r>
            <a:r>
              <a:rPr lang="en-US" sz="1800">
                <a:solidFill>
                  <a:srgbClr val="262626"/>
                </a:solidFill>
                <a:latin typeface="Verdana"/>
                <a:ea typeface="Verdana"/>
                <a:cs typeface="Verdana"/>
                <a:sym typeface="Verdana"/>
              </a:rPr>
              <a:t>METODOLOGIA DA PESQUISA EM EDUCAÇÃ</a:t>
            </a:r>
            <a:r>
              <a:rPr lang="en-US" sz="1800">
                <a:solidFill>
                  <a:srgbClr val="262626"/>
                </a:solidFill>
              </a:rPr>
              <a:t>O </a:t>
            </a:r>
            <a:endParaRPr sz="1800">
              <a:solidFill>
                <a:srgbClr val="262626"/>
              </a:solidFill>
              <a:latin typeface="Cambria"/>
              <a:ea typeface="Cambria"/>
              <a:cs typeface="Cambria"/>
              <a:sym typeface="Cambria"/>
            </a:endParaRPr>
          </a:p>
          <a:p>
            <a:pPr indent="0" lvl="0" marL="0" rtl="0" algn="l">
              <a:spcBef>
                <a:spcPts val="1000"/>
              </a:spcBef>
              <a:spcAft>
                <a:spcPts val="0"/>
              </a:spcAft>
              <a:buNone/>
            </a:pPr>
            <a:r>
              <a:rPr lang="en-US" sz="1800">
                <a:solidFill>
                  <a:schemeClr val="dk1"/>
                </a:solidFill>
                <a:latin typeface="Cambria"/>
                <a:ea typeface="Cambria"/>
                <a:cs typeface="Cambria"/>
                <a:sym typeface="Cambria"/>
              </a:rPr>
              <a:t>Professores:  Humberto Luz Oliveira; Joce Mary Mello Giotto e Volvir Von Dentz </a:t>
            </a:r>
            <a:endParaRPr b="1" sz="1800">
              <a:solidFill>
                <a:schemeClr val="dk1"/>
              </a:solidFill>
              <a:latin typeface="Cambria"/>
              <a:ea typeface="Cambria"/>
              <a:cs typeface="Cambria"/>
              <a:sym typeface="Cambria"/>
            </a:endParaRPr>
          </a:p>
          <a:p>
            <a:pPr indent="0" lvl="0" marL="0" rtl="0" algn="l">
              <a:spcBef>
                <a:spcPts val="1000"/>
              </a:spcBef>
              <a:spcAft>
                <a:spcPts val="0"/>
              </a:spcAft>
              <a:buNone/>
            </a:pPr>
            <a:r>
              <a:rPr lang="en-US" sz="1800">
                <a:solidFill>
                  <a:schemeClr val="dk1"/>
                </a:solidFill>
                <a:latin typeface="Cambria"/>
                <a:ea typeface="Cambria"/>
                <a:cs typeface="Cambria"/>
                <a:sym typeface="Cambria"/>
              </a:rPr>
              <a:t>Alunas:  Mariana Camargo Oliveira e Marina Luíza Borges Costa</a:t>
            </a:r>
            <a:endParaRPr sz="1800">
              <a:solidFill>
                <a:schemeClr val="dk1"/>
              </a:solidFill>
              <a:latin typeface="Cambria"/>
              <a:ea typeface="Cambria"/>
              <a:cs typeface="Cambria"/>
              <a:sym typeface="Cambria"/>
            </a:endParaRPr>
          </a:p>
          <a:p>
            <a:pPr indent="0" lvl="0" marL="0" rtl="0" algn="l">
              <a:spcBef>
                <a:spcPts val="1000"/>
              </a:spcBef>
              <a:spcAft>
                <a:spcPts val="0"/>
              </a:spcAft>
              <a:buNone/>
            </a:pPr>
            <a:r>
              <a:t/>
            </a:r>
            <a:endParaRPr sz="1800">
              <a:solidFill>
                <a:schemeClr val="dk1"/>
              </a:solidFill>
              <a:latin typeface="Cambria"/>
              <a:ea typeface="Cambria"/>
              <a:cs typeface="Cambria"/>
              <a:sym typeface="Cambria"/>
            </a:endParaRPr>
          </a:p>
        </p:txBody>
      </p:sp>
      <p:pic>
        <p:nvPicPr>
          <p:cNvPr id="102" name="Google Shape;102;g3f9eeb33fd5_1_64"/>
          <p:cNvPicPr preferRelativeResize="0"/>
          <p:nvPr/>
        </p:nvPicPr>
        <p:blipFill>
          <a:blip r:embed="rId3">
            <a:alphaModFix/>
          </a:blip>
          <a:stretch>
            <a:fillRect/>
          </a:stretch>
        </p:blipFill>
        <p:spPr>
          <a:xfrm>
            <a:off x="411223" y="134298"/>
            <a:ext cx="2904475" cy="11344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
          <p:cNvSpPr txBox="1"/>
          <p:nvPr/>
        </p:nvSpPr>
        <p:spPr>
          <a:xfrm>
            <a:off x="640080" y="411480"/>
            <a:ext cx="108813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chemeClr val="dk1"/>
                </a:solidFill>
                <a:latin typeface="Cambria"/>
                <a:ea typeface="Cambria"/>
                <a:cs typeface="Cambria"/>
                <a:sym typeface="Cambria"/>
              </a:rPr>
              <a:t>ANÁLISE TEXTUAL DISCURSIVA — </a:t>
            </a:r>
            <a:r>
              <a:rPr b="1" lang="en-US" sz="2800">
                <a:solidFill>
                  <a:schemeClr val="dk1"/>
                </a:solidFill>
                <a:latin typeface="Cambria"/>
                <a:ea typeface="Cambria"/>
                <a:cs typeface="Cambria"/>
                <a:sym typeface="Cambria"/>
              </a:rPr>
              <a:t>ATD </a:t>
            </a:r>
            <a:endParaRPr b="1" sz="2800">
              <a:solidFill>
                <a:schemeClr val="dk1"/>
              </a:solidFill>
              <a:latin typeface="Cambria"/>
              <a:ea typeface="Cambria"/>
              <a:cs typeface="Cambria"/>
              <a:sym typeface="Cambria"/>
            </a:endParaRPr>
          </a:p>
        </p:txBody>
      </p:sp>
      <p:sp>
        <p:nvSpPr>
          <p:cNvPr id="108" name="Google Shape;108;p1"/>
          <p:cNvSpPr/>
          <p:nvPr/>
        </p:nvSpPr>
        <p:spPr>
          <a:xfrm>
            <a:off x="1062750" y="1183000"/>
            <a:ext cx="10241700" cy="4149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2000" u="none" cap="none" strike="noStrike">
                <a:solidFill>
                  <a:schemeClr val="dk1"/>
                </a:solidFill>
                <a:latin typeface="Cambria"/>
                <a:ea typeface="Cambria"/>
                <a:cs typeface="Cambria"/>
                <a:sym typeface="Cambria"/>
              </a:rPr>
              <a:t>Um processo de desconstrução e reconstrução de sentidos</a:t>
            </a:r>
            <a:endParaRPr i="0" sz="2000" u="none" cap="none" strike="noStrike">
              <a:solidFill>
                <a:schemeClr val="dk1"/>
              </a:solidFill>
              <a:latin typeface="Cambria"/>
              <a:ea typeface="Cambria"/>
              <a:cs typeface="Cambria"/>
              <a:sym typeface="Cambria"/>
            </a:endParaRPr>
          </a:p>
          <a:p>
            <a:pPr indent="0" lvl="0" marL="0" marR="0" rtl="0" algn="l">
              <a:spcBef>
                <a:spcPts val="0"/>
              </a:spcBef>
              <a:spcAft>
                <a:spcPts val="0"/>
              </a:spcAft>
              <a:buNone/>
            </a:pPr>
            <a:r>
              <a:t/>
            </a:r>
            <a:endParaRPr sz="2000">
              <a:solidFill>
                <a:schemeClr val="dk1"/>
              </a:solidFill>
              <a:latin typeface="Cambria"/>
              <a:ea typeface="Cambria"/>
              <a:cs typeface="Cambria"/>
              <a:sym typeface="Cambria"/>
            </a:endParaRPr>
          </a:p>
          <a:p>
            <a:pPr indent="0" lvl="0" marL="0" marR="0" rtl="0" algn="l">
              <a:spcBef>
                <a:spcPts val="1000"/>
              </a:spcBef>
              <a:spcAft>
                <a:spcPts val="0"/>
              </a:spcAft>
              <a:buNone/>
            </a:pPr>
            <a:r>
              <a:rPr lang="en-US" sz="2000">
                <a:solidFill>
                  <a:schemeClr val="dk1"/>
                </a:solidFill>
                <a:latin typeface="Cambria"/>
                <a:ea typeface="Cambria"/>
                <a:cs typeface="Cambria"/>
                <a:sym typeface="Cambria"/>
              </a:rPr>
              <a:t>“análise textual discursiva como </a:t>
            </a:r>
            <a:r>
              <a:rPr b="1" lang="en-US" sz="2000">
                <a:solidFill>
                  <a:schemeClr val="dk1"/>
                </a:solidFill>
                <a:latin typeface="Cambria"/>
                <a:ea typeface="Cambria"/>
                <a:cs typeface="Cambria"/>
                <a:sym typeface="Cambria"/>
              </a:rPr>
              <a:t>ferramenta analítica,</a:t>
            </a:r>
            <a:r>
              <a:rPr lang="en-US" sz="2000">
                <a:solidFill>
                  <a:schemeClr val="dk1"/>
                </a:solidFill>
                <a:latin typeface="Cambria"/>
                <a:ea typeface="Cambria"/>
                <a:cs typeface="Cambria"/>
                <a:sym typeface="Cambria"/>
              </a:rPr>
              <a:t> descreve a análise textual discursiva como procedimento de pesquisa que permite quatro reconstruções concomitantes: </a:t>
            </a:r>
            <a:endParaRPr sz="2000">
              <a:solidFill>
                <a:schemeClr val="dk1"/>
              </a:solidFill>
              <a:latin typeface="Cambria"/>
              <a:ea typeface="Cambria"/>
              <a:cs typeface="Cambria"/>
              <a:sym typeface="Cambria"/>
            </a:endParaRPr>
          </a:p>
          <a:p>
            <a:pPr indent="0" lvl="0" marL="0" marR="0" rtl="0" algn="l">
              <a:spcBef>
                <a:spcPts val="1000"/>
              </a:spcBef>
              <a:spcAft>
                <a:spcPts val="0"/>
              </a:spcAft>
              <a:buNone/>
            </a:pPr>
            <a:r>
              <a:rPr lang="en-US" sz="2000">
                <a:solidFill>
                  <a:schemeClr val="dk1"/>
                </a:solidFill>
                <a:latin typeface="Cambria"/>
                <a:ea typeface="Cambria"/>
                <a:cs typeface="Cambria"/>
                <a:sym typeface="Cambria"/>
              </a:rPr>
              <a:t>1. do entendimento de ciência e de seus caminhos de produção; </a:t>
            </a:r>
            <a:endParaRPr sz="2000">
              <a:solidFill>
                <a:schemeClr val="dk1"/>
              </a:solidFill>
              <a:latin typeface="Cambria"/>
              <a:ea typeface="Cambria"/>
              <a:cs typeface="Cambria"/>
              <a:sym typeface="Cambria"/>
            </a:endParaRPr>
          </a:p>
          <a:p>
            <a:pPr indent="0" lvl="0" marL="0" marR="0" rtl="0" algn="l">
              <a:spcBef>
                <a:spcPts val="1000"/>
              </a:spcBef>
              <a:spcAft>
                <a:spcPts val="0"/>
              </a:spcAft>
              <a:buNone/>
            </a:pPr>
            <a:r>
              <a:rPr lang="en-US" sz="2000">
                <a:solidFill>
                  <a:schemeClr val="dk1"/>
                </a:solidFill>
                <a:latin typeface="Cambria"/>
                <a:ea typeface="Cambria"/>
                <a:cs typeface="Cambria"/>
                <a:sym typeface="Cambria"/>
              </a:rPr>
              <a:t>2. do objeto da pesquisa e de sua compreensão; </a:t>
            </a:r>
            <a:endParaRPr sz="2000">
              <a:solidFill>
                <a:schemeClr val="dk1"/>
              </a:solidFill>
              <a:latin typeface="Cambria"/>
              <a:ea typeface="Cambria"/>
              <a:cs typeface="Cambria"/>
              <a:sym typeface="Cambria"/>
            </a:endParaRPr>
          </a:p>
          <a:p>
            <a:pPr indent="0" lvl="0" marL="0" marR="0" rtl="0" algn="l">
              <a:spcBef>
                <a:spcPts val="1000"/>
              </a:spcBef>
              <a:spcAft>
                <a:spcPts val="0"/>
              </a:spcAft>
              <a:buNone/>
            </a:pPr>
            <a:r>
              <a:rPr lang="en-US" sz="2000">
                <a:solidFill>
                  <a:schemeClr val="dk1"/>
                </a:solidFill>
                <a:latin typeface="Cambria"/>
                <a:ea typeface="Cambria"/>
                <a:cs typeface="Cambria"/>
                <a:sym typeface="Cambria"/>
              </a:rPr>
              <a:t>3. da competência de produção escrita; </a:t>
            </a:r>
            <a:endParaRPr sz="2000">
              <a:solidFill>
                <a:schemeClr val="dk1"/>
              </a:solidFill>
              <a:latin typeface="Cambria"/>
              <a:ea typeface="Cambria"/>
              <a:cs typeface="Cambria"/>
              <a:sym typeface="Cambria"/>
            </a:endParaRPr>
          </a:p>
          <a:p>
            <a:pPr indent="0" lvl="0" marL="0" marR="0" rtl="0" algn="l">
              <a:spcBef>
                <a:spcPts val="1000"/>
              </a:spcBef>
              <a:spcAft>
                <a:spcPts val="0"/>
              </a:spcAft>
              <a:buNone/>
            </a:pPr>
            <a:r>
              <a:rPr lang="en-US" sz="2000">
                <a:solidFill>
                  <a:schemeClr val="dk1"/>
                </a:solidFill>
                <a:latin typeface="Cambria"/>
                <a:ea typeface="Cambria"/>
                <a:cs typeface="Cambria"/>
                <a:sym typeface="Cambria"/>
              </a:rPr>
              <a:t>4. do sujeito pesquisador”</a:t>
            </a:r>
            <a:endParaRPr sz="2000">
              <a:solidFill>
                <a:schemeClr val="dk1"/>
              </a:solidFill>
              <a:latin typeface="Cambria"/>
              <a:ea typeface="Cambria"/>
              <a:cs typeface="Cambria"/>
              <a:sym typeface="Cambria"/>
            </a:endParaRPr>
          </a:p>
          <a:p>
            <a:pPr indent="0" lvl="0" marL="0" rtl="0" algn="l">
              <a:spcBef>
                <a:spcPts val="1000"/>
              </a:spcBef>
              <a:spcAft>
                <a:spcPts val="0"/>
              </a:spcAft>
              <a:buNone/>
            </a:pPr>
            <a:r>
              <a:rPr lang="en-US" sz="2000">
                <a:solidFill>
                  <a:schemeClr val="dk1"/>
                </a:solidFill>
                <a:latin typeface="Cambria"/>
                <a:ea typeface="Cambria"/>
                <a:cs typeface="Cambria"/>
                <a:sym typeface="Cambria"/>
              </a:rPr>
              <a:t>							</a:t>
            </a:r>
            <a:endParaRPr sz="2000">
              <a:solidFill>
                <a:schemeClr val="dk1"/>
              </a:solidFill>
              <a:latin typeface="Cambria"/>
              <a:ea typeface="Cambria"/>
              <a:cs typeface="Cambria"/>
              <a:sym typeface="Cambria"/>
            </a:endParaRPr>
          </a:p>
          <a:p>
            <a:pPr indent="0" lvl="0" marL="0" rtl="0" algn="r">
              <a:spcBef>
                <a:spcPts val="1000"/>
              </a:spcBef>
              <a:spcAft>
                <a:spcPts val="0"/>
              </a:spcAft>
              <a:buClr>
                <a:schemeClr val="dk1"/>
              </a:buClr>
              <a:buFont typeface="Arial"/>
              <a:buNone/>
            </a:pPr>
            <a:r>
              <a:rPr lang="en-US" sz="2000">
                <a:solidFill>
                  <a:schemeClr val="dk1"/>
                </a:solidFill>
                <a:latin typeface="Cambria"/>
                <a:ea typeface="Cambria"/>
                <a:cs typeface="Cambria"/>
                <a:sym typeface="Cambria"/>
              </a:rPr>
              <a:t>Roque Moraes e Maria do Carmo Galiazzi (2006)</a:t>
            </a:r>
            <a:endParaRPr>
              <a:solidFill>
                <a:schemeClr val="dk1"/>
              </a:solidFill>
              <a:latin typeface="Cambria"/>
              <a:ea typeface="Cambria"/>
              <a:cs typeface="Cambria"/>
              <a:sym typeface="Cambria"/>
            </a:endParaRPr>
          </a:p>
          <a:p>
            <a:pPr indent="0" lvl="0" marL="0" marR="0" rtl="0" algn="l">
              <a:spcBef>
                <a:spcPts val="1000"/>
              </a:spcBef>
              <a:spcAft>
                <a:spcPts val="0"/>
              </a:spcAft>
              <a:buNone/>
            </a:pPr>
            <a:r>
              <a:t/>
            </a:r>
            <a:endParaRPr sz="2000">
              <a:solidFill>
                <a:schemeClr val="dk1"/>
              </a:solidFill>
              <a:latin typeface="Calibri"/>
              <a:ea typeface="Calibri"/>
              <a:cs typeface="Calibri"/>
              <a:sym typeface="Calibri"/>
            </a:endParaRPr>
          </a:p>
          <a:p>
            <a:pPr indent="0" lvl="0" marL="0" marR="0" rtl="0" algn="l">
              <a:spcBef>
                <a:spcPts val="1000"/>
              </a:spcBef>
              <a:spcAft>
                <a:spcPts val="0"/>
              </a:spcAft>
              <a:buNone/>
            </a:pPr>
            <a:r>
              <a:t/>
            </a:r>
            <a:endParaRPr sz="20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
          <p:cNvSpPr txBox="1"/>
          <p:nvPr/>
        </p:nvSpPr>
        <p:spPr>
          <a:xfrm>
            <a:off x="901049" y="425900"/>
            <a:ext cx="32487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chemeClr val="dk1"/>
                </a:solidFill>
                <a:latin typeface="Calibri"/>
                <a:ea typeface="Calibri"/>
                <a:cs typeface="Calibri"/>
                <a:sym typeface="Calibri"/>
              </a:rPr>
              <a:t>O que é a ATD?</a:t>
            </a:r>
            <a:endParaRPr/>
          </a:p>
        </p:txBody>
      </p:sp>
      <p:sp>
        <p:nvSpPr>
          <p:cNvPr id="114" name="Google Shape;114;p2"/>
          <p:cNvSpPr/>
          <p:nvPr/>
        </p:nvSpPr>
        <p:spPr>
          <a:xfrm>
            <a:off x="563425" y="949100"/>
            <a:ext cx="11545200" cy="2154300"/>
          </a:xfrm>
          <a:prstGeom prst="rect">
            <a:avLst/>
          </a:prstGeom>
          <a:noFill/>
          <a:ln>
            <a:noFill/>
          </a:ln>
        </p:spPr>
        <p:txBody>
          <a:bodyPr anchorCtr="0" anchor="t" bIns="45700" lIns="91425" spcFirstLastPara="1" rIns="91425" wrap="square" tIns="45700">
            <a:spAutoFit/>
          </a:bodyPr>
          <a:lstStyle/>
          <a:p>
            <a:pPr indent="0" lvl="0" marL="0" rtl="0" algn="just">
              <a:lnSpc>
                <a:spcPct val="115000"/>
              </a:lnSpc>
              <a:spcBef>
                <a:spcPts val="1200"/>
              </a:spcBef>
              <a:spcAft>
                <a:spcPts val="0"/>
              </a:spcAft>
              <a:buSzPts val="1100"/>
              <a:buNone/>
            </a:pPr>
            <a:r>
              <a:t/>
            </a:r>
            <a:endParaRPr sz="1600">
              <a:solidFill>
                <a:schemeClr val="dk1"/>
              </a:solidFill>
              <a:latin typeface="Cambria"/>
              <a:ea typeface="Cambria"/>
              <a:cs typeface="Cambria"/>
              <a:sym typeface="Cambria"/>
            </a:endParaRPr>
          </a:p>
          <a:p>
            <a:pPr indent="0" lvl="0" marL="0" rtl="0" algn="just">
              <a:lnSpc>
                <a:spcPct val="115000"/>
              </a:lnSpc>
              <a:spcBef>
                <a:spcPts val="1200"/>
              </a:spcBef>
              <a:spcAft>
                <a:spcPts val="0"/>
              </a:spcAft>
              <a:buSzPts val="1100"/>
              <a:buNone/>
            </a:pPr>
            <a:r>
              <a:rPr lang="en-US" sz="1600">
                <a:solidFill>
                  <a:schemeClr val="dk1"/>
                </a:solidFill>
                <a:latin typeface="Cambria"/>
                <a:ea typeface="Cambria"/>
                <a:cs typeface="Cambria"/>
                <a:sym typeface="Cambria"/>
              </a:rPr>
              <a:t>           Trata-se de análise textual do discurso fica </a:t>
            </a:r>
            <a:r>
              <a:rPr b="1" lang="en-US" sz="1600">
                <a:solidFill>
                  <a:schemeClr val="dk1"/>
                </a:solidFill>
                <a:latin typeface="Cambria"/>
                <a:ea typeface="Cambria"/>
                <a:cs typeface="Cambria"/>
                <a:sym typeface="Cambria"/>
              </a:rPr>
              <a:t>entre duas formas tradicionais de análise qualitativa</a:t>
            </a:r>
            <a:r>
              <a:rPr lang="en-US" sz="1600">
                <a:solidFill>
                  <a:schemeClr val="dk1"/>
                </a:solidFill>
                <a:latin typeface="Cambria"/>
                <a:ea typeface="Cambria"/>
                <a:cs typeface="Cambria"/>
                <a:sym typeface="Cambria"/>
              </a:rPr>
              <a:t>:</a:t>
            </a:r>
            <a:endParaRPr sz="1600">
              <a:solidFill>
                <a:schemeClr val="dk1"/>
              </a:solidFill>
              <a:latin typeface="Cambria"/>
              <a:ea typeface="Cambria"/>
              <a:cs typeface="Cambria"/>
              <a:sym typeface="Cambria"/>
            </a:endParaRPr>
          </a:p>
          <a:p>
            <a:pPr indent="0" lvl="0" marL="0" rtl="0" algn="ctr">
              <a:lnSpc>
                <a:spcPct val="115000"/>
              </a:lnSpc>
              <a:spcBef>
                <a:spcPts val="1200"/>
              </a:spcBef>
              <a:spcAft>
                <a:spcPts val="0"/>
              </a:spcAft>
              <a:buSzPts val="1100"/>
              <a:buNone/>
            </a:pPr>
            <a:r>
              <a:t/>
            </a:r>
            <a:endParaRPr b="1" sz="1700">
              <a:solidFill>
                <a:schemeClr val="dk1"/>
              </a:solidFill>
              <a:latin typeface="Cambria"/>
              <a:ea typeface="Cambria"/>
              <a:cs typeface="Cambria"/>
              <a:sym typeface="Cambria"/>
            </a:endParaRPr>
          </a:p>
          <a:p>
            <a:pPr indent="0" lvl="0" marL="0" rtl="0" algn="ctr">
              <a:lnSpc>
                <a:spcPct val="115000"/>
              </a:lnSpc>
              <a:spcBef>
                <a:spcPts val="1200"/>
              </a:spcBef>
              <a:spcAft>
                <a:spcPts val="0"/>
              </a:spcAft>
              <a:buClr>
                <a:schemeClr val="dk1"/>
              </a:buClr>
              <a:buSzPts val="1100"/>
              <a:buFont typeface="Arial"/>
              <a:buNone/>
            </a:pPr>
            <a:r>
              <a:rPr b="1" lang="en-US" sz="1700">
                <a:solidFill>
                  <a:schemeClr val="dk1"/>
                </a:solidFill>
                <a:latin typeface="Cambria"/>
                <a:ea typeface="Cambria"/>
                <a:cs typeface="Cambria"/>
                <a:sym typeface="Cambria"/>
              </a:rPr>
              <a:t>A</a:t>
            </a:r>
            <a:r>
              <a:rPr b="1" lang="en-US" sz="1800">
                <a:solidFill>
                  <a:schemeClr val="dk1"/>
                </a:solidFill>
                <a:latin typeface="Cambria"/>
                <a:ea typeface="Cambria"/>
                <a:cs typeface="Cambria"/>
                <a:sym typeface="Cambria"/>
              </a:rPr>
              <a:t>nálise de conteúdo ← ATD → Análise de discurso</a:t>
            </a:r>
            <a:endParaRPr b="1" sz="1800">
              <a:solidFill>
                <a:schemeClr val="dk1"/>
              </a:solidFill>
              <a:latin typeface="Cambria"/>
              <a:ea typeface="Cambria"/>
              <a:cs typeface="Cambria"/>
              <a:sym typeface="Cambria"/>
            </a:endParaRPr>
          </a:p>
          <a:p>
            <a:pPr indent="0" lvl="0" marL="0" rtl="0" algn="ctr">
              <a:lnSpc>
                <a:spcPct val="115000"/>
              </a:lnSpc>
              <a:spcBef>
                <a:spcPts val="1200"/>
              </a:spcBef>
              <a:spcAft>
                <a:spcPts val="0"/>
              </a:spcAft>
              <a:buClr>
                <a:schemeClr val="dk1"/>
              </a:buClr>
              <a:buSzPts val="1100"/>
              <a:buFont typeface="Arial"/>
              <a:buNone/>
            </a:pPr>
            <a:r>
              <a:rPr lang="en-US" sz="1600">
                <a:solidFill>
                  <a:schemeClr val="dk1"/>
                </a:solidFill>
                <a:latin typeface="Cambria"/>
                <a:ea typeface="Cambria"/>
                <a:cs typeface="Cambria"/>
                <a:sym typeface="Cambria"/>
              </a:rPr>
              <a:t>Não é  simplesmente uma mistura das duas e sim diferentes maneiras de analisar um texto.</a:t>
            </a:r>
            <a:endParaRPr sz="1600">
              <a:solidFill>
                <a:schemeClr val="dk1"/>
              </a:solidFill>
              <a:latin typeface="Cambria"/>
              <a:ea typeface="Cambria"/>
              <a:cs typeface="Cambria"/>
              <a:sym typeface="Cambria"/>
            </a:endParaRPr>
          </a:p>
          <a:p>
            <a:pPr indent="0" lvl="0" marL="0" marR="0" rtl="0" algn="l">
              <a:spcBef>
                <a:spcPts val="1200"/>
              </a:spcBef>
              <a:spcAft>
                <a:spcPts val="0"/>
              </a:spcAft>
              <a:buNone/>
            </a:pPr>
            <a:r>
              <a:t/>
            </a:r>
            <a:endParaRPr sz="2000">
              <a:solidFill>
                <a:schemeClr val="dk1"/>
              </a:solidFill>
              <a:latin typeface="Calibri"/>
              <a:ea typeface="Calibri"/>
              <a:cs typeface="Calibri"/>
              <a:sym typeface="Calibri"/>
            </a:endParaRPr>
          </a:p>
        </p:txBody>
      </p:sp>
      <p:sp>
        <p:nvSpPr>
          <p:cNvPr id="115" name="Google Shape;115;p2"/>
          <p:cNvSpPr txBox="1"/>
          <p:nvPr/>
        </p:nvSpPr>
        <p:spPr>
          <a:xfrm>
            <a:off x="901050" y="5160625"/>
            <a:ext cx="10389900" cy="5079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b="1" lang="en-US" sz="2100">
                <a:solidFill>
                  <a:schemeClr val="dk1"/>
                </a:solidFill>
                <a:latin typeface="Cambria"/>
                <a:ea typeface="Cambria"/>
                <a:cs typeface="Cambria"/>
                <a:sym typeface="Cambria"/>
              </a:rPr>
              <a:t>A ATD transita nesse espaço e constrói uma maneira própria de analisar os textos.</a:t>
            </a:r>
            <a:endParaRPr b="1" sz="1900"/>
          </a:p>
        </p:txBody>
      </p:sp>
      <p:sp>
        <p:nvSpPr>
          <p:cNvPr id="116" name="Google Shape;116;p2"/>
          <p:cNvSpPr txBox="1"/>
          <p:nvPr/>
        </p:nvSpPr>
        <p:spPr>
          <a:xfrm>
            <a:off x="6341750" y="3350075"/>
            <a:ext cx="5231100" cy="1151400"/>
          </a:xfrm>
          <a:prstGeom prst="rect">
            <a:avLst/>
          </a:prstGeom>
          <a:noFill/>
          <a:ln cap="flat" cmpd="sng" w="9525">
            <a:solidFill>
              <a:schemeClr val="accent1"/>
            </a:solidFill>
            <a:prstDash val="solid"/>
            <a:round/>
            <a:headEnd len="sm" w="sm" type="none"/>
            <a:tailEnd len="sm" w="sm" type="none"/>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Clr>
                <a:schemeClr val="dk1"/>
              </a:buClr>
              <a:buSzPts val="1100"/>
              <a:buFont typeface="Arial"/>
              <a:buNone/>
            </a:pPr>
            <a:r>
              <a:rPr lang="en-US" sz="1600">
                <a:solidFill>
                  <a:schemeClr val="dk1"/>
                </a:solidFill>
                <a:latin typeface="Cambria"/>
                <a:ea typeface="Cambria"/>
                <a:cs typeface="Cambria"/>
                <a:sym typeface="Cambria"/>
              </a:rPr>
              <a:t> De outro, uma preocupação maior com:</a:t>
            </a:r>
            <a:endParaRPr sz="1600">
              <a:solidFill>
                <a:schemeClr val="dk1"/>
              </a:solidFill>
              <a:latin typeface="Cambria"/>
              <a:ea typeface="Cambria"/>
              <a:cs typeface="Cambria"/>
              <a:sym typeface="Cambria"/>
            </a:endParaRPr>
          </a:p>
          <a:p>
            <a:pPr indent="0" lvl="0" marL="0" marR="381000" rtl="0" algn="just">
              <a:lnSpc>
                <a:spcPct val="115000"/>
              </a:lnSpc>
              <a:spcBef>
                <a:spcPts val="1200"/>
              </a:spcBef>
              <a:spcAft>
                <a:spcPts val="1200"/>
              </a:spcAft>
              <a:buNone/>
            </a:pPr>
            <a:r>
              <a:rPr b="1" lang="en-US" sz="1600">
                <a:solidFill>
                  <a:schemeClr val="dk1"/>
                </a:solidFill>
                <a:latin typeface="Cambria"/>
                <a:ea typeface="Cambria"/>
                <a:cs typeface="Cambria"/>
                <a:sym typeface="Cambria"/>
              </a:rPr>
              <a:t>“Em que condições esse discurso foi produzido? Que relações, contextos e vozes estão envolvidos?”</a:t>
            </a:r>
            <a:endParaRPr b="1" sz="1600">
              <a:solidFill>
                <a:schemeClr val="dk1"/>
              </a:solidFill>
              <a:latin typeface="Cambria"/>
              <a:ea typeface="Cambria"/>
              <a:cs typeface="Cambria"/>
              <a:sym typeface="Cambria"/>
            </a:endParaRPr>
          </a:p>
        </p:txBody>
      </p:sp>
      <p:sp>
        <p:nvSpPr>
          <p:cNvPr id="117" name="Google Shape;117;p2"/>
          <p:cNvSpPr txBox="1"/>
          <p:nvPr/>
        </p:nvSpPr>
        <p:spPr>
          <a:xfrm>
            <a:off x="1063000" y="3350025"/>
            <a:ext cx="4800600" cy="1151400"/>
          </a:xfrm>
          <a:prstGeom prst="rect">
            <a:avLst/>
          </a:prstGeom>
          <a:no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just">
              <a:lnSpc>
                <a:spcPct val="115000"/>
              </a:lnSpc>
              <a:spcBef>
                <a:spcPts val="1200"/>
              </a:spcBef>
              <a:spcAft>
                <a:spcPts val="0"/>
              </a:spcAft>
              <a:buClr>
                <a:schemeClr val="dk1"/>
              </a:buClr>
              <a:buSzPts val="1100"/>
              <a:buFont typeface="Arial"/>
              <a:buNone/>
            </a:pPr>
            <a:r>
              <a:rPr lang="en-US" sz="1600">
                <a:solidFill>
                  <a:schemeClr val="dk1"/>
                </a:solidFill>
                <a:latin typeface="Cambria"/>
                <a:ea typeface="Cambria"/>
                <a:cs typeface="Cambria"/>
                <a:sym typeface="Cambria"/>
              </a:rPr>
              <a:t>De um lado, temos uma preocupação maior com:</a:t>
            </a:r>
            <a:endParaRPr sz="1600">
              <a:solidFill>
                <a:schemeClr val="dk1"/>
              </a:solidFill>
              <a:latin typeface="Cambria"/>
              <a:ea typeface="Cambria"/>
              <a:cs typeface="Cambria"/>
              <a:sym typeface="Cambria"/>
            </a:endParaRPr>
          </a:p>
          <a:p>
            <a:pPr indent="0" lvl="0" marL="0" rtl="0" algn="just">
              <a:lnSpc>
                <a:spcPct val="115000"/>
              </a:lnSpc>
              <a:spcBef>
                <a:spcPts val="1200"/>
              </a:spcBef>
              <a:spcAft>
                <a:spcPts val="1200"/>
              </a:spcAft>
              <a:buClr>
                <a:schemeClr val="dk1"/>
              </a:buClr>
              <a:buSzPts val="1100"/>
              <a:buFont typeface="Arial"/>
              <a:buNone/>
            </a:pPr>
            <a:r>
              <a:rPr b="1" lang="en-US" sz="1600">
                <a:solidFill>
                  <a:schemeClr val="dk1"/>
                </a:solidFill>
                <a:latin typeface="Cambria"/>
                <a:ea typeface="Cambria"/>
                <a:cs typeface="Cambria"/>
                <a:sym typeface="Cambria"/>
              </a:rPr>
              <a:t>“O que esse autor está dizendo?</a:t>
            </a:r>
            <a:endParaRPr sz="2000">
              <a:solidFill>
                <a:srgbClr val="3F3F3F"/>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7"/>
          <p:cNvSpPr txBox="1"/>
          <p:nvPr/>
        </p:nvSpPr>
        <p:spPr>
          <a:xfrm>
            <a:off x="640080" y="411480"/>
            <a:ext cx="1088136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chemeClr val="dk1"/>
                </a:solidFill>
                <a:latin typeface="Calibri"/>
                <a:ea typeface="Calibri"/>
                <a:cs typeface="Calibri"/>
                <a:sym typeface="Calibri"/>
              </a:rPr>
              <a:t>A ATD não é linear</a:t>
            </a:r>
            <a:endParaRPr/>
          </a:p>
        </p:txBody>
      </p:sp>
      <p:sp>
        <p:nvSpPr>
          <p:cNvPr id="123" name="Google Shape;123;p7"/>
          <p:cNvSpPr txBox="1"/>
          <p:nvPr/>
        </p:nvSpPr>
        <p:spPr>
          <a:xfrm>
            <a:off x="235000" y="1852250"/>
            <a:ext cx="5352300" cy="341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2000" u="none" cap="none" strike="noStrike">
                <a:solidFill>
                  <a:schemeClr val="dk1"/>
                </a:solidFill>
                <a:latin typeface="Cambria"/>
                <a:ea typeface="Cambria"/>
                <a:cs typeface="Cambria"/>
                <a:sym typeface="Cambria"/>
              </a:rPr>
              <a:t>CONSTRUIR </a:t>
            </a:r>
            <a:r>
              <a:rPr lang="en-US" sz="2000">
                <a:solidFill>
                  <a:schemeClr val="dk1"/>
                </a:solidFill>
                <a:latin typeface="Cambria"/>
                <a:ea typeface="Cambria"/>
                <a:cs typeface="Cambria"/>
                <a:sym typeface="Cambria"/>
              </a:rPr>
              <a:t>- </a:t>
            </a:r>
            <a:r>
              <a:rPr i="0" lang="en-US" sz="2000" u="none" cap="none" strike="noStrike">
                <a:solidFill>
                  <a:schemeClr val="dk1"/>
                </a:solidFill>
                <a:latin typeface="Cambria"/>
                <a:ea typeface="Cambria"/>
                <a:cs typeface="Cambria"/>
                <a:sym typeface="Cambria"/>
              </a:rPr>
              <a:t>DESCONSTRUIR </a:t>
            </a:r>
            <a:r>
              <a:rPr lang="en-US" sz="2000">
                <a:solidFill>
                  <a:schemeClr val="dk1"/>
                </a:solidFill>
                <a:latin typeface="Cambria"/>
                <a:ea typeface="Cambria"/>
                <a:cs typeface="Cambria"/>
                <a:sym typeface="Cambria"/>
              </a:rPr>
              <a:t>- </a:t>
            </a:r>
            <a:r>
              <a:rPr i="0" lang="en-US" sz="2000" u="none" cap="none" strike="noStrike">
                <a:solidFill>
                  <a:schemeClr val="dk1"/>
                </a:solidFill>
                <a:latin typeface="Cambria"/>
                <a:ea typeface="Cambria"/>
                <a:cs typeface="Cambria"/>
                <a:sym typeface="Cambria"/>
              </a:rPr>
              <a:t> RECONSTRUIR</a:t>
            </a:r>
            <a:endParaRPr i="0" sz="2000" u="none" cap="none" strike="noStrike">
              <a:solidFill>
                <a:schemeClr val="dk1"/>
              </a:solidFill>
              <a:latin typeface="Cambria"/>
              <a:ea typeface="Cambria"/>
              <a:cs typeface="Cambria"/>
              <a:sym typeface="Cambria"/>
            </a:endParaRPr>
          </a:p>
          <a:p>
            <a:pPr indent="0" lvl="0" marL="0" marR="0" rtl="0" algn="l">
              <a:spcBef>
                <a:spcPts val="0"/>
              </a:spcBef>
              <a:spcAft>
                <a:spcPts val="0"/>
              </a:spcAft>
              <a:buNone/>
            </a:pPr>
            <a:r>
              <a:t/>
            </a:r>
            <a:endParaRPr sz="2000">
              <a:solidFill>
                <a:schemeClr val="dk1"/>
              </a:solidFill>
              <a:latin typeface="Cambria"/>
              <a:ea typeface="Cambria"/>
              <a:cs typeface="Cambria"/>
              <a:sym typeface="Cambria"/>
            </a:endParaRPr>
          </a:p>
          <a:p>
            <a:pPr indent="0" lvl="0" marL="0" marR="0" rtl="0" algn="l">
              <a:spcBef>
                <a:spcPts val="1000"/>
              </a:spcBef>
              <a:spcAft>
                <a:spcPts val="0"/>
              </a:spcAft>
              <a:buNone/>
            </a:pPr>
            <a:r>
              <a:rPr i="0" lang="en-US" sz="2000" u="none" cap="none" strike="noStrike">
                <a:solidFill>
                  <a:schemeClr val="dk1"/>
                </a:solidFill>
                <a:latin typeface="Cambria"/>
                <a:ea typeface="Cambria"/>
                <a:cs typeface="Cambria"/>
                <a:sym typeface="Cambria"/>
              </a:rPr>
              <a:t>É um movimento recursivo:</a:t>
            </a:r>
            <a:endParaRPr>
              <a:latin typeface="Cambria"/>
              <a:ea typeface="Cambria"/>
              <a:cs typeface="Cambria"/>
              <a:sym typeface="Cambria"/>
            </a:endParaRPr>
          </a:p>
          <a:p>
            <a:pPr indent="0" lvl="0" marL="0" marR="0" rtl="0" algn="l">
              <a:spcBef>
                <a:spcPts val="1000"/>
              </a:spcBef>
              <a:spcAft>
                <a:spcPts val="0"/>
              </a:spcAft>
              <a:buNone/>
            </a:pPr>
            <a:r>
              <a:rPr i="0" lang="en-US" sz="2000" u="none" cap="none" strike="noStrike">
                <a:solidFill>
                  <a:schemeClr val="dk1"/>
                </a:solidFill>
                <a:latin typeface="Cambria"/>
                <a:ea typeface="Cambria"/>
                <a:cs typeface="Cambria"/>
                <a:sym typeface="Cambria"/>
              </a:rPr>
              <a:t>Ler </a:t>
            </a:r>
            <a:r>
              <a:rPr lang="en-US" sz="2000">
                <a:solidFill>
                  <a:schemeClr val="dk1"/>
                </a:solidFill>
                <a:latin typeface="Cambria"/>
                <a:ea typeface="Cambria"/>
                <a:cs typeface="Cambria"/>
                <a:sym typeface="Cambria"/>
              </a:rPr>
              <a:t>- </a:t>
            </a:r>
            <a:r>
              <a:rPr i="0" lang="en-US" sz="2000" u="none" cap="none" strike="noStrike">
                <a:solidFill>
                  <a:schemeClr val="dk1"/>
                </a:solidFill>
                <a:latin typeface="Cambria"/>
                <a:ea typeface="Cambria"/>
                <a:cs typeface="Cambria"/>
                <a:sym typeface="Cambria"/>
              </a:rPr>
              <a:t> interpretar</a:t>
            </a:r>
            <a:r>
              <a:rPr lang="en-US" sz="2000">
                <a:solidFill>
                  <a:schemeClr val="dk1"/>
                </a:solidFill>
                <a:latin typeface="Cambria"/>
                <a:ea typeface="Cambria"/>
                <a:cs typeface="Cambria"/>
                <a:sym typeface="Cambria"/>
              </a:rPr>
              <a:t> - </a:t>
            </a:r>
            <a:r>
              <a:rPr i="0" lang="en-US" sz="2000" u="none" cap="none" strike="noStrike">
                <a:solidFill>
                  <a:schemeClr val="dk1"/>
                </a:solidFill>
                <a:latin typeface="Cambria"/>
                <a:ea typeface="Cambria"/>
                <a:cs typeface="Cambria"/>
                <a:sym typeface="Cambria"/>
              </a:rPr>
              <a:t> unitarizar </a:t>
            </a:r>
            <a:r>
              <a:rPr lang="en-US" sz="2000">
                <a:solidFill>
                  <a:schemeClr val="dk1"/>
                </a:solidFill>
                <a:latin typeface="Cambria"/>
                <a:ea typeface="Cambria"/>
                <a:cs typeface="Cambria"/>
                <a:sym typeface="Cambria"/>
              </a:rPr>
              <a:t>- </a:t>
            </a:r>
            <a:r>
              <a:rPr i="0" lang="en-US" sz="2000" u="none" cap="none" strike="noStrike">
                <a:solidFill>
                  <a:schemeClr val="dk1"/>
                </a:solidFill>
                <a:latin typeface="Cambria"/>
                <a:ea typeface="Cambria"/>
                <a:cs typeface="Cambria"/>
                <a:sym typeface="Cambria"/>
              </a:rPr>
              <a:t>categorizar </a:t>
            </a:r>
            <a:r>
              <a:rPr lang="en-US" sz="2000">
                <a:solidFill>
                  <a:schemeClr val="dk1"/>
                </a:solidFill>
                <a:latin typeface="Cambria"/>
                <a:ea typeface="Cambria"/>
                <a:cs typeface="Cambria"/>
                <a:sym typeface="Cambria"/>
              </a:rPr>
              <a:t>- </a:t>
            </a:r>
            <a:r>
              <a:rPr i="0" lang="en-US" sz="2000" u="none" cap="none" strike="noStrike">
                <a:solidFill>
                  <a:schemeClr val="dk1"/>
                </a:solidFill>
                <a:latin typeface="Cambria"/>
                <a:ea typeface="Cambria"/>
                <a:cs typeface="Cambria"/>
                <a:sym typeface="Cambria"/>
              </a:rPr>
              <a:t> </a:t>
            </a:r>
            <a:r>
              <a:rPr lang="en-US" sz="2000">
                <a:solidFill>
                  <a:schemeClr val="dk1"/>
                </a:solidFill>
                <a:latin typeface="Cambria"/>
                <a:ea typeface="Cambria"/>
                <a:cs typeface="Cambria"/>
                <a:sym typeface="Cambria"/>
              </a:rPr>
              <a:t>escrever</a:t>
            </a:r>
            <a:endParaRPr>
              <a:latin typeface="Cambria"/>
              <a:ea typeface="Cambria"/>
              <a:cs typeface="Cambria"/>
              <a:sym typeface="Cambria"/>
            </a:endParaRPr>
          </a:p>
          <a:p>
            <a:pPr indent="0" lvl="0" marL="0" marR="0" rtl="0" algn="l">
              <a:spcBef>
                <a:spcPts val="1000"/>
              </a:spcBef>
              <a:spcAft>
                <a:spcPts val="0"/>
              </a:spcAft>
              <a:buNone/>
            </a:pPr>
            <a:r>
              <a:t/>
            </a:r>
            <a:endParaRPr sz="2000">
              <a:solidFill>
                <a:schemeClr val="dk1"/>
              </a:solidFill>
              <a:latin typeface="Cambria"/>
              <a:ea typeface="Cambria"/>
              <a:cs typeface="Cambria"/>
              <a:sym typeface="Cambria"/>
            </a:endParaRPr>
          </a:p>
          <a:p>
            <a:pPr indent="0" lvl="0" marL="0" marR="0" rtl="0" algn="l">
              <a:spcBef>
                <a:spcPts val="1000"/>
              </a:spcBef>
              <a:spcAft>
                <a:spcPts val="0"/>
              </a:spcAft>
              <a:buNone/>
            </a:pPr>
            <a:r>
              <a:t/>
            </a:r>
            <a:endParaRPr>
              <a:latin typeface="Cambria"/>
              <a:ea typeface="Cambria"/>
              <a:cs typeface="Cambria"/>
              <a:sym typeface="Cambria"/>
            </a:endParaRPr>
          </a:p>
          <a:p>
            <a:pPr indent="0" lvl="0" marL="0" marR="0" rtl="0" algn="l">
              <a:spcBef>
                <a:spcPts val="1000"/>
              </a:spcBef>
              <a:spcAft>
                <a:spcPts val="0"/>
              </a:spcAft>
              <a:buNone/>
            </a:pPr>
            <a:r>
              <a:rPr i="0" lang="en-US" sz="2000" u="none" cap="none" strike="noStrike">
                <a:solidFill>
                  <a:schemeClr val="dk1"/>
                </a:solidFill>
                <a:latin typeface="Cambria"/>
                <a:ea typeface="Cambria"/>
                <a:cs typeface="Cambria"/>
                <a:sym typeface="Cambria"/>
              </a:rPr>
              <a:t>“Agrupar e desagrupar, construir e desconstruir.”</a:t>
            </a:r>
            <a:endParaRPr>
              <a:latin typeface="Cambria"/>
              <a:ea typeface="Cambria"/>
              <a:cs typeface="Cambria"/>
              <a:sym typeface="Cambria"/>
            </a:endParaRPr>
          </a:p>
        </p:txBody>
      </p:sp>
      <p:pic>
        <p:nvPicPr>
          <p:cNvPr id="124" name="Google Shape;124;p7"/>
          <p:cNvPicPr preferRelativeResize="0"/>
          <p:nvPr/>
        </p:nvPicPr>
        <p:blipFill>
          <a:blip r:embed="rId3">
            <a:alphaModFix/>
          </a:blip>
          <a:stretch>
            <a:fillRect/>
          </a:stretch>
        </p:blipFill>
        <p:spPr>
          <a:xfrm>
            <a:off x="5801750" y="15308"/>
            <a:ext cx="6580650" cy="62694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9"/>
          <p:cNvSpPr txBox="1"/>
          <p:nvPr/>
        </p:nvSpPr>
        <p:spPr>
          <a:xfrm>
            <a:off x="1122375" y="548620"/>
            <a:ext cx="99705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chemeClr val="dk1"/>
                </a:solidFill>
                <a:latin typeface="Calibri"/>
                <a:ea typeface="Calibri"/>
                <a:cs typeface="Calibri"/>
                <a:sym typeface="Calibri"/>
              </a:rPr>
              <a:t>O pesquisador na ATD</a:t>
            </a:r>
            <a:endParaRPr/>
          </a:p>
        </p:txBody>
      </p:sp>
      <p:sp>
        <p:nvSpPr>
          <p:cNvPr id="130" name="Google Shape;130;p9"/>
          <p:cNvSpPr txBox="1"/>
          <p:nvPr/>
        </p:nvSpPr>
        <p:spPr>
          <a:xfrm>
            <a:off x="1122375" y="1780100"/>
            <a:ext cx="4499700" cy="33453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i="0" lang="en-US" sz="1700" u="none" cap="none" strike="noStrike">
                <a:solidFill>
                  <a:schemeClr val="dk1"/>
                </a:solidFill>
                <a:latin typeface="Cambria"/>
                <a:ea typeface="Cambria"/>
                <a:cs typeface="Cambria"/>
                <a:sym typeface="Cambria"/>
              </a:rPr>
              <a:t>Não é um observador totalmente externo</a:t>
            </a:r>
            <a:endParaRPr sz="1700">
              <a:latin typeface="Cambria"/>
              <a:ea typeface="Cambria"/>
              <a:cs typeface="Cambria"/>
              <a:sym typeface="Cambria"/>
            </a:endParaRPr>
          </a:p>
          <a:p>
            <a:pPr indent="0" lvl="0" marL="0" marR="0" rtl="0" algn="just">
              <a:spcBef>
                <a:spcPts val="1000"/>
              </a:spcBef>
              <a:spcAft>
                <a:spcPts val="0"/>
              </a:spcAft>
              <a:buNone/>
            </a:pPr>
            <a:r>
              <a:rPr i="0" lang="en-US" sz="1700" u="none" cap="none" strike="noStrike">
                <a:solidFill>
                  <a:schemeClr val="dk1"/>
                </a:solidFill>
                <a:latin typeface="Cambria"/>
                <a:ea typeface="Cambria"/>
                <a:cs typeface="Cambria"/>
                <a:sym typeface="Cambria"/>
              </a:rPr>
              <a:t> Interpreta os materiais</a:t>
            </a:r>
            <a:endParaRPr sz="1700">
              <a:latin typeface="Cambria"/>
              <a:ea typeface="Cambria"/>
              <a:cs typeface="Cambria"/>
              <a:sym typeface="Cambria"/>
            </a:endParaRPr>
          </a:p>
          <a:p>
            <a:pPr indent="0" lvl="0" marL="0" marR="0" rtl="0" algn="just">
              <a:spcBef>
                <a:spcPts val="1000"/>
              </a:spcBef>
              <a:spcAft>
                <a:spcPts val="0"/>
              </a:spcAft>
              <a:buNone/>
            </a:pPr>
            <a:r>
              <a:rPr i="0" lang="en-US" sz="1700" u="none" cap="none" strike="noStrike">
                <a:solidFill>
                  <a:schemeClr val="dk1"/>
                </a:solidFill>
                <a:latin typeface="Cambria"/>
                <a:ea typeface="Cambria"/>
                <a:cs typeface="Cambria"/>
                <a:sym typeface="Cambria"/>
              </a:rPr>
              <a:t> Faz escolhas</a:t>
            </a:r>
            <a:endParaRPr sz="1700">
              <a:latin typeface="Cambria"/>
              <a:ea typeface="Cambria"/>
              <a:cs typeface="Cambria"/>
              <a:sym typeface="Cambria"/>
            </a:endParaRPr>
          </a:p>
          <a:p>
            <a:pPr indent="0" lvl="0" marL="0" marR="0" rtl="0" algn="just">
              <a:spcBef>
                <a:spcPts val="1000"/>
              </a:spcBef>
              <a:spcAft>
                <a:spcPts val="0"/>
              </a:spcAft>
              <a:buNone/>
            </a:pPr>
            <a:r>
              <a:rPr i="0" lang="en-US" sz="1700" u="none" cap="none" strike="noStrike">
                <a:solidFill>
                  <a:schemeClr val="dk1"/>
                </a:solidFill>
                <a:latin typeface="Cambria"/>
                <a:ea typeface="Cambria"/>
                <a:cs typeface="Cambria"/>
                <a:sym typeface="Cambria"/>
              </a:rPr>
              <a:t> Dialoga com diferentes vozes</a:t>
            </a:r>
            <a:endParaRPr sz="1700">
              <a:latin typeface="Cambria"/>
              <a:ea typeface="Cambria"/>
              <a:cs typeface="Cambria"/>
              <a:sym typeface="Cambria"/>
            </a:endParaRPr>
          </a:p>
          <a:p>
            <a:pPr indent="0" lvl="0" marL="0" marR="0" rtl="0" algn="just">
              <a:spcBef>
                <a:spcPts val="1000"/>
              </a:spcBef>
              <a:spcAft>
                <a:spcPts val="0"/>
              </a:spcAft>
              <a:buNone/>
            </a:pPr>
            <a:r>
              <a:rPr i="0" lang="en-US" sz="1700" u="none" cap="none" strike="noStrike">
                <a:solidFill>
                  <a:schemeClr val="dk1"/>
                </a:solidFill>
                <a:latin typeface="Cambria"/>
                <a:ea typeface="Cambria"/>
                <a:cs typeface="Cambria"/>
                <a:sym typeface="Cambria"/>
              </a:rPr>
              <a:t> Revisa suas próprias compreensões</a:t>
            </a:r>
            <a:endParaRPr sz="1700">
              <a:latin typeface="Cambria"/>
              <a:ea typeface="Cambria"/>
              <a:cs typeface="Cambria"/>
              <a:sym typeface="Cambria"/>
            </a:endParaRPr>
          </a:p>
          <a:p>
            <a:pPr indent="0" lvl="0" marL="0" marR="0" rtl="0" algn="just">
              <a:spcBef>
                <a:spcPts val="1000"/>
              </a:spcBef>
              <a:spcAft>
                <a:spcPts val="0"/>
              </a:spcAft>
              <a:buNone/>
            </a:pPr>
            <a:r>
              <a:rPr i="0" lang="en-US" sz="1700" u="none" cap="none" strike="noStrike">
                <a:solidFill>
                  <a:schemeClr val="dk1"/>
                </a:solidFill>
                <a:latin typeface="Cambria"/>
                <a:ea typeface="Cambria"/>
                <a:cs typeface="Cambria"/>
                <a:sym typeface="Cambria"/>
              </a:rPr>
              <a:t> Participa da construção dos sentidos</a:t>
            </a:r>
            <a:endParaRPr sz="1700">
              <a:latin typeface="Cambria"/>
              <a:ea typeface="Cambria"/>
              <a:cs typeface="Cambria"/>
              <a:sym typeface="Cambria"/>
            </a:endParaRPr>
          </a:p>
          <a:p>
            <a:pPr indent="0" lvl="0" marL="0" marR="0" rtl="0" algn="just">
              <a:spcBef>
                <a:spcPts val="1000"/>
              </a:spcBef>
              <a:spcAft>
                <a:spcPts val="0"/>
              </a:spcAft>
              <a:buNone/>
            </a:pPr>
            <a:r>
              <a:rPr i="0" lang="en-US" sz="1700" u="none" cap="none" strike="noStrike">
                <a:solidFill>
                  <a:schemeClr val="dk1"/>
                </a:solidFill>
                <a:latin typeface="Cambria"/>
                <a:ea typeface="Cambria"/>
                <a:cs typeface="Cambria"/>
                <a:sym typeface="Cambria"/>
              </a:rPr>
              <a:t> Produz autoria</a:t>
            </a:r>
            <a:endParaRPr sz="1700">
              <a:latin typeface="Cambria"/>
              <a:ea typeface="Cambria"/>
              <a:cs typeface="Cambria"/>
              <a:sym typeface="Cambria"/>
            </a:endParaRPr>
          </a:p>
          <a:p>
            <a:pPr indent="0" lvl="0" marL="0" marR="0" rtl="0" algn="just">
              <a:spcBef>
                <a:spcPts val="1000"/>
              </a:spcBef>
              <a:spcAft>
                <a:spcPts val="0"/>
              </a:spcAft>
              <a:buNone/>
            </a:pPr>
            <a:r>
              <a:rPr b="1" i="0" lang="en-US" sz="1700" u="none" cap="none" strike="noStrike">
                <a:solidFill>
                  <a:schemeClr val="dk1"/>
                </a:solidFill>
                <a:latin typeface="Cambria"/>
                <a:ea typeface="Cambria"/>
                <a:cs typeface="Cambria"/>
                <a:sym typeface="Cambria"/>
              </a:rPr>
              <a:t>A ATD não busca uma neutralidade absoluta do pesquisador.</a:t>
            </a:r>
            <a:endParaRPr b="1" sz="1700">
              <a:latin typeface="Cambria"/>
              <a:ea typeface="Cambria"/>
              <a:cs typeface="Cambria"/>
              <a:sym typeface="Cambria"/>
            </a:endParaRPr>
          </a:p>
        </p:txBody>
      </p:sp>
      <p:sp>
        <p:nvSpPr>
          <p:cNvPr id="131" name="Google Shape;131;p9"/>
          <p:cNvSpPr txBox="1"/>
          <p:nvPr/>
        </p:nvSpPr>
        <p:spPr>
          <a:xfrm>
            <a:off x="6785300" y="2023475"/>
            <a:ext cx="4554000" cy="24525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i="0" lang="en-US" sz="2000" u="none" cap="none" strike="noStrike">
                <a:solidFill>
                  <a:schemeClr val="dk1"/>
                </a:solidFill>
                <a:latin typeface="Cambria"/>
                <a:ea typeface="Cambria"/>
                <a:cs typeface="Cambria"/>
                <a:sym typeface="Cambria"/>
              </a:rPr>
              <a:t>A ATD possibilita reconstruções simultâneas:</a:t>
            </a:r>
            <a:endParaRPr sz="2000">
              <a:latin typeface="Cambria"/>
              <a:ea typeface="Cambria"/>
              <a:cs typeface="Cambria"/>
              <a:sym typeface="Cambria"/>
            </a:endParaRPr>
          </a:p>
          <a:p>
            <a:pPr indent="0" lvl="0" marL="0" marR="0" rtl="0" algn="just">
              <a:spcBef>
                <a:spcPts val="1000"/>
              </a:spcBef>
              <a:spcAft>
                <a:spcPts val="0"/>
              </a:spcAft>
              <a:buNone/>
            </a:pPr>
            <a:r>
              <a:rPr i="0" lang="en-US" sz="2000" u="none" cap="none" strike="noStrike">
                <a:solidFill>
                  <a:schemeClr val="dk1"/>
                </a:solidFill>
                <a:latin typeface="Cambria"/>
                <a:ea typeface="Cambria"/>
                <a:cs typeface="Cambria"/>
                <a:sym typeface="Cambria"/>
              </a:rPr>
              <a:t>compreensão de ciência e de pesquisa;</a:t>
            </a:r>
            <a:endParaRPr sz="2000">
              <a:latin typeface="Cambria"/>
              <a:ea typeface="Cambria"/>
              <a:cs typeface="Cambria"/>
              <a:sym typeface="Cambria"/>
            </a:endParaRPr>
          </a:p>
          <a:p>
            <a:pPr indent="0" lvl="0" marL="0" marR="0" rtl="0" algn="just">
              <a:spcBef>
                <a:spcPts val="1000"/>
              </a:spcBef>
              <a:spcAft>
                <a:spcPts val="0"/>
              </a:spcAft>
              <a:buNone/>
            </a:pPr>
            <a:r>
              <a:rPr i="0" lang="en-US" sz="2000" u="none" cap="none" strike="noStrike">
                <a:solidFill>
                  <a:schemeClr val="dk1"/>
                </a:solidFill>
                <a:latin typeface="Cambria"/>
                <a:ea typeface="Cambria"/>
                <a:cs typeface="Cambria"/>
                <a:sym typeface="Cambria"/>
              </a:rPr>
              <a:t>compreensão do objeto investigado;</a:t>
            </a:r>
            <a:endParaRPr sz="2000">
              <a:latin typeface="Cambria"/>
              <a:ea typeface="Cambria"/>
              <a:cs typeface="Cambria"/>
              <a:sym typeface="Cambria"/>
            </a:endParaRPr>
          </a:p>
          <a:p>
            <a:pPr indent="0" lvl="0" marL="0" marR="0" rtl="0" algn="just">
              <a:spcBef>
                <a:spcPts val="1000"/>
              </a:spcBef>
              <a:spcAft>
                <a:spcPts val="0"/>
              </a:spcAft>
              <a:buNone/>
            </a:pPr>
            <a:r>
              <a:rPr i="0" lang="en-US" sz="2000" u="none" cap="none" strike="noStrike">
                <a:solidFill>
                  <a:schemeClr val="dk1"/>
                </a:solidFill>
                <a:latin typeface="Cambria"/>
                <a:ea typeface="Cambria"/>
                <a:cs typeface="Cambria"/>
                <a:sym typeface="Cambria"/>
              </a:rPr>
              <a:t>produção escrita;</a:t>
            </a:r>
            <a:endParaRPr sz="2000">
              <a:latin typeface="Cambria"/>
              <a:ea typeface="Cambria"/>
              <a:cs typeface="Cambria"/>
              <a:sym typeface="Cambria"/>
            </a:endParaRPr>
          </a:p>
          <a:p>
            <a:pPr indent="0" lvl="0" marL="0" marR="0" rtl="0" algn="just">
              <a:spcBef>
                <a:spcPts val="1000"/>
              </a:spcBef>
              <a:spcAft>
                <a:spcPts val="0"/>
              </a:spcAft>
              <a:buNone/>
            </a:pPr>
            <a:r>
              <a:rPr i="0" lang="en-US" sz="2000" u="none" cap="none" strike="noStrike">
                <a:solidFill>
                  <a:schemeClr val="dk1"/>
                </a:solidFill>
                <a:latin typeface="Cambria"/>
                <a:ea typeface="Cambria"/>
                <a:cs typeface="Cambria"/>
                <a:sym typeface="Cambria"/>
              </a:rPr>
              <a:t>transformação do pesquisador. </a:t>
            </a:r>
            <a:endParaRPr sz="2000">
              <a:latin typeface="Cambria"/>
              <a:ea typeface="Cambria"/>
              <a:cs typeface="Cambria"/>
              <a:sym typeface="Cambria"/>
            </a:endParaRPr>
          </a:p>
        </p:txBody>
      </p:sp>
      <p:sp>
        <p:nvSpPr>
          <p:cNvPr id="132" name="Google Shape;132;p9"/>
          <p:cNvSpPr txBox="1"/>
          <p:nvPr/>
        </p:nvSpPr>
        <p:spPr>
          <a:xfrm>
            <a:off x="6785300" y="502425"/>
            <a:ext cx="3974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800">
                <a:solidFill>
                  <a:schemeClr val="dk1"/>
                </a:solidFill>
                <a:latin typeface="Calibri"/>
                <a:ea typeface="Calibri"/>
                <a:cs typeface="Calibri"/>
                <a:sym typeface="Calibri"/>
              </a:rPr>
              <a:t>O que a ATD possibilita?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3"/>
          <p:cNvSpPr txBox="1"/>
          <p:nvPr/>
        </p:nvSpPr>
        <p:spPr>
          <a:xfrm>
            <a:off x="955725" y="760100"/>
            <a:ext cx="61710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chemeClr val="dk1"/>
                </a:solidFill>
                <a:latin typeface="Cambria"/>
                <a:ea typeface="Cambria"/>
                <a:cs typeface="Cambria"/>
                <a:sym typeface="Cambria"/>
              </a:rPr>
              <a:t>O movimento da ATD na prática</a:t>
            </a:r>
            <a:endParaRPr/>
          </a:p>
        </p:txBody>
      </p:sp>
      <p:sp>
        <p:nvSpPr>
          <p:cNvPr id="138" name="Google Shape;138;p3"/>
          <p:cNvSpPr/>
          <p:nvPr/>
        </p:nvSpPr>
        <p:spPr>
          <a:xfrm>
            <a:off x="1042625" y="1955675"/>
            <a:ext cx="4918800" cy="1897500"/>
          </a:xfrm>
          <a:prstGeom prst="rect">
            <a:avLst/>
          </a:prstGeom>
          <a:noFill/>
          <a:ln>
            <a:noFill/>
          </a:ln>
        </p:spPr>
        <p:txBody>
          <a:bodyPr anchorCtr="0" anchor="t" bIns="45700" lIns="91425" spcFirstLastPara="1" rIns="91425" wrap="square" tIns="45700">
            <a:spAutoFit/>
          </a:bodyPr>
          <a:lstStyle/>
          <a:p>
            <a:pPr indent="0" lvl="0" marL="0" marR="0" rtl="0" algn="l">
              <a:spcBef>
                <a:spcPts val="1000"/>
              </a:spcBef>
              <a:spcAft>
                <a:spcPts val="0"/>
              </a:spcAft>
              <a:buNone/>
            </a:pPr>
            <a:r>
              <a:rPr b="1" lang="en-US" sz="1800">
                <a:solidFill>
                  <a:schemeClr val="dk1"/>
                </a:solidFill>
                <a:latin typeface="Calibri"/>
                <a:ea typeface="Calibri"/>
                <a:cs typeface="Calibri"/>
                <a:sym typeface="Calibri"/>
              </a:rPr>
              <a:t>1- </a:t>
            </a:r>
            <a:r>
              <a:rPr b="1" i="0" lang="en-US" sz="1800" u="none" cap="none" strike="noStrike">
                <a:solidFill>
                  <a:schemeClr val="dk1"/>
                </a:solidFill>
                <a:latin typeface="Calibri"/>
                <a:ea typeface="Calibri"/>
                <a:cs typeface="Calibri"/>
                <a:sym typeface="Calibri"/>
              </a:rPr>
              <a:t>UNITARIZAÇÃO </a:t>
            </a:r>
            <a:endParaRPr b="1" i="0" sz="1800" u="none" cap="none" strike="noStrike">
              <a:solidFill>
                <a:schemeClr val="dk1"/>
              </a:solidFill>
              <a:latin typeface="Calibri"/>
              <a:ea typeface="Calibri"/>
              <a:cs typeface="Calibri"/>
              <a:sym typeface="Calibri"/>
            </a:endParaRPr>
          </a:p>
          <a:p>
            <a:pPr indent="0" lvl="0" marL="0" marR="0" rtl="0" algn="l">
              <a:spcBef>
                <a:spcPts val="1000"/>
              </a:spcBef>
              <a:spcAft>
                <a:spcPts val="0"/>
              </a:spcAft>
              <a:buNone/>
            </a:pPr>
            <a:r>
              <a:rPr b="1" i="0" lang="en-US" sz="1800" u="none" cap="none" strike="noStrike">
                <a:solidFill>
                  <a:schemeClr val="dk1"/>
                </a:solidFill>
                <a:latin typeface="Calibri"/>
                <a:ea typeface="Calibri"/>
                <a:cs typeface="Calibri"/>
                <a:sym typeface="Calibri"/>
              </a:rPr>
              <a:t>2 - </a:t>
            </a:r>
            <a:r>
              <a:rPr b="1" lang="en-US" sz="1800">
                <a:solidFill>
                  <a:schemeClr val="dk1"/>
                </a:solidFill>
                <a:latin typeface="Calibri"/>
                <a:ea typeface="Calibri"/>
                <a:cs typeface="Calibri"/>
                <a:sym typeface="Calibri"/>
              </a:rPr>
              <a:t>CATEGORIZAÇÃO  </a:t>
            </a:r>
            <a:endParaRPr b="1" sz="1800">
              <a:solidFill>
                <a:schemeClr val="dk1"/>
              </a:solidFill>
              <a:latin typeface="Calibri"/>
              <a:ea typeface="Calibri"/>
              <a:cs typeface="Calibri"/>
              <a:sym typeface="Calibri"/>
            </a:endParaRPr>
          </a:p>
          <a:p>
            <a:pPr indent="0" lvl="0" marL="0" marR="0" rtl="0" algn="l">
              <a:spcBef>
                <a:spcPts val="1000"/>
              </a:spcBef>
              <a:spcAft>
                <a:spcPts val="0"/>
              </a:spcAft>
              <a:buNone/>
            </a:pPr>
            <a:r>
              <a:rPr b="1" lang="en-US" sz="1800">
                <a:solidFill>
                  <a:schemeClr val="dk1"/>
                </a:solidFill>
                <a:latin typeface="Calibri"/>
                <a:ea typeface="Calibri"/>
                <a:cs typeface="Calibri"/>
                <a:sym typeface="Calibri"/>
              </a:rPr>
              <a:t>3 - DESCRIÇÃO  OU INTERPRETAÇÃO </a:t>
            </a:r>
            <a:endParaRPr b="1" sz="1800">
              <a:solidFill>
                <a:schemeClr val="dk1"/>
              </a:solidFill>
              <a:latin typeface="Calibri"/>
              <a:ea typeface="Calibri"/>
              <a:cs typeface="Calibri"/>
              <a:sym typeface="Calibri"/>
            </a:endParaRPr>
          </a:p>
          <a:p>
            <a:pPr indent="0" lvl="0" marL="0" marR="0" rtl="0" algn="l">
              <a:spcBef>
                <a:spcPts val="1000"/>
              </a:spcBef>
              <a:spcAft>
                <a:spcPts val="0"/>
              </a:spcAft>
              <a:buNone/>
            </a:pPr>
            <a:r>
              <a:rPr b="1" lang="en-US" sz="1800">
                <a:solidFill>
                  <a:schemeClr val="dk1"/>
                </a:solidFill>
                <a:latin typeface="Calibri"/>
                <a:ea typeface="Calibri"/>
                <a:cs typeface="Calibri"/>
                <a:sym typeface="Calibri"/>
              </a:rPr>
              <a:t>4 - ARGUMENTAÇÃO OU METATEXTO</a:t>
            </a:r>
            <a:br>
              <a:rPr b="0" i="0" lang="en-US" sz="2000" u="none" cap="none" strike="noStrike">
                <a:solidFill>
                  <a:schemeClr val="dk1"/>
                </a:solidFill>
                <a:latin typeface="Calibri"/>
                <a:ea typeface="Calibri"/>
                <a:cs typeface="Calibri"/>
                <a:sym typeface="Calibri"/>
              </a:rPr>
            </a:br>
            <a:endParaRPr b="0" i="0" sz="2000" u="none" cap="none" strike="noStrike">
              <a:solidFill>
                <a:schemeClr val="dk1"/>
              </a:solidFill>
              <a:latin typeface="Calibri"/>
              <a:ea typeface="Calibri"/>
              <a:cs typeface="Calibri"/>
              <a:sym typeface="Calibri"/>
            </a:endParaRPr>
          </a:p>
          <a:p>
            <a:pPr indent="0" lvl="0" marL="0" marR="0" rtl="0" algn="l">
              <a:spcBef>
                <a:spcPts val="1000"/>
              </a:spcBef>
              <a:spcAft>
                <a:spcPts val="0"/>
              </a:spcAft>
              <a:buNone/>
            </a:pPr>
            <a:r>
              <a:t/>
            </a:r>
            <a:endParaRPr sz="2000">
              <a:solidFill>
                <a:schemeClr val="dk1"/>
              </a:solidFill>
              <a:latin typeface="Calibri"/>
              <a:ea typeface="Calibri"/>
              <a:cs typeface="Calibri"/>
              <a:sym typeface="Calibri"/>
            </a:endParaRPr>
          </a:p>
          <a:p>
            <a:pPr indent="0" lvl="0" marL="0" marR="0" rtl="0" algn="l">
              <a:spcBef>
                <a:spcPts val="1000"/>
              </a:spcBef>
              <a:spcAft>
                <a:spcPts val="0"/>
              </a:spcAft>
              <a:buNone/>
            </a:pPr>
            <a:r>
              <a:t/>
            </a:r>
            <a:endParaRPr sz="20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4"/>
          <p:cNvSpPr txBox="1"/>
          <p:nvPr/>
        </p:nvSpPr>
        <p:spPr>
          <a:xfrm>
            <a:off x="1148100" y="411475"/>
            <a:ext cx="10373400" cy="1262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chemeClr val="dk1"/>
                </a:solidFill>
                <a:latin typeface="Cambria"/>
                <a:ea typeface="Cambria"/>
                <a:cs typeface="Cambria"/>
                <a:sym typeface="Cambria"/>
              </a:rPr>
              <a:t>1. Unitarização</a:t>
            </a:r>
            <a:endParaRPr b="1" i="0" sz="2800" u="none" cap="none" strike="noStrike">
              <a:solidFill>
                <a:schemeClr val="dk1"/>
              </a:solidFill>
              <a:latin typeface="Cambria"/>
              <a:ea typeface="Cambria"/>
              <a:cs typeface="Cambria"/>
              <a:sym typeface="Cambria"/>
            </a:endParaRPr>
          </a:p>
          <a:p>
            <a:pPr indent="0" lvl="0" marL="0" marR="0" rtl="0" algn="l">
              <a:spcBef>
                <a:spcPts val="0"/>
              </a:spcBef>
              <a:spcAft>
                <a:spcPts val="0"/>
              </a:spcAft>
              <a:buNone/>
            </a:pPr>
            <a:r>
              <a:t/>
            </a:r>
            <a:endParaRPr b="1" sz="2800">
              <a:solidFill>
                <a:schemeClr val="dk1"/>
              </a:solidFill>
              <a:latin typeface="Cambria"/>
              <a:ea typeface="Cambria"/>
              <a:cs typeface="Cambria"/>
              <a:sym typeface="Cambria"/>
            </a:endParaRPr>
          </a:p>
          <a:p>
            <a:pPr indent="0" lvl="0" marL="0" rtl="0" algn="l">
              <a:spcBef>
                <a:spcPts val="0"/>
              </a:spcBef>
              <a:spcAft>
                <a:spcPts val="0"/>
              </a:spcAft>
              <a:buClr>
                <a:schemeClr val="dk1"/>
              </a:buClr>
              <a:buFont typeface="Arial"/>
              <a:buNone/>
            </a:pPr>
            <a:r>
              <a:rPr b="1" lang="en-US" sz="2000">
                <a:solidFill>
                  <a:schemeClr val="dk1"/>
                </a:solidFill>
                <a:latin typeface="Cambria"/>
                <a:ea typeface="Cambria"/>
                <a:cs typeface="Cambria"/>
                <a:sym typeface="Cambria"/>
              </a:rPr>
              <a:t>Desconstruir para compreender</a:t>
            </a:r>
            <a:endParaRPr b="1" sz="2800">
              <a:solidFill>
                <a:schemeClr val="dk1"/>
              </a:solidFill>
              <a:latin typeface="Cambria"/>
              <a:ea typeface="Cambria"/>
              <a:cs typeface="Cambria"/>
              <a:sym typeface="Cambria"/>
            </a:endParaRPr>
          </a:p>
        </p:txBody>
      </p:sp>
      <p:sp>
        <p:nvSpPr>
          <p:cNvPr id="144" name="Google Shape;144;p4"/>
          <p:cNvSpPr/>
          <p:nvPr/>
        </p:nvSpPr>
        <p:spPr>
          <a:xfrm>
            <a:off x="847250" y="1891000"/>
            <a:ext cx="3898200" cy="31452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t/>
            </a:r>
            <a:endParaRPr>
              <a:latin typeface="Cambria"/>
              <a:ea typeface="Cambria"/>
              <a:cs typeface="Cambria"/>
              <a:sym typeface="Cambria"/>
            </a:endParaRPr>
          </a:p>
          <a:p>
            <a:pPr indent="0" lvl="0" marL="0" marR="0" rtl="0" algn="just">
              <a:spcBef>
                <a:spcPts val="1000"/>
              </a:spcBef>
              <a:spcAft>
                <a:spcPts val="0"/>
              </a:spcAft>
              <a:buNone/>
            </a:pPr>
            <a:r>
              <a:rPr i="0" lang="en-US" sz="2000" u="none" cap="none" strike="noStrike">
                <a:solidFill>
                  <a:schemeClr val="dk1"/>
                </a:solidFill>
                <a:latin typeface="Cambria"/>
                <a:ea typeface="Cambria"/>
                <a:cs typeface="Cambria"/>
                <a:sym typeface="Cambria"/>
              </a:rPr>
              <a:t>Leitura e releitura do material</a:t>
            </a:r>
            <a:endParaRPr>
              <a:latin typeface="Cambria"/>
              <a:ea typeface="Cambria"/>
              <a:cs typeface="Cambria"/>
              <a:sym typeface="Cambria"/>
            </a:endParaRPr>
          </a:p>
          <a:p>
            <a:pPr indent="0" lvl="0" marL="0" marR="0" rtl="0" algn="just">
              <a:spcBef>
                <a:spcPts val="1000"/>
              </a:spcBef>
              <a:spcAft>
                <a:spcPts val="0"/>
              </a:spcAft>
              <a:buNone/>
            </a:pPr>
            <a:r>
              <a:rPr i="0" lang="en-US" sz="2000" u="none" cap="none" strike="noStrike">
                <a:solidFill>
                  <a:schemeClr val="dk1"/>
                </a:solidFill>
                <a:latin typeface="Cambria"/>
                <a:ea typeface="Cambria"/>
                <a:cs typeface="Cambria"/>
                <a:sym typeface="Cambria"/>
              </a:rPr>
              <a:t>Mergulho aprofundado nos textos</a:t>
            </a:r>
            <a:endParaRPr>
              <a:latin typeface="Cambria"/>
              <a:ea typeface="Cambria"/>
              <a:cs typeface="Cambria"/>
              <a:sym typeface="Cambria"/>
            </a:endParaRPr>
          </a:p>
          <a:p>
            <a:pPr indent="0" lvl="0" marL="0" marR="0" rtl="0" algn="just">
              <a:spcBef>
                <a:spcPts val="1000"/>
              </a:spcBef>
              <a:spcAft>
                <a:spcPts val="0"/>
              </a:spcAft>
              <a:buNone/>
            </a:pPr>
            <a:r>
              <a:rPr i="0" lang="en-US" sz="2000" u="none" cap="none" strike="noStrike">
                <a:solidFill>
                  <a:schemeClr val="dk1"/>
                </a:solidFill>
                <a:latin typeface="Cambria"/>
                <a:ea typeface="Cambria"/>
                <a:cs typeface="Cambria"/>
                <a:sym typeface="Cambria"/>
              </a:rPr>
              <a:t> Fragmentação do material</a:t>
            </a:r>
            <a:endParaRPr>
              <a:latin typeface="Cambria"/>
              <a:ea typeface="Cambria"/>
              <a:cs typeface="Cambria"/>
              <a:sym typeface="Cambria"/>
            </a:endParaRPr>
          </a:p>
          <a:p>
            <a:pPr indent="0" lvl="0" marL="0" marR="0" rtl="0" algn="just">
              <a:spcBef>
                <a:spcPts val="1000"/>
              </a:spcBef>
              <a:spcAft>
                <a:spcPts val="0"/>
              </a:spcAft>
              <a:buNone/>
            </a:pPr>
            <a:r>
              <a:rPr i="0" lang="en-US" sz="2000" u="none" cap="none" strike="noStrike">
                <a:solidFill>
                  <a:schemeClr val="dk1"/>
                </a:solidFill>
                <a:latin typeface="Cambria"/>
                <a:ea typeface="Cambria"/>
                <a:cs typeface="Cambria"/>
                <a:sym typeface="Cambria"/>
              </a:rPr>
              <a:t>Identificação de unidades de significado</a:t>
            </a:r>
            <a:endParaRPr>
              <a:latin typeface="Cambria"/>
              <a:ea typeface="Cambria"/>
              <a:cs typeface="Cambria"/>
              <a:sym typeface="Cambria"/>
            </a:endParaRPr>
          </a:p>
          <a:p>
            <a:pPr indent="0" lvl="0" marL="0" marR="0" rtl="0" algn="just">
              <a:spcBef>
                <a:spcPts val="1000"/>
              </a:spcBef>
              <a:spcAft>
                <a:spcPts val="0"/>
              </a:spcAft>
              <a:buNone/>
            </a:pPr>
            <a:r>
              <a:rPr i="0" lang="en-US" sz="2000" u="none" cap="none" strike="noStrike">
                <a:solidFill>
                  <a:schemeClr val="dk1"/>
                </a:solidFill>
                <a:latin typeface="Cambria"/>
                <a:ea typeface="Cambria"/>
                <a:cs typeface="Cambria"/>
                <a:sym typeface="Cambria"/>
              </a:rPr>
              <a:t>Interpretação pelo pesquisador</a:t>
            </a:r>
            <a:endParaRPr i="0" sz="2000" u="none" cap="none" strike="noStrike">
              <a:solidFill>
                <a:schemeClr val="dk1"/>
              </a:solidFill>
              <a:latin typeface="Cambria"/>
              <a:ea typeface="Cambria"/>
              <a:cs typeface="Cambria"/>
              <a:sym typeface="Cambria"/>
            </a:endParaRPr>
          </a:p>
          <a:p>
            <a:pPr indent="0" lvl="0" marL="0" marR="0" rtl="0" algn="just">
              <a:spcBef>
                <a:spcPts val="1000"/>
              </a:spcBef>
              <a:spcAft>
                <a:spcPts val="0"/>
              </a:spcAft>
              <a:buNone/>
            </a:pPr>
            <a:r>
              <a:t/>
            </a:r>
            <a:endParaRPr sz="2000">
              <a:solidFill>
                <a:schemeClr val="dk1"/>
              </a:solidFill>
              <a:latin typeface="Cambria"/>
              <a:ea typeface="Cambria"/>
              <a:cs typeface="Cambria"/>
              <a:sym typeface="Cambria"/>
            </a:endParaRPr>
          </a:p>
          <a:p>
            <a:pPr indent="0" lvl="0" marL="0" marR="0" rtl="0" algn="l">
              <a:spcBef>
                <a:spcPts val="1000"/>
              </a:spcBef>
              <a:spcAft>
                <a:spcPts val="0"/>
              </a:spcAft>
              <a:buNone/>
            </a:pPr>
            <a:r>
              <a:rPr b="1" i="0" lang="en-US" sz="2000" u="none" cap="none" strike="noStrike">
                <a:solidFill>
                  <a:schemeClr val="dk1"/>
                </a:solidFill>
                <a:latin typeface="Cambria"/>
                <a:ea typeface="Cambria"/>
                <a:cs typeface="Cambria"/>
                <a:sym typeface="Cambria"/>
              </a:rPr>
              <a:t>Pergunta: O que neste trecho é significativo para minha pesquisa?</a:t>
            </a:r>
            <a:endParaRPr b="1" i="0" sz="1800" u="none" cap="none" strike="noStrike">
              <a:solidFill>
                <a:schemeClr val="dk1"/>
              </a:solidFill>
              <a:latin typeface="Cambria"/>
              <a:ea typeface="Cambria"/>
              <a:cs typeface="Cambria"/>
              <a:sym typeface="Cambria"/>
            </a:endParaRPr>
          </a:p>
        </p:txBody>
      </p:sp>
      <p:sp>
        <p:nvSpPr>
          <p:cNvPr id="145" name="Google Shape;145;p4"/>
          <p:cNvSpPr txBox="1"/>
          <p:nvPr/>
        </p:nvSpPr>
        <p:spPr>
          <a:xfrm>
            <a:off x="5934625" y="2013450"/>
            <a:ext cx="5847600" cy="33864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lang="en-US" sz="1600">
                <a:latin typeface="Cambria"/>
                <a:ea typeface="Cambria"/>
                <a:cs typeface="Cambria"/>
                <a:sym typeface="Cambria"/>
              </a:rPr>
              <a:t>“</a:t>
            </a:r>
            <a:r>
              <a:rPr lang="en-US" sz="1600">
                <a:latin typeface="Cambria"/>
                <a:ea typeface="Cambria"/>
                <a:cs typeface="Cambria"/>
                <a:sym typeface="Cambria"/>
              </a:rPr>
              <a:t>Unitarizar é dar início ao processo reconstrutivo das compreensões do pesquisador, sempre a partir do mergulho em significados coletivos expressos pelos sujeitos da pesquisa. O processo da unitarização é inseguro, especialmente em seu início. </a:t>
            </a:r>
            <a:endParaRPr sz="1600">
              <a:latin typeface="Cambria"/>
              <a:ea typeface="Cambria"/>
              <a:cs typeface="Cambria"/>
              <a:sym typeface="Cambria"/>
            </a:endParaRPr>
          </a:p>
          <a:p>
            <a:pPr indent="0" lvl="0" marL="0" rtl="0" algn="just">
              <a:lnSpc>
                <a:spcPct val="150000"/>
              </a:lnSpc>
              <a:spcBef>
                <a:spcPts val="0"/>
              </a:spcBef>
              <a:spcAft>
                <a:spcPts val="0"/>
              </a:spcAft>
              <a:buNone/>
            </a:pPr>
            <a:r>
              <a:rPr b="1" lang="en-US" sz="1600">
                <a:latin typeface="Cambria"/>
                <a:ea typeface="Cambria"/>
                <a:cs typeface="Cambria"/>
                <a:sym typeface="Cambria"/>
              </a:rPr>
              <a:t>Apenas o envolvimento possibilita conviver com esta insegurança. </a:t>
            </a:r>
            <a:endParaRPr b="1" sz="1600">
              <a:latin typeface="Cambria"/>
              <a:ea typeface="Cambria"/>
              <a:cs typeface="Cambria"/>
              <a:sym typeface="Cambria"/>
            </a:endParaRPr>
          </a:p>
          <a:p>
            <a:pPr indent="0" lvl="0" marL="0" rtl="0" algn="just">
              <a:lnSpc>
                <a:spcPct val="150000"/>
              </a:lnSpc>
              <a:spcBef>
                <a:spcPts val="0"/>
              </a:spcBef>
              <a:spcAft>
                <a:spcPts val="0"/>
              </a:spcAft>
              <a:buNone/>
            </a:pPr>
            <a:r>
              <a:rPr lang="en-US" sz="1600">
                <a:latin typeface="Cambria"/>
                <a:ea typeface="Cambria"/>
                <a:cs typeface="Cambria"/>
                <a:sym typeface="Cambria"/>
              </a:rPr>
              <a:t>Implica em mover o sistema de idéias analisado para o caos, produzindo-se um conjunto desordenado e caótico de unidades elementares de significado sobre os temas investigados”  </a:t>
            </a:r>
            <a:r>
              <a:rPr lang="en-US" sz="1600">
                <a:latin typeface="Cambria"/>
                <a:ea typeface="Cambria"/>
                <a:cs typeface="Cambria"/>
                <a:sym typeface="Cambria"/>
              </a:rPr>
              <a:t>pág</a:t>
            </a:r>
            <a:r>
              <a:rPr lang="en-US" sz="1600">
                <a:latin typeface="Cambria"/>
                <a:ea typeface="Cambria"/>
                <a:cs typeface="Cambria"/>
                <a:sym typeface="Cambria"/>
              </a:rPr>
              <a:t> 124</a:t>
            </a:r>
            <a:endParaRPr sz="1600">
              <a:latin typeface="Cambria"/>
              <a:ea typeface="Cambria"/>
              <a:cs typeface="Cambria"/>
              <a:sym typeface="Cambri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g3fa0fa10d16_0_0"/>
          <p:cNvSpPr txBox="1"/>
          <p:nvPr/>
        </p:nvSpPr>
        <p:spPr>
          <a:xfrm>
            <a:off x="910050" y="1148100"/>
            <a:ext cx="10371900" cy="4053300"/>
          </a:xfrm>
          <a:prstGeom prst="rect">
            <a:avLst/>
          </a:prstGeom>
          <a:noFill/>
          <a:ln>
            <a:noFill/>
          </a:ln>
        </p:spPr>
        <p:txBody>
          <a:bodyPr anchorCtr="0" anchor="t" bIns="91425" lIns="91425" spcFirstLastPara="1" rIns="91425" wrap="square" tIns="91425">
            <a:spAutoFit/>
          </a:bodyPr>
          <a:lstStyle/>
          <a:p>
            <a:pPr indent="0" lvl="0" marL="0" rtl="0" algn="l">
              <a:spcBef>
                <a:spcPts val="1000"/>
              </a:spcBef>
              <a:spcAft>
                <a:spcPts val="0"/>
              </a:spcAft>
              <a:buNone/>
            </a:pPr>
            <a:r>
              <a:rPr b="1" lang="en-US" sz="1800">
                <a:solidFill>
                  <a:schemeClr val="dk1"/>
                </a:solidFill>
                <a:latin typeface="Cambria"/>
                <a:ea typeface="Cambria"/>
                <a:cs typeface="Cambria"/>
                <a:sym typeface="Cambria"/>
              </a:rPr>
              <a:t>1 UNITARIZAÇÃO </a:t>
            </a:r>
            <a:endParaRPr b="1" sz="1800">
              <a:solidFill>
                <a:schemeClr val="dk1"/>
              </a:solidFill>
              <a:latin typeface="Cambria"/>
              <a:ea typeface="Cambria"/>
              <a:cs typeface="Cambria"/>
              <a:sym typeface="Cambria"/>
            </a:endParaRPr>
          </a:p>
          <a:p>
            <a:pPr indent="0" lvl="0" marL="0" rtl="0" algn="l">
              <a:spcBef>
                <a:spcPts val="1000"/>
              </a:spcBef>
              <a:spcAft>
                <a:spcPts val="0"/>
              </a:spcAft>
              <a:buNone/>
            </a:pPr>
            <a:r>
              <a:t/>
            </a:r>
            <a:endParaRPr sz="2000">
              <a:solidFill>
                <a:schemeClr val="dk1"/>
              </a:solidFill>
              <a:latin typeface="Calibri"/>
              <a:ea typeface="Calibri"/>
              <a:cs typeface="Calibri"/>
              <a:sym typeface="Calibri"/>
            </a:endParaRPr>
          </a:p>
          <a:p>
            <a:pPr indent="0" lvl="0" marL="0" rtl="0" algn="l">
              <a:spcBef>
                <a:spcPts val="1000"/>
              </a:spcBef>
              <a:spcAft>
                <a:spcPts val="0"/>
              </a:spcAft>
              <a:buNone/>
            </a:pPr>
            <a:r>
              <a:rPr lang="en-US" sz="2000">
                <a:solidFill>
                  <a:schemeClr val="dk1"/>
                </a:solidFill>
                <a:latin typeface="Cambria"/>
                <a:ea typeface="Cambria"/>
                <a:cs typeface="Cambria"/>
                <a:sym typeface="Cambria"/>
              </a:rPr>
              <a:t>Trata-se da separação dos textos em unidades de Significado</a:t>
            </a:r>
            <a:br>
              <a:rPr lang="en-US" sz="2000">
                <a:solidFill>
                  <a:schemeClr val="dk1"/>
                </a:solidFill>
                <a:latin typeface="Cambria"/>
                <a:ea typeface="Cambria"/>
                <a:cs typeface="Cambria"/>
                <a:sym typeface="Cambria"/>
              </a:rPr>
            </a:br>
            <a:r>
              <a:rPr lang="en-US" sz="2000">
                <a:solidFill>
                  <a:schemeClr val="dk1"/>
                </a:solidFill>
                <a:latin typeface="Cambria"/>
                <a:ea typeface="Cambria"/>
                <a:cs typeface="Cambria"/>
                <a:sym typeface="Cambria"/>
              </a:rPr>
              <a:t>Passos:</a:t>
            </a:r>
            <a:endParaRPr sz="2000">
              <a:solidFill>
                <a:schemeClr val="dk1"/>
              </a:solidFill>
              <a:latin typeface="Cambria"/>
              <a:ea typeface="Cambria"/>
              <a:cs typeface="Cambria"/>
              <a:sym typeface="Cambria"/>
            </a:endParaRPr>
          </a:p>
          <a:p>
            <a:pPr indent="0" lvl="0" marL="0" rtl="0" algn="l">
              <a:spcBef>
                <a:spcPts val="1000"/>
              </a:spcBef>
              <a:spcAft>
                <a:spcPts val="0"/>
              </a:spcAft>
              <a:buNone/>
            </a:pPr>
            <a:br>
              <a:rPr lang="en-US" sz="2000">
                <a:solidFill>
                  <a:schemeClr val="dk1"/>
                </a:solidFill>
                <a:latin typeface="Cambria"/>
                <a:ea typeface="Cambria"/>
                <a:cs typeface="Cambria"/>
                <a:sym typeface="Cambria"/>
              </a:rPr>
            </a:br>
            <a:r>
              <a:rPr lang="en-US" sz="2000">
                <a:solidFill>
                  <a:schemeClr val="dk1"/>
                </a:solidFill>
                <a:latin typeface="Cambria"/>
                <a:ea typeface="Cambria"/>
                <a:cs typeface="Cambria"/>
                <a:sym typeface="Cambria"/>
              </a:rPr>
              <a:t>a) Selecionar o Corpus que  é o conjunto de documentos e produções textuais que serve de base para toda a investigação</a:t>
            </a:r>
            <a:endParaRPr sz="2000">
              <a:solidFill>
                <a:schemeClr val="dk1"/>
              </a:solidFill>
              <a:latin typeface="Cambria"/>
              <a:ea typeface="Cambria"/>
              <a:cs typeface="Cambria"/>
              <a:sym typeface="Cambria"/>
            </a:endParaRPr>
          </a:p>
          <a:p>
            <a:pPr indent="0" lvl="0" marL="0" rtl="0" algn="l">
              <a:spcBef>
                <a:spcPts val="1000"/>
              </a:spcBef>
              <a:spcAft>
                <a:spcPts val="0"/>
              </a:spcAft>
              <a:buNone/>
            </a:pPr>
            <a:r>
              <a:rPr lang="en-US" sz="2000">
                <a:solidFill>
                  <a:schemeClr val="dk1"/>
                </a:solidFill>
                <a:latin typeface="Cambria"/>
                <a:ea typeface="Cambria"/>
                <a:cs typeface="Cambria"/>
                <a:sym typeface="Cambria"/>
              </a:rPr>
              <a:t>b) Desmontar os Textos </a:t>
            </a:r>
            <a:br>
              <a:rPr lang="en-US" sz="2000">
                <a:solidFill>
                  <a:schemeClr val="dk1"/>
                </a:solidFill>
                <a:latin typeface="Cambria"/>
                <a:ea typeface="Cambria"/>
                <a:cs typeface="Cambria"/>
                <a:sym typeface="Cambria"/>
              </a:rPr>
            </a:br>
            <a:r>
              <a:rPr lang="en-US" sz="2000">
                <a:solidFill>
                  <a:schemeClr val="dk1"/>
                </a:solidFill>
                <a:latin typeface="Cambria"/>
                <a:ea typeface="Cambria"/>
                <a:cs typeface="Cambria"/>
                <a:sym typeface="Cambria"/>
              </a:rPr>
              <a:t>c) Codificar e Definir as Unidades de significado por meio de leituras e releituras</a:t>
            </a:r>
            <a:br>
              <a:rPr lang="en-US" sz="2000">
                <a:solidFill>
                  <a:schemeClr val="dk1"/>
                </a:solidFill>
                <a:latin typeface="Cambria"/>
                <a:ea typeface="Cambria"/>
                <a:cs typeface="Cambria"/>
                <a:sym typeface="Cambria"/>
              </a:rPr>
            </a:br>
            <a:r>
              <a:rPr lang="en-US" sz="2000">
                <a:solidFill>
                  <a:schemeClr val="dk1"/>
                </a:solidFill>
                <a:latin typeface="Cambria"/>
                <a:ea typeface="Cambria"/>
                <a:cs typeface="Cambria"/>
                <a:sym typeface="Cambria"/>
              </a:rPr>
              <a:t>d) Reescrever as unidades de significados para ter clareza</a:t>
            </a:r>
            <a:br>
              <a:rPr lang="en-US" sz="2000">
                <a:solidFill>
                  <a:schemeClr val="dk1"/>
                </a:solidFill>
                <a:latin typeface="Cambria"/>
                <a:ea typeface="Cambria"/>
                <a:cs typeface="Cambria"/>
                <a:sym typeface="Cambria"/>
              </a:rPr>
            </a:br>
            <a:r>
              <a:rPr lang="en-US" sz="2000">
                <a:solidFill>
                  <a:schemeClr val="dk1"/>
                </a:solidFill>
                <a:latin typeface="Cambria"/>
                <a:ea typeface="Cambria"/>
                <a:cs typeface="Cambria"/>
                <a:sym typeface="Cambria"/>
              </a:rPr>
              <a:t>e) Atribuir um título para cada unidade de significado</a:t>
            </a:r>
            <a:endParaRPr>
              <a:latin typeface="Cambria"/>
              <a:ea typeface="Cambria"/>
              <a:cs typeface="Cambria"/>
              <a:sym typeface="Cambri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g3f9eceff479_0_1"/>
          <p:cNvSpPr txBox="1"/>
          <p:nvPr/>
        </p:nvSpPr>
        <p:spPr>
          <a:xfrm>
            <a:off x="885350" y="747050"/>
            <a:ext cx="11085900" cy="5526600"/>
          </a:xfrm>
          <a:prstGeom prst="rect">
            <a:avLst/>
          </a:prstGeom>
          <a:noFill/>
          <a:ln>
            <a:noFill/>
          </a:ln>
        </p:spPr>
        <p:txBody>
          <a:bodyPr anchorCtr="0" anchor="t" bIns="91425" lIns="91425" spcFirstLastPara="1" rIns="91425" wrap="square" tIns="91425">
            <a:noAutofit/>
          </a:bodyPr>
          <a:lstStyle/>
          <a:p>
            <a:pPr indent="0" lvl="0" marL="0" rtl="0" algn="just">
              <a:lnSpc>
                <a:spcPct val="85000"/>
              </a:lnSpc>
              <a:spcBef>
                <a:spcPts val="0"/>
              </a:spcBef>
              <a:spcAft>
                <a:spcPts val="0"/>
              </a:spcAft>
              <a:buNone/>
            </a:pPr>
            <a:r>
              <a:rPr lang="en-US" sz="2800">
                <a:latin typeface="Cambria"/>
                <a:ea typeface="Cambria"/>
                <a:cs typeface="Cambria"/>
                <a:sym typeface="Cambria"/>
              </a:rPr>
              <a:t>UNITARIZAÇÃO - EXEMPLO</a:t>
            </a:r>
            <a:br>
              <a:rPr lang="en-US" sz="4800">
                <a:solidFill>
                  <a:srgbClr val="3F3F3F"/>
                </a:solidFill>
                <a:latin typeface="Cambria"/>
                <a:ea typeface="Cambria"/>
                <a:cs typeface="Cambria"/>
                <a:sym typeface="Cambria"/>
              </a:rPr>
            </a:br>
            <a:endParaRPr sz="4800">
              <a:solidFill>
                <a:srgbClr val="3F3F3F"/>
              </a:solidFill>
              <a:latin typeface="Cambria"/>
              <a:ea typeface="Cambria"/>
              <a:cs typeface="Cambria"/>
              <a:sym typeface="Cambria"/>
            </a:endParaRPr>
          </a:p>
          <a:p>
            <a:pPr indent="0" lvl="0" marL="0" rtl="0" algn="just">
              <a:lnSpc>
                <a:spcPct val="85000"/>
              </a:lnSpc>
              <a:spcBef>
                <a:spcPts val="0"/>
              </a:spcBef>
              <a:spcAft>
                <a:spcPts val="0"/>
              </a:spcAft>
              <a:buNone/>
            </a:pPr>
            <a:r>
              <a:rPr lang="en-US" sz="2400">
                <a:solidFill>
                  <a:srgbClr val="3F3F3F"/>
                </a:solidFill>
                <a:latin typeface="Cambria"/>
                <a:ea typeface="Cambria"/>
                <a:cs typeface="Cambria"/>
                <a:sym typeface="Cambria"/>
              </a:rPr>
              <a:t>Pergunta:</a:t>
            </a:r>
            <a:br>
              <a:rPr lang="en-US" sz="2400">
                <a:solidFill>
                  <a:srgbClr val="3F3F3F"/>
                </a:solidFill>
                <a:latin typeface="Cambria"/>
                <a:ea typeface="Cambria"/>
                <a:cs typeface="Cambria"/>
                <a:sym typeface="Cambria"/>
              </a:rPr>
            </a:br>
            <a:endParaRPr sz="2400">
              <a:solidFill>
                <a:srgbClr val="3F3F3F"/>
              </a:solidFill>
              <a:latin typeface="Cambria"/>
              <a:ea typeface="Cambria"/>
              <a:cs typeface="Cambria"/>
              <a:sym typeface="Cambria"/>
            </a:endParaRPr>
          </a:p>
          <a:p>
            <a:pPr indent="0" lvl="0" marL="0" rtl="0" algn="just">
              <a:lnSpc>
                <a:spcPct val="85000"/>
              </a:lnSpc>
              <a:spcBef>
                <a:spcPts val="0"/>
              </a:spcBef>
              <a:spcAft>
                <a:spcPts val="0"/>
              </a:spcAft>
              <a:buNone/>
            </a:pPr>
            <a:r>
              <a:rPr lang="en-US" sz="2400">
                <a:solidFill>
                  <a:srgbClr val="3F3F3F"/>
                </a:solidFill>
                <a:highlight>
                  <a:srgbClr val="FFFF00"/>
                </a:highlight>
                <a:latin typeface="Cambria"/>
                <a:ea typeface="Cambria"/>
                <a:cs typeface="Cambria"/>
                <a:sym typeface="Cambria"/>
              </a:rPr>
              <a:t>Descreva brevemente como você utilizaria os equipamentos e recursos digitais, citados anteriormente na sua prática docente como professor?</a:t>
            </a:r>
            <a:endParaRPr sz="2400">
              <a:solidFill>
                <a:srgbClr val="3F3F3F"/>
              </a:solidFill>
              <a:highlight>
                <a:srgbClr val="FFFF00"/>
              </a:highlight>
              <a:latin typeface="Cambria"/>
              <a:ea typeface="Cambria"/>
              <a:cs typeface="Cambria"/>
              <a:sym typeface="Cambria"/>
            </a:endParaRPr>
          </a:p>
          <a:p>
            <a:pPr indent="0" lvl="0" marL="0" rtl="0" algn="just">
              <a:lnSpc>
                <a:spcPct val="85000"/>
              </a:lnSpc>
              <a:spcBef>
                <a:spcPts val="0"/>
              </a:spcBef>
              <a:spcAft>
                <a:spcPts val="0"/>
              </a:spcAft>
              <a:buNone/>
            </a:pPr>
            <a:r>
              <a:t/>
            </a:r>
            <a:endParaRPr sz="2400">
              <a:solidFill>
                <a:srgbClr val="3F3F3F"/>
              </a:solidFill>
              <a:latin typeface="Cambria"/>
              <a:ea typeface="Cambria"/>
              <a:cs typeface="Cambria"/>
              <a:sym typeface="Cambria"/>
            </a:endParaRPr>
          </a:p>
          <a:p>
            <a:pPr indent="0" lvl="0" marL="0" rtl="0" algn="just">
              <a:lnSpc>
                <a:spcPct val="85000"/>
              </a:lnSpc>
              <a:spcBef>
                <a:spcPts val="0"/>
              </a:spcBef>
              <a:spcAft>
                <a:spcPts val="0"/>
              </a:spcAft>
              <a:buClr>
                <a:schemeClr val="dk1"/>
              </a:buClr>
              <a:buSzPts val="1100"/>
              <a:buFont typeface="Arial"/>
              <a:buNone/>
            </a:pPr>
            <a:r>
              <a:rPr lang="en-US" sz="2400">
                <a:solidFill>
                  <a:srgbClr val="3F3F3F"/>
                </a:solidFill>
                <a:latin typeface="Cambria"/>
                <a:ea typeface="Cambria"/>
                <a:cs typeface="Cambria"/>
                <a:sym typeface="Cambria"/>
              </a:rPr>
              <a:t>Respondentes: 5 Sujeitos colocados de A1 a A5</a:t>
            </a:r>
            <a:endParaRPr sz="2400">
              <a:solidFill>
                <a:srgbClr val="3F3F3F"/>
              </a:solidFill>
              <a:latin typeface="Cambria"/>
              <a:ea typeface="Cambria"/>
              <a:cs typeface="Cambria"/>
              <a:sym typeface="Cambria"/>
            </a:endParaRPr>
          </a:p>
          <a:p>
            <a:pPr indent="0" lvl="0" marL="0" rtl="0" algn="just">
              <a:spcBef>
                <a:spcPts val="0"/>
              </a:spcBef>
              <a:spcAft>
                <a:spcPts val="0"/>
              </a:spcAft>
              <a:buNone/>
            </a:pPr>
            <a:br>
              <a:rPr lang="en-US" sz="2000">
                <a:solidFill>
                  <a:srgbClr val="3F3F3F"/>
                </a:solidFill>
                <a:latin typeface="Cambria"/>
                <a:ea typeface="Cambria"/>
                <a:cs typeface="Cambria"/>
                <a:sym typeface="Cambria"/>
              </a:rPr>
            </a:br>
            <a:r>
              <a:rPr lang="en-US" sz="2000">
                <a:solidFill>
                  <a:srgbClr val="3F3F3F"/>
                </a:solidFill>
                <a:latin typeface="Cambria"/>
                <a:ea typeface="Cambria"/>
                <a:cs typeface="Cambria"/>
                <a:sym typeface="Cambria"/>
              </a:rPr>
              <a:t>Resposta do Sujeito A1:</a:t>
            </a:r>
            <a:br>
              <a:rPr lang="en-US" sz="2000">
                <a:solidFill>
                  <a:srgbClr val="3F3F3F"/>
                </a:solidFill>
                <a:latin typeface="Cambria"/>
                <a:ea typeface="Cambria"/>
                <a:cs typeface="Cambria"/>
                <a:sym typeface="Cambria"/>
              </a:rPr>
            </a:br>
            <a:r>
              <a:rPr lang="en-US" sz="2000">
                <a:solidFill>
                  <a:srgbClr val="3F3F3F"/>
                </a:solidFill>
                <a:latin typeface="Cambria"/>
                <a:ea typeface="Cambria"/>
                <a:cs typeface="Cambria"/>
                <a:sym typeface="Cambria"/>
              </a:rPr>
              <a:t>O ensino da </a:t>
            </a:r>
            <a:r>
              <a:rPr lang="en-US" sz="2000">
                <a:solidFill>
                  <a:srgbClr val="3F3F3F"/>
                </a:solidFill>
                <a:latin typeface="Cambria"/>
                <a:ea typeface="Cambria"/>
                <a:cs typeface="Cambria"/>
                <a:sym typeface="Cambria"/>
              </a:rPr>
              <a:t>língua</a:t>
            </a:r>
            <a:r>
              <a:rPr lang="en-US" sz="2000">
                <a:solidFill>
                  <a:srgbClr val="3F3F3F"/>
                </a:solidFill>
                <a:latin typeface="Cambria"/>
                <a:ea typeface="Cambria"/>
                <a:cs typeface="Cambria"/>
                <a:sym typeface="Cambria"/>
              </a:rPr>
              <a:t> estrangeira tem que ter aulas mais dinâmicas, expositivas e mais dialogais. O uso de </a:t>
            </a:r>
            <a:r>
              <a:rPr lang="en-US" sz="2000">
                <a:solidFill>
                  <a:srgbClr val="3F3F3F"/>
                </a:solidFill>
                <a:latin typeface="Cambria"/>
                <a:ea typeface="Cambria"/>
                <a:cs typeface="Cambria"/>
                <a:sym typeface="Cambria"/>
              </a:rPr>
              <a:t>audiovisuais</a:t>
            </a:r>
            <a:r>
              <a:rPr lang="en-US" sz="2000">
                <a:solidFill>
                  <a:srgbClr val="3F3F3F"/>
                </a:solidFill>
                <a:latin typeface="Cambria"/>
                <a:ea typeface="Cambria"/>
                <a:cs typeface="Cambria"/>
                <a:sym typeface="Cambria"/>
              </a:rPr>
              <a:t> é muito importante, para facilitar a aprendizagem, utilizaria esses recursos para avaliações e de forma mais expositivas.  Já o uso do Tablet e afins utilizaria para pesquisa sobre os países </a:t>
            </a:r>
            <a:r>
              <a:rPr lang="en-US" sz="2000">
                <a:solidFill>
                  <a:srgbClr val="3F3F3F"/>
                </a:solidFill>
                <a:latin typeface="Cambria"/>
                <a:ea typeface="Cambria"/>
                <a:cs typeface="Cambria"/>
                <a:sym typeface="Cambria"/>
              </a:rPr>
              <a:t>hispanofalantes</a:t>
            </a:r>
            <a:r>
              <a:rPr lang="en-US" sz="2000">
                <a:solidFill>
                  <a:srgbClr val="3F3F3F"/>
                </a:solidFill>
                <a:latin typeface="Cambria"/>
                <a:ea typeface="Cambria"/>
                <a:cs typeface="Cambria"/>
                <a:sym typeface="Cambria"/>
              </a:rPr>
              <a:t>, para aproximar o aluno a culturas diferentes desses países, mostrando que mesmo tendo a língua inicial, ha pronúncias que diferem.</a:t>
            </a:r>
            <a:br>
              <a:rPr lang="en-US" sz="2000">
                <a:solidFill>
                  <a:srgbClr val="3F3F3F"/>
                </a:solidFill>
                <a:latin typeface="Cambria"/>
                <a:ea typeface="Cambria"/>
                <a:cs typeface="Cambria"/>
                <a:sym typeface="Cambria"/>
              </a:rPr>
            </a:br>
            <a:br>
              <a:rPr lang="en-US" sz="2000">
                <a:solidFill>
                  <a:srgbClr val="3F3F3F"/>
                </a:solidFill>
                <a:latin typeface="Cambria"/>
                <a:ea typeface="Cambria"/>
                <a:cs typeface="Cambria"/>
                <a:sym typeface="Cambria"/>
              </a:rPr>
            </a:br>
            <a:endParaRPr sz="2000">
              <a:solidFill>
                <a:srgbClr val="3F3F3F"/>
              </a:solidFill>
              <a:latin typeface="Cambria"/>
              <a:ea typeface="Cambria"/>
              <a:cs typeface="Cambria"/>
              <a:sym typeface="Cambri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g3f9eceff479_0_5"/>
          <p:cNvSpPr txBox="1"/>
          <p:nvPr>
            <p:ph type="title"/>
          </p:nvPr>
        </p:nvSpPr>
        <p:spPr>
          <a:xfrm>
            <a:off x="870825" y="258797"/>
            <a:ext cx="10058400" cy="760200"/>
          </a:xfrm>
          <a:prstGeom prst="rect">
            <a:avLst/>
          </a:prstGeom>
        </p:spPr>
        <p:txBody>
          <a:bodyPr anchorCtr="0" anchor="b" bIns="45700" lIns="91425" spcFirstLastPara="1" rIns="91425" wrap="square" tIns="45700">
            <a:normAutofit fontScale="90000"/>
          </a:bodyPr>
          <a:lstStyle/>
          <a:p>
            <a:pPr indent="0" lvl="0" marL="0" rtl="0" algn="l">
              <a:spcBef>
                <a:spcPts val="0"/>
              </a:spcBef>
              <a:spcAft>
                <a:spcPts val="0"/>
              </a:spcAft>
              <a:buClr>
                <a:schemeClr val="dk1"/>
              </a:buClr>
              <a:buSzPts val="990"/>
              <a:buFont typeface="Arial"/>
              <a:buNone/>
            </a:pPr>
            <a:r>
              <a:t/>
            </a:r>
            <a:endParaRPr/>
          </a:p>
          <a:p>
            <a:pPr indent="0" lvl="0" marL="0" rtl="0" algn="l">
              <a:spcBef>
                <a:spcPts val="0"/>
              </a:spcBef>
              <a:spcAft>
                <a:spcPts val="0"/>
              </a:spcAft>
              <a:buClr>
                <a:schemeClr val="dk1"/>
              </a:buClr>
              <a:buSzPts val="990"/>
              <a:buFont typeface="Arial"/>
              <a:buNone/>
            </a:pPr>
            <a:r>
              <a:t/>
            </a:r>
            <a:endParaRPr/>
          </a:p>
          <a:p>
            <a:pPr indent="0" lvl="0" marL="0" rtl="0" algn="l">
              <a:spcBef>
                <a:spcPts val="0"/>
              </a:spcBef>
              <a:spcAft>
                <a:spcPts val="0"/>
              </a:spcAft>
              <a:buNone/>
            </a:pPr>
            <a:r>
              <a:rPr b="1" lang="en-US" sz="3100">
                <a:latin typeface="Cambria"/>
                <a:ea typeface="Cambria"/>
                <a:cs typeface="Cambria"/>
                <a:sym typeface="Cambria"/>
              </a:rPr>
              <a:t>U</a:t>
            </a:r>
            <a:r>
              <a:rPr b="1" lang="en-US" sz="3100">
                <a:solidFill>
                  <a:srgbClr val="262626"/>
                </a:solidFill>
                <a:latin typeface="Cambria"/>
                <a:ea typeface="Cambria"/>
                <a:cs typeface="Cambria"/>
                <a:sym typeface="Cambria"/>
              </a:rPr>
              <a:t>NITARIZAÇÃO - Desmontagem do texto</a:t>
            </a:r>
            <a:endParaRPr b="1" sz="3100">
              <a:solidFill>
                <a:srgbClr val="262626"/>
              </a:solidFill>
              <a:latin typeface="Cambria"/>
              <a:ea typeface="Cambria"/>
              <a:cs typeface="Cambria"/>
              <a:sym typeface="Cambria"/>
            </a:endParaRPr>
          </a:p>
        </p:txBody>
      </p:sp>
      <p:sp>
        <p:nvSpPr>
          <p:cNvPr id="161" name="Google Shape;161;g3f9eceff479_0_5"/>
          <p:cNvSpPr txBox="1"/>
          <p:nvPr/>
        </p:nvSpPr>
        <p:spPr>
          <a:xfrm>
            <a:off x="993550" y="1283775"/>
            <a:ext cx="10359600" cy="4386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2000">
                <a:solidFill>
                  <a:srgbClr val="3F3F3F"/>
                </a:solidFill>
                <a:latin typeface="Cambria"/>
                <a:ea typeface="Cambria"/>
                <a:cs typeface="Cambria"/>
                <a:sym typeface="Cambria"/>
              </a:rPr>
              <a:t>Exemplo - Sujeito A1</a:t>
            </a:r>
            <a:br>
              <a:rPr lang="en-US" sz="2000">
                <a:solidFill>
                  <a:srgbClr val="3F3F3F"/>
                </a:solidFill>
                <a:latin typeface="Cambria"/>
                <a:ea typeface="Cambria"/>
                <a:cs typeface="Cambria"/>
                <a:sym typeface="Cambria"/>
              </a:rPr>
            </a:br>
            <a:br>
              <a:rPr lang="en-US" sz="2000">
                <a:solidFill>
                  <a:srgbClr val="3F3F3F"/>
                </a:solidFill>
                <a:latin typeface="Cambria"/>
                <a:ea typeface="Cambria"/>
                <a:cs typeface="Cambria"/>
                <a:sym typeface="Cambria"/>
              </a:rPr>
            </a:br>
            <a:r>
              <a:rPr lang="en-US" sz="2000">
                <a:solidFill>
                  <a:srgbClr val="3F3F3F"/>
                </a:solidFill>
                <a:latin typeface="Cambria"/>
                <a:ea typeface="Cambria"/>
                <a:cs typeface="Cambria"/>
                <a:sym typeface="Cambria"/>
              </a:rPr>
              <a:t>Aulas mais dinâmicas</a:t>
            </a:r>
            <a:br>
              <a:rPr lang="en-US" sz="2000">
                <a:solidFill>
                  <a:srgbClr val="3F3F3F"/>
                </a:solidFill>
                <a:latin typeface="Cambria"/>
                <a:ea typeface="Cambria"/>
                <a:cs typeface="Cambria"/>
                <a:sym typeface="Cambria"/>
              </a:rPr>
            </a:br>
            <a:r>
              <a:rPr lang="en-US" sz="2000">
                <a:solidFill>
                  <a:srgbClr val="3F3F3F"/>
                </a:solidFill>
                <a:latin typeface="Cambria"/>
                <a:ea typeface="Cambria"/>
                <a:cs typeface="Cambria"/>
                <a:sym typeface="Cambria"/>
              </a:rPr>
              <a:t>Aulas mais expositivas</a:t>
            </a:r>
            <a:br>
              <a:rPr lang="en-US" sz="2000">
                <a:solidFill>
                  <a:srgbClr val="3F3F3F"/>
                </a:solidFill>
                <a:latin typeface="Cambria"/>
                <a:ea typeface="Cambria"/>
                <a:cs typeface="Cambria"/>
                <a:sym typeface="Cambria"/>
              </a:rPr>
            </a:br>
            <a:r>
              <a:rPr lang="en-US" sz="2000">
                <a:solidFill>
                  <a:srgbClr val="3F3F3F"/>
                </a:solidFill>
                <a:latin typeface="Cambria"/>
                <a:ea typeface="Cambria"/>
                <a:cs typeface="Cambria"/>
                <a:sym typeface="Cambria"/>
              </a:rPr>
              <a:t>Aulas mais dialogais</a:t>
            </a:r>
            <a:br>
              <a:rPr lang="en-US" sz="2000">
                <a:solidFill>
                  <a:srgbClr val="3F3F3F"/>
                </a:solidFill>
                <a:latin typeface="Cambria"/>
                <a:ea typeface="Cambria"/>
                <a:cs typeface="Cambria"/>
                <a:sym typeface="Cambria"/>
              </a:rPr>
            </a:br>
            <a:r>
              <a:rPr lang="en-US" sz="2000">
                <a:solidFill>
                  <a:srgbClr val="3F3F3F"/>
                </a:solidFill>
                <a:latin typeface="Cambria"/>
                <a:ea typeface="Cambria"/>
                <a:cs typeface="Cambria"/>
                <a:sym typeface="Cambria"/>
              </a:rPr>
              <a:t>Uso do audiovisual facilita a aprendizagem</a:t>
            </a:r>
            <a:br>
              <a:rPr lang="en-US" sz="2000">
                <a:solidFill>
                  <a:srgbClr val="3F3F3F"/>
                </a:solidFill>
                <a:latin typeface="Cambria"/>
                <a:ea typeface="Cambria"/>
                <a:cs typeface="Cambria"/>
                <a:sym typeface="Cambria"/>
              </a:rPr>
            </a:br>
            <a:r>
              <a:rPr lang="en-US" sz="2000">
                <a:solidFill>
                  <a:srgbClr val="3F3F3F"/>
                </a:solidFill>
                <a:latin typeface="Cambria"/>
                <a:ea typeface="Cambria"/>
                <a:cs typeface="Cambria"/>
                <a:sym typeface="Cambria"/>
              </a:rPr>
              <a:t>Utilizaria o audiovisual para a avaliação</a:t>
            </a:r>
            <a:br>
              <a:rPr lang="en-US" sz="2000">
                <a:solidFill>
                  <a:srgbClr val="3F3F3F"/>
                </a:solidFill>
                <a:latin typeface="Cambria"/>
                <a:ea typeface="Cambria"/>
                <a:cs typeface="Cambria"/>
                <a:sym typeface="Cambria"/>
              </a:rPr>
            </a:br>
            <a:r>
              <a:rPr lang="en-US" sz="2000">
                <a:solidFill>
                  <a:srgbClr val="3F3F3F"/>
                </a:solidFill>
                <a:latin typeface="Cambria"/>
                <a:ea typeface="Cambria"/>
                <a:cs typeface="Cambria"/>
                <a:sym typeface="Cambria"/>
              </a:rPr>
              <a:t>Utilizaria o audiovisual de forma mais expositiva</a:t>
            </a:r>
            <a:br>
              <a:rPr lang="en-US" sz="2000">
                <a:solidFill>
                  <a:srgbClr val="3F3F3F"/>
                </a:solidFill>
                <a:latin typeface="Cambria"/>
                <a:ea typeface="Cambria"/>
                <a:cs typeface="Cambria"/>
                <a:sym typeface="Cambria"/>
              </a:rPr>
            </a:br>
            <a:r>
              <a:rPr lang="en-US" sz="2000">
                <a:solidFill>
                  <a:srgbClr val="3F3F3F"/>
                </a:solidFill>
                <a:latin typeface="Cambria"/>
                <a:ea typeface="Cambria"/>
                <a:cs typeface="Cambria"/>
                <a:sym typeface="Cambria"/>
              </a:rPr>
              <a:t>Já uso tablets</a:t>
            </a:r>
            <a:br>
              <a:rPr lang="en-US" sz="2000">
                <a:solidFill>
                  <a:srgbClr val="3F3F3F"/>
                </a:solidFill>
                <a:latin typeface="Cambria"/>
                <a:ea typeface="Cambria"/>
                <a:cs typeface="Cambria"/>
                <a:sym typeface="Cambria"/>
              </a:rPr>
            </a:br>
            <a:r>
              <a:rPr lang="en-US" sz="2000">
                <a:solidFill>
                  <a:srgbClr val="3F3F3F"/>
                </a:solidFill>
                <a:latin typeface="Cambria"/>
                <a:ea typeface="Cambria"/>
                <a:cs typeface="Cambria"/>
                <a:sym typeface="Cambria"/>
              </a:rPr>
              <a:t>Utilizaria para pesquisa de países hispanofalantes</a:t>
            </a:r>
            <a:br>
              <a:rPr lang="en-US" sz="2000">
                <a:solidFill>
                  <a:srgbClr val="3F3F3F"/>
                </a:solidFill>
                <a:latin typeface="Cambria"/>
                <a:ea typeface="Cambria"/>
                <a:cs typeface="Cambria"/>
                <a:sym typeface="Cambria"/>
              </a:rPr>
            </a:br>
            <a:r>
              <a:rPr lang="en-US" sz="2000">
                <a:solidFill>
                  <a:srgbClr val="3F3F3F"/>
                </a:solidFill>
                <a:latin typeface="Cambria"/>
                <a:ea typeface="Cambria"/>
                <a:cs typeface="Cambria"/>
                <a:sym typeface="Cambria"/>
              </a:rPr>
              <a:t>Utilizaria para aproximar o aluno de cultura diferentes desses países</a:t>
            </a:r>
            <a:br>
              <a:rPr lang="en-US" sz="2000">
                <a:solidFill>
                  <a:srgbClr val="3F3F3F"/>
                </a:solidFill>
                <a:latin typeface="Cambria"/>
                <a:ea typeface="Cambria"/>
                <a:cs typeface="Cambria"/>
                <a:sym typeface="Cambria"/>
              </a:rPr>
            </a:br>
            <a:r>
              <a:rPr lang="en-US" sz="2000">
                <a:solidFill>
                  <a:srgbClr val="3F3F3F"/>
                </a:solidFill>
                <a:latin typeface="Cambria"/>
                <a:ea typeface="Cambria"/>
                <a:cs typeface="Cambria"/>
                <a:sym typeface="Cambria"/>
              </a:rPr>
              <a:t>Utilizaria para mostrar que as pronúncias diferem, mesmo tendo a mesma língua oficial</a:t>
            </a:r>
            <a:endParaRPr sz="2000">
              <a:solidFill>
                <a:srgbClr val="3F3F3F"/>
              </a:solidFill>
              <a:latin typeface="Cambria"/>
              <a:ea typeface="Cambria"/>
              <a:cs typeface="Cambria"/>
              <a:sym typeface="Cambri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g3f9eceff479_0_10"/>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b="1" lang="en-US" sz="2800">
                <a:solidFill>
                  <a:srgbClr val="262626"/>
                </a:solidFill>
                <a:latin typeface="Cambria"/>
                <a:ea typeface="Cambria"/>
                <a:cs typeface="Cambria"/>
                <a:sym typeface="Cambria"/>
              </a:rPr>
              <a:t>Unitarização - Unidades de Significados</a:t>
            </a:r>
            <a:endParaRPr b="1" sz="2800">
              <a:solidFill>
                <a:srgbClr val="262626"/>
              </a:solidFill>
              <a:latin typeface="Cambria"/>
              <a:ea typeface="Cambria"/>
              <a:cs typeface="Cambria"/>
              <a:sym typeface="Cambria"/>
            </a:endParaRPr>
          </a:p>
        </p:txBody>
      </p:sp>
      <p:sp>
        <p:nvSpPr>
          <p:cNvPr id="167" name="Google Shape;167;g3f9eceff479_0_10"/>
          <p:cNvSpPr txBox="1"/>
          <p:nvPr/>
        </p:nvSpPr>
        <p:spPr>
          <a:xfrm>
            <a:off x="1191075" y="2012575"/>
            <a:ext cx="10198500" cy="41868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2000">
                <a:solidFill>
                  <a:srgbClr val="3F3F3F"/>
                </a:solidFill>
                <a:latin typeface="Cambria"/>
                <a:ea typeface="Cambria"/>
                <a:cs typeface="Cambria"/>
                <a:sym typeface="Cambria"/>
              </a:rPr>
              <a:t>Exemplo - Sujeito A1</a:t>
            </a:r>
            <a:br>
              <a:rPr lang="en-US" sz="2000">
                <a:solidFill>
                  <a:srgbClr val="3F3F3F"/>
                </a:solidFill>
                <a:latin typeface="Cambria"/>
                <a:ea typeface="Cambria"/>
                <a:cs typeface="Cambria"/>
                <a:sym typeface="Cambria"/>
              </a:rPr>
            </a:br>
            <a:r>
              <a:rPr lang="en-US" sz="2000">
                <a:solidFill>
                  <a:srgbClr val="3F3F3F"/>
                </a:solidFill>
                <a:latin typeface="Cambria"/>
                <a:ea typeface="Cambria"/>
                <a:cs typeface="Cambria"/>
                <a:sym typeface="Cambria"/>
              </a:rPr>
              <a:t>Aulas mais dinâmicas - </a:t>
            </a:r>
            <a:r>
              <a:rPr lang="en-US" sz="2000">
                <a:solidFill>
                  <a:schemeClr val="dk1"/>
                </a:solidFill>
                <a:highlight>
                  <a:srgbClr val="FFFF00"/>
                </a:highlight>
                <a:latin typeface="Cambria"/>
                <a:ea typeface="Cambria"/>
                <a:cs typeface="Cambria"/>
                <a:sym typeface="Cambria"/>
              </a:rPr>
              <a:t>metodologia de ensino</a:t>
            </a:r>
            <a:br>
              <a:rPr lang="en-US" sz="2000">
                <a:solidFill>
                  <a:schemeClr val="dk1"/>
                </a:solidFill>
                <a:highlight>
                  <a:srgbClr val="FFFF00"/>
                </a:highlight>
                <a:latin typeface="Cambria"/>
                <a:ea typeface="Cambria"/>
                <a:cs typeface="Cambria"/>
                <a:sym typeface="Cambria"/>
              </a:rPr>
            </a:br>
            <a:r>
              <a:rPr lang="en-US" sz="2000">
                <a:solidFill>
                  <a:srgbClr val="3F3F3F"/>
                </a:solidFill>
                <a:latin typeface="Cambria"/>
                <a:ea typeface="Cambria"/>
                <a:cs typeface="Cambria"/>
                <a:sym typeface="Cambria"/>
              </a:rPr>
              <a:t>Aulas mais expositivas - </a:t>
            </a:r>
            <a:r>
              <a:rPr b="1" lang="en-US" sz="2000">
                <a:solidFill>
                  <a:srgbClr val="3F3F3F"/>
                </a:solidFill>
                <a:highlight>
                  <a:srgbClr val="FFFF00"/>
                </a:highlight>
                <a:latin typeface="Cambria"/>
                <a:ea typeface="Cambria"/>
                <a:cs typeface="Cambria"/>
                <a:sym typeface="Cambria"/>
              </a:rPr>
              <a:t>metodologia de ensino</a:t>
            </a:r>
            <a:br>
              <a:rPr b="1" lang="en-US" sz="2000">
                <a:solidFill>
                  <a:srgbClr val="3F3F3F"/>
                </a:solidFill>
                <a:highlight>
                  <a:srgbClr val="FFFF00"/>
                </a:highlight>
                <a:latin typeface="Cambria"/>
                <a:ea typeface="Cambria"/>
                <a:cs typeface="Cambria"/>
                <a:sym typeface="Cambria"/>
              </a:rPr>
            </a:br>
            <a:r>
              <a:rPr lang="en-US" sz="2000">
                <a:solidFill>
                  <a:srgbClr val="3F3F3F"/>
                </a:solidFill>
                <a:latin typeface="Cambria"/>
                <a:ea typeface="Cambria"/>
                <a:cs typeface="Cambria"/>
                <a:sym typeface="Cambria"/>
              </a:rPr>
              <a:t>Aulas mais dialogais - </a:t>
            </a:r>
            <a:r>
              <a:rPr b="1" lang="en-US" sz="2000">
                <a:solidFill>
                  <a:srgbClr val="3F3F3F"/>
                </a:solidFill>
                <a:highlight>
                  <a:srgbClr val="FFFF00"/>
                </a:highlight>
                <a:latin typeface="Cambria"/>
                <a:ea typeface="Cambria"/>
                <a:cs typeface="Cambria"/>
                <a:sym typeface="Cambria"/>
              </a:rPr>
              <a:t>metodologia de ensino</a:t>
            </a:r>
            <a:br>
              <a:rPr b="1" lang="en-US" sz="2000">
                <a:solidFill>
                  <a:srgbClr val="3F3F3F"/>
                </a:solidFill>
                <a:latin typeface="Cambria"/>
                <a:ea typeface="Cambria"/>
                <a:cs typeface="Cambria"/>
                <a:sym typeface="Cambria"/>
              </a:rPr>
            </a:br>
            <a:r>
              <a:rPr lang="en-US" sz="2000">
                <a:solidFill>
                  <a:srgbClr val="3F3F3F"/>
                </a:solidFill>
                <a:latin typeface="Cambria"/>
                <a:ea typeface="Cambria"/>
                <a:cs typeface="Cambria"/>
                <a:sym typeface="Cambria"/>
              </a:rPr>
              <a:t>Uso do Audiovisual facilita a aprendizagem - </a:t>
            </a:r>
            <a:r>
              <a:rPr b="1" lang="en-US" sz="2000">
                <a:solidFill>
                  <a:srgbClr val="3F3F3F"/>
                </a:solidFill>
                <a:highlight>
                  <a:srgbClr val="FFFF00"/>
                </a:highlight>
                <a:latin typeface="Cambria"/>
                <a:ea typeface="Cambria"/>
                <a:cs typeface="Cambria"/>
                <a:sym typeface="Cambria"/>
              </a:rPr>
              <a:t>recurso digital e finalidade</a:t>
            </a:r>
            <a:br>
              <a:rPr lang="en-US" sz="2000">
                <a:solidFill>
                  <a:srgbClr val="3F3F3F"/>
                </a:solidFill>
                <a:highlight>
                  <a:srgbClr val="FFFF00"/>
                </a:highlight>
                <a:latin typeface="Cambria"/>
                <a:ea typeface="Cambria"/>
                <a:cs typeface="Cambria"/>
                <a:sym typeface="Cambria"/>
              </a:rPr>
            </a:br>
            <a:r>
              <a:rPr lang="en-US" sz="2000">
                <a:solidFill>
                  <a:srgbClr val="3F3F3F"/>
                </a:solidFill>
                <a:latin typeface="Cambria"/>
                <a:ea typeface="Cambria"/>
                <a:cs typeface="Cambria"/>
                <a:sym typeface="Cambria"/>
              </a:rPr>
              <a:t>Utilizaria o audiovisual para a avaliação - </a:t>
            </a:r>
            <a:r>
              <a:rPr b="1" lang="en-US" sz="2000">
                <a:solidFill>
                  <a:srgbClr val="3F3F3F"/>
                </a:solidFill>
                <a:highlight>
                  <a:srgbClr val="FFFF00"/>
                </a:highlight>
                <a:latin typeface="Cambria"/>
                <a:ea typeface="Cambria"/>
                <a:cs typeface="Cambria"/>
                <a:sym typeface="Cambria"/>
              </a:rPr>
              <a:t>recurso digital e finalidade</a:t>
            </a:r>
            <a:br>
              <a:rPr lang="en-US" sz="2000">
                <a:solidFill>
                  <a:srgbClr val="3F3F3F"/>
                </a:solidFill>
                <a:latin typeface="Cambria"/>
                <a:ea typeface="Cambria"/>
                <a:cs typeface="Cambria"/>
                <a:sym typeface="Cambria"/>
              </a:rPr>
            </a:br>
            <a:r>
              <a:rPr lang="en-US" sz="2000">
                <a:solidFill>
                  <a:srgbClr val="3F3F3F"/>
                </a:solidFill>
                <a:latin typeface="Cambria"/>
                <a:ea typeface="Cambria"/>
                <a:cs typeface="Cambria"/>
                <a:sym typeface="Cambria"/>
              </a:rPr>
              <a:t>Utilizaria o audiovisual de forma mais expositiva - </a:t>
            </a:r>
            <a:r>
              <a:rPr b="1" lang="en-US" sz="2000">
                <a:solidFill>
                  <a:srgbClr val="3F3F3F"/>
                </a:solidFill>
                <a:highlight>
                  <a:srgbClr val="FFFF00"/>
                </a:highlight>
                <a:latin typeface="Cambria"/>
                <a:ea typeface="Cambria"/>
                <a:cs typeface="Cambria"/>
                <a:sym typeface="Cambria"/>
              </a:rPr>
              <a:t>recurso digital e metodologia de ensino</a:t>
            </a:r>
            <a:br>
              <a:rPr b="1" lang="en-US" sz="2000">
                <a:solidFill>
                  <a:srgbClr val="3F3F3F"/>
                </a:solidFill>
                <a:highlight>
                  <a:srgbClr val="FFFF00"/>
                </a:highlight>
                <a:latin typeface="Cambria"/>
                <a:ea typeface="Cambria"/>
                <a:cs typeface="Cambria"/>
                <a:sym typeface="Cambria"/>
              </a:rPr>
            </a:br>
            <a:r>
              <a:rPr lang="en-US" sz="2000">
                <a:solidFill>
                  <a:srgbClr val="3F3F3F"/>
                </a:solidFill>
                <a:latin typeface="Cambria"/>
                <a:ea typeface="Cambria"/>
                <a:cs typeface="Cambria"/>
                <a:sym typeface="Cambria"/>
              </a:rPr>
              <a:t>Já uso tablets - </a:t>
            </a:r>
            <a:r>
              <a:rPr b="1" lang="en-US" sz="2000">
                <a:solidFill>
                  <a:srgbClr val="3F3F3F"/>
                </a:solidFill>
                <a:highlight>
                  <a:srgbClr val="FFFF00"/>
                </a:highlight>
                <a:latin typeface="Cambria"/>
                <a:ea typeface="Cambria"/>
                <a:cs typeface="Cambria"/>
                <a:sym typeface="Cambria"/>
              </a:rPr>
              <a:t>equipamento digital</a:t>
            </a:r>
            <a:br>
              <a:rPr b="1" lang="en-US" sz="2000">
                <a:solidFill>
                  <a:srgbClr val="3F3F3F"/>
                </a:solidFill>
                <a:latin typeface="Cambria"/>
                <a:ea typeface="Cambria"/>
                <a:cs typeface="Cambria"/>
                <a:sym typeface="Cambria"/>
              </a:rPr>
            </a:br>
            <a:r>
              <a:rPr lang="en-US" sz="2000">
                <a:solidFill>
                  <a:srgbClr val="3F3F3F"/>
                </a:solidFill>
                <a:latin typeface="Cambria"/>
                <a:ea typeface="Cambria"/>
                <a:cs typeface="Cambria"/>
                <a:sym typeface="Cambria"/>
              </a:rPr>
              <a:t>Utilizaria para pesquisa de países hispanofalantes -</a:t>
            </a:r>
            <a:r>
              <a:rPr lang="en-US" sz="2000">
                <a:solidFill>
                  <a:srgbClr val="3F3F3F"/>
                </a:solidFill>
                <a:highlight>
                  <a:srgbClr val="FFFF00"/>
                </a:highlight>
                <a:latin typeface="Cambria"/>
                <a:ea typeface="Cambria"/>
                <a:cs typeface="Cambria"/>
                <a:sym typeface="Cambria"/>
              </a:rPr>
              <a:t> </a:t>
            </a:r>
            <a:r>
              <a:rPr b="1" lang="en-US" sz="2000">
                <a:solidFill>
                  <a:srgbClr val="3F3F3F"/>
                </a:solidFill>
                <a:highlight>
                  <a:srgbClr val="FFFF00"/>
                </a:highlight>
                <a:latin typeface="Cambria"/>
                <a:ea typeface="Cambria"/>
                <a:cs typeface="Cambria"/>
                <a:sym typeface="Cambria"/>
              </a:rPr>
              <a:t>metodologia de ensino</a:t>
            </a:r>
            <a:br>
              <a:rPr lang="en-US" sz="2000">
                <a:solidFill>
                  <a:srgbClr val="3F3F3F"/>
                </a:solidFill>
                <a:latin typeface="Cambria"/>
                <a:ea typeface="Cambria"/>
                <a:cs typeface="Cambria"/>
                <a:sym typeface="Cambria"/>
              </a:rPr>
            </a:br>
            <a:r>
              <a:rPr lang="en-US" sz="2000">
                <a:solidFill>
                  <a:srgbClr val="3F3F3F"/>
                </a:solidFill>
                <a:latin typeface="Cambria"/>
                <a:ea typeface="Cambria"/>
                <a:cs typeface="Cambria"/>
                <a:sym typeface="Cambria"/>
              </a:rPr>
              <a:t>Utilizaria para aproximar o aluno de culturas diferentes desses países -</a:t>
            </a:r>
            <a:r>
              <a:rPr b="1" lang="en-US" sz="2000">
                <a:solidFill>
                  <a:srgbClr val="3F3F3F"/>
                </a:solidFill>
                <a:highlight>
                  <a:srgbClr val="FFFF00"/>
                </a:highlight>
                <a:latin typeface="Cambria"/>
                <a:ea typeface="Cambria"/>
                <a:cs typeface="Cambria"/>
                <a:sym typeface="Cambria"/>
              </a:rPr>
              <a:t> finalidade</a:t>
            </a:r>
            <a:br>
              <a:rPr lang="en-US" sz="2000">
                <a:solidFill>
                  <a:srgbClr val="3F3F3F"/>
                </a:solidFill>
                <a:highlight>
                  <a:srgbClr val="FFFF00"/>
                </a:highlight>
                <a:latin typeface="Cambria"/>
                <a:ea typeface="Cambria"/>
                <a:cs typeface="Cambria"/>
                <a:sym typeface="Cambria"/>
              </a:rPr>
            </a:br>
            <a:r>
              <a:rPr lang="en-US" sz="2000">
                <a:solidFill>
                  <a:srgbClr val="3F3F3F"/>
                </a:solidFill>
                <a:latin typeface="Cambria"/>
                <a:ea typeface="Cambria"/>
                <a:cs typeface="Cambria"/>
                <a:sym typeface="Cambria"/>
              </a:rPr>
              <a:t>Utilizaria para mostrar que as pronúncias diferem, mesmo tendo a mesma língua oficial - </a:t>
            </a:r>
            <a:r>
              <a:rPr b="1" lang="en-US" sz="2000">
                <a:solidFill>
                  <a:schemeClr val="dk1"/>
                </a:solidFill>
                <a:highlight>
                  <a:srgbClr val="FFFF00"/>
                </a:highlight>
                <a:latin typeface="Cambria"/>
                <a:ea typeface="Cambria"/>
                <a:cs typeface="Cambria"/>
                <a:sym typeface="Cambria"/>
              </a:rPr>
              <a:t>metodolodia de ensino</a:t>
            </a:r>
            <a:endParaRPr b="1" sz="2000">
              <a:solidFill>
                <a:schemeClr val="dk1"/>
              </a:solidFill>
              <a:highlight>
                <a:srgbClr val="FFFF00"/>
              </a:highlight>
              <a:latin typeface="Cambria"/>
              <a:ea typeface="Cambria"/>
              <a:cs typeface="Cambria"/>
              <a:sym typeface="Cambri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5"/>
          <p:cNvSpPr txBox="1"/>
          <p:nvPr/>
        </p:nvSpPr>
        <p:spPr>
          <a:xfrm>
            <a:off x="977275" y="396150"/>
            <a:ext cx="10749900" cy="1569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chemeClr val="dk1"/>
                </a:solidFill>
                <a:latin typeface="Cambria"/>
                <a:ea typeface="Cambria"/>
                <a:cs typeface="Cambria"/>
                <a:sym typeface="Cambria"/>
              </a:rPr>
              <a:t>2. Categorização </a:t>
            </a:r>
            <a:endParaRPr b="1" i="0" sz="2800" u="none" cap="none" strike="noStrike">
              <a:solidFill>
                <a:schemeClr val="dk1"/>
              </a:solidFill>
              <a:latin typeface="Cambria"/>
              <a:ea typeface="Cambria"/>
              <a:cs typeface="Cambria"/>
              <a:sym typeface="Cambria"/>
            </a:endParaRPr>
          </a:p>
          <a:p>
            <a:pPr indent="0" lvl="0" marL="0" marR="0" rtl="0" algn="l">
              <a:spcBef>
                <a:spcPts val="0"/>
              </a:spcBef>
              <a:spcAft>
                <a:spcPts val="0"/>
              </a:spcAft>
              <a:buNone/>
            </a:pPr>
            <a:r>
              <a:t/>
            </a:r>
            <a:endParaRPr b="1" sz="2800">
              <a:solidFill>
                <a:schemeClr val="dk1"/>
              </a:solidFill>
              <a:latin typeface="Cambria"/>
              <a:ea typeface="Cambria"/>
              <a:cs typeface="Cambria"/>
              <a:sym typeface="Cambria"/>
            </a:endParaRPr>
          </a:p>
          <a:p>
            <a:pPr indent="0" lvl="0" marL="0" rtl="0" algn="l">
              <a:spcBef>
                <a:spcPts val="0"/>
              </a:spcBef>
              <a:spcAft>
                <a:spcPts val="0"/>
              </a:spcAft>
              <a:buSzPts val="1100"/>
              <a:buNone/>
            </a:pPr>
            <a:r>
              <a:rPr b="1" lang="en-US" sz="2000">
                <a:solidFill>
                  <a:schemeClr val="dk1"/>
                </a:solidFill>
                <a:latin typeface="Cambria"/>
                <a:ea typeface="Cambria"/>
                <a:cs typeface="Cambria"/>
                <a:sym typeface="Cambria"/>
              </a:rPr>
              <a:t>“ </a:t>
            </a:r>
            <a:r>
              <a:rPr b="1" lang="en-US" sz="2000">
                <a:solidFill>
                  <a:schemeClr val="dk1"/>
                </a:solidFill>
                <a:latin typeface="Cambria"/>
                <a:ea typeface="Cambria"/>
                <a:cs typeface="Cambria"/>
                <a:sym typeface="Cambria"/>
              </a:rPr>
              <a:t>A categorização é movimento construtivo de uma ordem diferente da original” </a:t>
            </a:r>
            <a:endParaRPr b="1" sz="2000">
              <a:solidFill>
                <a:schemeClr val="dk1"/>
              </a:solidFill>
              <a:latin typeface="Cambria"/>
              <a:ea typeface="Cambria"/>
              <a:cs typeface="Cambria"/>
              <a:sym typeface="Cambria"/>
            </a:endParaRPr>
          </a:p>
          <a:p>
            <a:pPr indent="0" lvl="0" marL="0" rtl="0" algn="l">
              <a:spcBef>
                <a:spcPts val="0"/>
              </a:spcBef>
              <a:spcAft>
                <a:spcPts val="0"/>
              </a:spcAft>
              <a:buClr>
                <a:schemeClr val="dk1"/>
              </a:buClr>
              <a:buSzPts val="1100"/>
              <a:buFont typeface="Arial"/>
              <a:buNone/>
            </a:pPr>
            <a:r>
              <a:t/>
            </a:r>
            <a:endParaRPr b="1" sz="2000">
              <a:solidFill>
                <a:schemeClr val="dk1"/>
              </a:solidFill>
              <a:latin typeface="Calibri"/>
              <a:ea typeface="Calibri"/>
              <a:cs typeface="Calibri"/>
              <a:sym typeface="Calibri"/>
            </a:endParaRPr>
          </a:p>
        </p:txBody>
      </p:sp>
      <p:sp>
        <p:nvSpPr>
          <p:cNvPr id="173" name="Google Shape;173;p5"/>
          <p:cNvSpPr txBox="1"/>
          <p:nvPr/>
        </p:nvSpPr>
        <p:spPr>
          <a:xfrm>
            <a:off x="283675" y="2143125"/>
            <a:ext cx="4482600" cy="17361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1000"/>
              </a:spcBef>
              <a:spcAft>
                <a:spcPts val="0"/>
              </a:spcAft>
              <a:buClr>
                <a:schemeClr val="dk1"/>
              </a:buClr>
              <a:buSzPts val="1800"/>
              <a:buFont typeface="Cambria"/>
              <a:buChar char="-"/>
            </a:pPr>
            <a:r>
              <a:rPr lang="en-US" sz="1800">
                <a:solidFill>
                  <a:schemeClr val="dk1"/>
                </a:solidFill>
                <a:latin typeface="Cambria"/>
                <a:ea typeface="Cambria"/>
                <a:cs typeface="Cambria"/>
                <a:sym typeface="Cambria"/>
              </a:rPr>
              <a:t>Aproximar unidades semelhantes</a:t>
            </a:r>
            <a:endParaRPr sz="1800">
              <a:solidFill>
                <a:schemeClr val="dk1"/>
              </a:solidFill>
              <a:latin typeface="Cambria"/>
              <a:ea typeface="Cambria"/>
              <a:cs typeface="Cambria"/>
              <a:sym typeface="Cambria"/>
            </a:endParaRPr>
          </a:p>
          <a:p>
            <a:pPr indent="-342900" lvl="0" marL="457200" rtl="0" algn="l">
              <a:lnSpc>
                <a:spcPct val="115000"/>
              </a:lnSpc>
              <a:spcBef>
                <a:spcPts val="0"/>
              </a:spcBef>
              <a:spcAft>
                <a:spcPts val="0"/>
              </a:spcAft>
              <a:buClr>
                <a:schemeClr val="dk1"/>
              </a:buClr>
              <a:buSzPts val="1800"/>
              <a:buFont typeface="Cambria"/>
              <a:buChar char="-"/>
            </a:pPr>
            <a:r>
              <a:rPr lang="en-US" sz="1800">
                <a:solidFill>
                  <a:schemeClr val="dk1"/>
                </a:solidFill>
                <a:latin typeface="Cambria"/>
                <a:ea typeface="Cambria"/>
                <a:cs typeface="Cambria"/>
                <a:sym typeface="Cambria"/>
              </a:rPr>
              <a:t>Estabelecer relações</a:t>
            </a:r>
            <a:endParaRPr sz="1800">
              <a:solidFill>
                <a:schemeClr val="dk1"/>
              </a:solidFill>
              <a:latin typeface="Cambria"/>
              <a:ea typeface="Cambria"/>
              <a:cs typeface="Cambria"/>
              <a:sym typeface="Cambria"/>
            </a:endParaRPr>
          </a:p>
          <a:p>
            <a:pPr indent="-342900" lvl="0" marL="457200" rtl="0" algn="l">
              <a:lnSpc>
                <a:spcPct val="115000"/>
              </a:lnSpc>
              <a:spcBef>
                <a:spcPts val="0"/>
              </a:spcBef>
              <a:spcAft>
                <a:spcPts val="0"/>
              </a:spcAft>
              <a:buClr>
                <a:schemeClr val="dk1"/>
              </a:buClr>
              <a:buSzPts val="1800"/>
              <a:buFont typeface="Cambria"/>
              <a:buChar char="-"/>
            </a:pPr>
            <a:r>
              <a:rPr lang="en-US" sz="1800">
                <a:solidFill>
                  <a:schemeClr val="dk1"/>
                </a:solidFill>
                <a:latin typeface="Cambria"/>
                <a:ea typeface="Cambria"/>
                <a:cs typeface="Cambria"/>
                <a:sym typeface="Cambria"/>
              </a:rPr>
              <a:t>Agrupar ideias</a:t>
            </a:r>
            <a:endParaRPr sz="1800">
              <a:solidFill>
                <a:schemeClr val="dk1"/>
              </a:solidFill>
              <a:latin typeface="Cambria"/>
              <a:ea typeface="Cambria"/>
              <a:cs typeface="Cambria"/>
              <a:sym typeface="Cambria"/>
            </a:endParaRPr>
          </a:p>
          <a:p>
            <a:pPr indent="-342900" lvl="0" marL="457200" rtl="0" algn="l">
              <a:lnSpc>
                <a:spcPct val="115000"/>
              </a:lnSpc>
              <a:spcBef>
                <a:spcPts val="0"/>
              </a:spcBef>
              <a:spcAft>
                <a:spcPts val="0"/>
              </a:spcAft>
              <a:buClr>
                <a:schemeClr val="dk1"/>
              </a:buClr>
              <a:buSzPts val="1800"/>
              <a:buFont typeface="Cambria"/>
              <a:buChar char="-"/>
            </a:pPr>
            <a:r>
              <a:rPr lang="en-US" sz="1800">
                <a:solidFill>
                  <a:schemeClr val="dk1"/>
                </a:solidFill>
                <a:latin typeface="Cambria"/>
                <a:ea typeface="Cambria"/>
                <a:cs typeface="Cambria"/>
                <a:sym typeface="Cambria"/>
              </a:rPr>
              <a:t>Construir categorias de análise</a:t>
            </a:r>
            <a:endParaRPr sz="1800">
              <a:solidFill>
                <a:schemeClr val="dk1"/>
              </a:solidFill>
              <a:latin typeface="Cambria"/>
              <a:ea typeface="Cambria"/>
              <a:cs typeface="Cambria"/>
              <a:sym typeface="Cambria"/>
            </a:endParaRPr>
          </a:p>
          <a:p>
            <a:pPr indent="-342900" lvl="0" marL="457200" rtl="0" algn="l">
              <a:lnSpc>
                <a:spcPct val="115000"/>
              </a:lnSpc>
              <a:spcBef>
                <a:spcPts val="0"/>
              </a:spcBef>
              <a:spcAft>
                <a:spcPts val="0"/>
              </a:spcAft>
              <a:buClr>
                <a:schemeClr val="dk1"/>
              </a:buClr>
              <a:buSzPts val="1800"/>
              <a:buFont typeface="Cambria"/>
              <a:buChar char="-"/>
            </a:pPr>
            <a:r>
              <a:rPr lang="en-US" sz="1800">
                <a:solidFill>
                  <a:schemeClr val="dk1"/>
                </a:solidFill>
                <a:latin typeface="Cambria"/>
                <a:ea typeface="Cambria"/>
                <a:cs typeface="Cambria"/>
                <a:sym typeface="Cambria"/>
              </a:rPr>
              <a:t>Revisitar e reorganizar as categorias</a:t>
            </a:r>
            <a:endParaRPr b="1" sz="1800">
              <a:latin typeface="Cambria"/>
              <a:ea typeface="Cambria"/>
              <a:cs typeface="Cambria"/>
              <a:sym typeface="Cambria"/>
            </a:endParaRPr>
          </a:p>
        </p:txBody>
      </p:sp>
      <p:sp>
        <p:nvSpPr>
          <p:cNvPr id="174" name="Google Shape;174;p5"/>
          <p:cNvSpPr txBox="1"/>
          <p:nvPr/>
        </p:nvSpPr>
        <p:spPr>
          <a:xfrm>
            <a:off x="5057775" y="2886175"/>
            <a:ext cx="5829300" cy="21240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lang="en-US" sz="1800">
                <a:latin typeface="Cambria"/>
                <a:ea typeface="Cambria"/>
                <a:cs typeface="Cambria"/>
                <a:sym typeface="Cambria"/>
              </a:rPr>
              <a:t>“A p</a:t>
            </a:r>
            <a:r>
              <a:rPr lang="en-US" sz="1800">
                <a:latin typeface="Cambria"/>
                <a:ea typeface="Cambria"/>
                <a:cs typeface="Cambria"/>
                <a:sym typeface="Cambria"/>
              </a:rPr>
              <a:t>artir da unitarização criam-se as condições para a categorização, com emergência de novos entendimentos e sentidos. As categorias vão emergindo, inicialmente imprecisas e inseguras, mas gradativamente sendo explicitadas com rigor e clareza” pag 125</a:t>
            </a:r>
            <a:endParaRPr sz="1800">
              <a:latin typeface="Cambria"/>
              <a:ea typeface="Cambria"/>
              <a:cs typeface="Cambria"/>
              <a:sym typeface="Cambria"/>
            </a:endParaRPr>
          </a:p>
        </p:txBody>
      </p:sp>
      <p:sp>
        <p:nvSpPr>
          <p:cNvPr id="175" name="Google Shape;175;p5"/>
          <p:cNvSpPr txBox="1"/>
          <p:nvPr/>
        </p:nvSpPr>
        <p:spPr>
          <a:xfrm>
            <a:off x="1381200" y="5383525"/>
            <a:ext cx="9429600" cy="492600"/>
          </a:xfrm>
          <a:prstGeom prst="rect">
            <a:avLst/>
          </a:prstGeom>
          <a:noFill/>
          <a:ln>
            <a:noFill/>
          </a:ln>
        </p:spPr>
        <p:txBody>
          <a:bodyPr anchorCtr="0" anchor="t" bIns="91425" lIns="91425" spcFirstLastPara="1" rIns="91425" wrap="square" tIns="91425">
            <a:spAutoFit/>
          </a:bodyPr>
          <a:lstStyle/>
          <a:p>
            <a:pPr indent="0" lvl="0" marL="0" rtl="0" algn="l">
              <a:spcBef>
                <a:spcPts val="1000"/>
              </a:spcBef>
              <a:spcAft>
                <a:spcPts val="0"/>
              </a:spcAft>
              <a:buNone/>
            </a:pPr>
            <a:r>
              <a:rPr b="1" lang="en-US" sz="2000">
                <a:solidFill>
                  <a:schemeClr val="dk1"/>
                </a:solidFill>
                <a:latin typeface="Calibri"/>
                <a:ea typeface="Calibri"/>
                <a:cs typeface="Calibri"/>
                <a:sym typeface="Calibri"/>
              </a:rPr>
              <a:t>As categorias não estão prontas:  são construídas e  qualificadas ao longo da análise.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g3f9eeb33fd5_1_36"/>
          <p:cNvSpPr txBox="1"/>
          <p:nvPr/>
        </p:nvSpPr>
        <p:spPr>
          <a:xfrm>
            <a:off x="1097275" y="1885950"/>
            <a:ext cx="9978300" cy="37866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lang="en-US" sz="1800">
                <a:latin typeface="Cambria"/>
                <a:ea typeface="Cambria"/>
                <a:cs typeface="Cambria"/>
                <a:sym typeface="Cambria"/>
              </a:rPr>
              <a:t>“A partir do envolvimento aprofundado é que se criam condições de emergência auto-organizada das novas </a:t>
            </a:r>
            <a:r>
              <a:rPr lang="en-US" sz="1800">
                <a:latin typeface="Cambria"/>
                <a:ea typeface="Cambria"/>
                <a:cs typeface="Cambria"/>
                <a:sym typeface="Cambria"/>
              </a:rPr>
              <a:t>compreensões</a:t>
            </a:r>
            <a:r>
              <a:rPr lang="en-US" sz="1800">
                <a:latin typeface="Cambria"/>
                <a:ea typeface="Cambria"/>
                <a:cs typeface="Cambria"/>
                <a:sym typeface="Cambria"/>
              </a:rPr>
              <a:t>. Nisso desempenha papel importante a unitarização, correspondendo a momento de aproximação do caos, portanto, de possibilidades de emergência do novo pela desorganização de um texto que constrói uma outra ordem. Ao valorizar esses aspectos, esta metodologia de análise se aproxima dos modos de funcionamento de sistemas complexos. Na análise, entretanto, “</a:t>
            </a:r>
            <a:r>
              <a:rPr b="1" lang="en-US" sz="1800">
                <a:latin typeface="Cambria"/>
                <a:ea typeface="Cambria"/>
                <a:cs typeface="Cambria"/>
                <a:sym typeface="Cambria"/>
              </a:rPr>
              <a:t>a complexidade não se reduz à incerteza. É a incerteza no seio de sistemas ricamente organizados</a:t>
            </a:r>
            <a:r>
              <a:rPr lang="en-US" sz="1800">
                <a:latin typeface="Cambria"/>
                <a:ea typeface="Cambria"/>
                <a:cs typeface="Cambria"/>
                <a:sym typeface="Cambria"/>
              </a:rPr>
              <a:t>” (MORIN, 2003, p. 52). Ainda assim, atingir um conhecimento mais complexo e rico implica mover-se por espaços mais inseguros. </a:t>
            </a:r>
            <a:r>
              <a:rPr b="1" lang="en-US" sz="1800">
                <a:latin typeface="Cambria"/>
                <a:ea typeface="Cambria"/>
                <a:cs typeface="Cambria"/>
                <a:sym typeface="Cambria"/>
              </a:rPr>
              <a:t>Não é sentir-se inseguro por não ter aprendido. É ter aprendido a estar inseguro” pág 121. </a:t>
            </a:r>
            <a:endParaRPr b="1" sz="1800">
              <a:latin typeface="Cambria"/>
              <a:ea typeface="Cambria"/>
              <a:cs typeface="Cambria"/>
              <a:sym typeface="Cambri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g3f9eceff479_0_15"/>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b="1" lang="en-US" sz="2800">
                <a:solidFill>
                  <a:srgbClr val="262626"/>
                </a:solidFill>
                <a:latin typeface="Cambria"/>
                <a:ea typeface="Cambria"/>
                <a:cs typeface="Cambria"/>
                <a:sym typeface="Cambria"/>
              </a:rPr>
              <a:t>CATEGORIZAÇÃO - passos:</a:t>
            </a:r>
            <a:endParaRPr b="1" sz="2800">
              <a:solidFill>
                <a:srgbClr val="262626"/>
              </a:solidFill>
              <a:latin typeface="Cambria"/>
              <a:ea typeface="Cambria"/>
              <a:cs typeface="Cambria"/>
              <a:sym typeface="Cambria"/>
            </a:endParaRPr>
          </a:p>
        </p:txBody>
      </p:sp>
      <p:sp>
        <p:nvSpPr>
          <p:cNvPr id="186" name="Google Shape;186;g3f9eceff479_0_15"/>
          <p:cNvSpPr txBox="1"/>
          <p:nvPr/>
        </p:nvSpPr>
        <p:spPr>
          <a:xfrm>
            <a:off x="1244150" y="2213975"/>
            <a:ext cx="9316500" cy="29553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rgbClr val="3F3F3F"/>
              </a:buClr>
              <a:buSzPts val="2000"/>
              <a:buFont typeface="Calibri"/>
              <a:buAutoNum type="alphaLcParenR"/>
            </a:pPr>
            <a:r>
              <a:rPr lang="en-US" sz="2000">
                <a:solidFill>
                  <a:srgbClr val="3F3F3F"/>
                </a:solidFill>
                <a:latin typeface="Calibri"/>
                <a:ea typeface="Calibri"/>
                <a:cs typeface="Calibri"/>
                <a:sym typeface="Calibri"/>
              </a:rPr>
              <a:t>Reunir as unidades de significados semelhantes com a comparação das unidades de significado.</a:t>
            </a:r>
            <a:endParaRPr sz="2000">
              <a:solidFill>
                <a:srgbClr val="3F3F3F"/>
              </a:solidFill>
              <a:latin typeface="Calibri"/>
              <a:ea typeface="Calibri"/>
              <a:cs typeface="Calibri"/>
              <a:sym typeface="Calibri"/>
            </a:endParaRPr>
          </a:p>
          <a:p>
            <a:pPr indent="0" lvl="0" marL="457200" rtl="0" algn="l">
              <a:spcBef>
                <a:spcPts val="0"/>
              </a:spcBef>
              <a:spcAft>
                <a:spcPts val="0"/>
              </a:spcAft>
              <a:buNone/>
            </a:pPr>
            <a:r>
              <a:t/>
            </a:r>
            <a:endParaRPr sz="2000">
              <a:solidFill>
                <a:srgbClr val="3F3F3F"/>
              </a:solidFill>
              <a:latin typeface="Calibri"/>
              <a:ea typeface="Calibri"/>
              <a:cs typeface="Calibri"/>
              <a:sym typeface="Calibri"/>
            </a:endParaRPr>
          </a:p>
          <a:p>
            <a:pPr indent="-355600" lvl="0" marL="457200" rtl="0" algn="l">
              <a:spcBef>
                <a:spcPts val="0"/>
              </a:spcBef>
              <a:spcAft>
                <a:spcPts val="0"/>
              </a:spcAft>
              <a:buClr>
                <a:srgbClr val="3F3F3F"/>
              </a:buClr>
              <a:buSzPts val="2000"/>
              <a:buFont typeface="Calibri"/>
              <a:buAutoNum type="alphaLcParenR"/>
            </a:pPr>
            <a:r>
              <a:rPr lang="en-US" sz="2000">
                <a:solidFill>
                  <a:srgbClr val="3F3F3F"/>
                </a:solidFill>
                <a:latin typeface="Calibri"/>
                <a:ea typeface="Calibri"/>
                <a:cs typeface="Calibri"/>
                <a:sym typeface="Calibri"/>
              </a:rPr>
              <a:t>Utilizar um método indutivo (particular para geral).</a:t>
            </a:r>
            <a:br>
              <a:rPr lang="en-US" sz="2000">
                <a:solidFill>
                  <a:srgbClr val="3F3F3F"/>
                </a:solidFill>
                <a:latin typeface="Calibri"/>
                <a:ea typeface="Calibri"/>
                <a:cs typeface="Calibri"/>
                <a:sym typeface="Calibri"/>
              </a:rPr>
            </a:br>
            <a:endParaRPr sz="2000">
              <a:solidFill>
                <a:srgbClr val="3F3F3F"/>
              </a:solidFill>
              <a:latin typeface="Calibri"/>
              <a:ea typeface="Calibri"/>
              <a:cs typeface="Calibri"/>
              <a:sym typeface="Calibri"/>
            </a:endParaRPr>
          </a:p>
          <a:p>
            <a:pPr indent="-355600" lvl="0" marL="457200" rtl="0" algn="l">
              <a:spcBef>
                <a:spcPts val="0"/>
              </a:spcBef>
              <a:spcAft>
                <a:spcPts val="0"/>
              </a:spcAft>
              <a:buClr>
                <a:srgbClr val="3F3F3F"/>
              </a:buClr>
              <a:buSzPts val="2000"/>
              <a:buFont typeface="Calibri"/>
              <a:buAutoNum type="alphaLcParenR"/>
            </a:pPr>
            <a:r>
              <a:rPr lang="en-US" sz="2000">
                <a:solidFill>
                  <a:srgbClr val="3F3F3F"/>
                </a:solidFill>
                <a:latin typeface="Calibri"/>
                <a:ea typeface="Calibri"/>
                <a:cs typeface="Calibri"/>
                <a:sym typeface="Calibri"/>
              </a:rPr>
              <a:t>Criar, definir e nomear cada categoria.</a:t>
            </a:r>
            <a:endParaRPr sz="2000">
              <a:solidFill>
                <a:srgbClr val="3F3F3F"/>
              </a:solidFill>
              <a:latin typeface="Calibri"/>
              <a:ea typeface="Calibri"/>
              <a:cs typeface="Calibri"/>
              <a:sym typeface="Calibri"/>
            </a:endParaRPr>
          </a:p>
          <a:p>
            <a:pPr indent="0" lvl="0" marL="457200" rtl="0" algn="l">
              <a:spcBef>
                <a:spcPts val="0"/>
              </a:spcBef>
              <a:spcAft>
                <a:spcPts val="0"/>
              </a:spcAft>
              <a:buNone/>
            </a:pPr>
            <a:r>
              <a:t/>
            </a:r>
            <a:endParaRPr sz="2000">
              <a:solidFill>
                <a:srgbClr val="3F3F3F"/>
              </a:solidFill>
              <a:latin typeface="Calibri"/>
              <a:ea typeface="Calibri"/>
              <a:cs typeface="Calibri"/>
              <a:sym typeface="Calibri"/>
            </a:endParaRPr>
          </a:p>
          <a:p>
            <a:pPr indent="-355600" lvl="0" marL="457200" rtl="0" algn="l">
              <a:spcBef>
                <a:spcPts val="0"/>
              </a:spcBef>
              <a:spcAft>
                <a:spcPts val="0"/>
              </a:spcAft>
              <a:buClr>
                <a:srgbClr val="3F3F3F"/>
              </a:buClr>
              <a:buSzPts val="2000"/>
              <a:buFont typeface="Calibri"/>
              <a:buAutoNum type="alphaLcParenR"/>
            </a:pPr>
            <a:r>
              <a:rPr lang="en-US" sz="2000">
                <a:solidFill>
                  <a:srgbClr val="3F3F3F"/>
                </a:solidFill>
                <a:latin typeface="Calibri"/>
                <a:ea typeface="Calibri"/>
                <a:cs typeface="Calibri"/>
                <a:sym typeface="Calibri"/>
              </a:rPr>
              <a:t>Produzir argumentos para a categoria (agentes aglutinadores) por meio de relações e hierarquizações das categorias.</a:t>
            </a:r>
            <a:endParaRPr sz="2000">
              <a:solidFill>
                <a:srgbClr val="3F3F3F"/>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g3f9eceff479_0_20"/>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b="1" lang="en-US" sz="2800">
                <a:solidFill>
                  <a:srgbClr val="262626"/>
                </a:solidFill>
              </a:rPr>
              <a:t>CATEGORIZAÇÃO - EXEMPLO </a:t>
            </a:r>
            <a:endParaRPr b="1" sz="2800">
              <a:solidFill>
                <a:srgbClr val="262626"/>
              </a:solidFill>
            </a:endParaRPr>
          </a:p>
          <a:p>
            <a:pPr indent="0" lvl="0" marL="0" rtl="0" algn="l">
              <a:spcBef>
                <a:spcPts val="0"/>
              </a:spcBef>
              <a:spcAft>
                <a:spcPts val="0"/>
              </a:spcAft>
              <a:buNone/>
            </a:pPr>
            <a:r>
              <a:rPr lang="en-US" sz="2000"/>
              <a:t>Unidades de significados - sujeito A1</a:t>
            </a:r>
            <a:endParaRPr/>
          </a:p>
        </p:txBody>
      </p:sp>
      <p:sp>
        <p:nvSpPr>
          <p:cNvPr id="192" name="Google Shape;192;g3f9eceff479_0_20"/>
          <p:cNvSpPr txBox="1"/>
          <p:nvPr/>
        </p:nvSpPr>
        <p:spPr>
          <a:xfrm>
            <a:off x="913575" y="1737400"/>
            <a:ext cx="9577800" cy="509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2000">
                <a:solidFill>
                  <a:srgbClr val="3F3F3F"/>
                </a:solidFill>
                <a:highlight>
                  <a:srgbClr val="FFFF00"/>
                </a:highlight>
                <a:latin typeface="Cambria"/>
                <a:ea typeface="Cambria"/>
                <a:cs typeface="Cambria"/>
                <a:sym typeface="Cambria"/>
              </a:rPr>
              <a:t>Metodologia de Ensino</a:t>
            </a:r>
            <a:br>
              <a:rPr lang="en-US" sz="2000">
                <a:solidFill>
                  <a:srgbClr val="3F3F3F"/>
                </a:solidFill>
                <a:highlight>
                  <a:srgbClr val="FFFF00"/>
                </a:highlight>
                <a:latin typeface="Cambria"/>
                <a:ea typeface="Cambria"/>
                <a:cs typeface="Cambria"/>
                <a:sym typeface="Cambria"/>
              </a:rPr>
            </a:br>
            <a:r>
              <a:rPr lang="en-US" sz="2000">
                <a:solidFill>
                  <a:srgbClr val="3F3F3F"/>
                </a:solidFill>
                <a:latin typeface="Cambria"/>
                <a:ea typeface="Cambria"/>
                <a:cs typeface="Cambria"/>
                <a:sym typeface="Cambria"/>
              </a:rPr>
              <a:t>Aulas mais dinâmicas </a:t>
            </a:r>
            <a:br>
              <a:rPr lang="en-US" sz="2000">
                <a:solidFill>
                  <a:schemeClr val="dk1"/>
                </a:solidFill>
                <a:highlight>
                  <a:srgbClr val="FFFF00"/>
                </a:highlight>
                <a:latin typeface="Cambria"/>
                <a:ea typeface="Cambria"/>
                <a:cs typeface="Cambria"/>
                <a:sym typeface="Cambria"/>
              </a:rPr>
            </a:br>
            <a:r>
              <a:rPr lang="en-US" sz="2000">
                <a:solidFill>
                  <a:srgbClr val="3F3F3F"/>
                </a:solidFill>
                <a:latin typeface="Cambria"/>
                <a:ea typeface="Cambria"/>
                <a:cs typeface="Cambria"/>
                <a:sym typeface="Cambria"/>
              </a:rPr>
              <a:t>Aulas mais expositivas </a:t>
            </a:r>
            <a:br>
              <a:rPr lang="en-US" sz="2000">
                <a:solidFill>
                  <a:srgbClr val="3F3F3F"/>
                </a:solidFill>
                <a:highlight>
                  <a:srgbClr val="FFFF00"/>
                </a:highlight>
                <a:latin typeface="Cambria"/>
                <a:ea typeface="Cambria"/>
                <a:cs typeface="Cambria"/>
                <a:sym typeface="Cambria"/>
              </a:rPr>
            </a:br>
            <a:r>
              <a:rPr lang="en-US" sz="2000">
                <a:solidFill>
                  <a:srgbClr val="3F3F3F"/>
                </a:solidFill>
                <a:latin typeface="Cambria"/>
                <a:ea typeface="Cambria"/>
                <a:cs typeface="Cambria"/>
                <a:sym typeface="Cambria"/>
              </a:rPr>
              <a:t>Aulas mais dialogais </a:t>
            </a:r>
            <a:endParaRPr sz="2000">
              <a:solidFill>
                <a:srgbClr val="3F3F3F"/>
              </a:solidFill>
              <a:latin typeface="Cambria"/>
              <a:ea typeface="Cambria"/>
              <a:cs typeface="Cambria"/>
              <a:sym typeface="Cambria"/>
            </a:endParaRPr>
          </a:p>
          <a:p>
            <a:pPr indent="0" lvl="0" marL="0" rtl="0" algn="l">
              <a:lnSpc>
                <a:spcPct val="115000"/>
              </a:lnSpc>
              <a:spcBef>
                <a:spcPts val="0"/>
              </a:spcBef>
              <a:spcAft>
                <a:spcPts val="0"/>
              </a:spcAft>
              <a:buNone/>
            </a:pPr>
            <a:r>
              <a:rPr lang="en-US" sz="2000">
                <a:solidFill>
                  <a:srgbClr val="3F3F3F"/>
                </a:solidFill>
                <a:latin typeface="Cambria"/>
                <a:ea typeface="Cambria"/>
                <a:cs typeface="Cambria"/>
                <a:sym typeface="Cambria"/>
              </a:rPr>
              <a:t>Utilizaria para pesquisa de países hispanofalantes</a:t>
            </a:r>
            <a:endParaRPr sz="2000">
              <a:solidFill>
                <a:srgbClr val="3F3F3F"/>
              </a:solidFill>
              <a:latin typeface="Cambria"/>
              <a:ea typeface="Cambria"/>
              <a:cs typeface="Cambria"/>
              <a:sym typeface="Cambria"/>
            </a:endParaRPr>
          </a:p>
          <a:p>
            <a:pPr indent="0" lvl="0" marL="0" rtl="0" algn="l">
              <a:lnSpc>
                <a:spcPct val="115000"/>
              </a:lnSpc>
              <a:spcBef>
                <a:spcPts val="0"/>
              </a:spcBef>
              <a:spcAft>
                <a:spcPts val="0"/>
              </a:spcAft>
              <a:buNone/>
            </a:pPr>
            <a:r>
              <a:rPr lang="en-US" sz="2000">
                <a:solidFill>
                  <a:srgbClr val="3F3F3F"/>
                </a:solidFill>
                <a:latin typeface="Cambria"/>
                <a:ea typeface="Cambria"/>
                <a:cs typeface="Cambria"/>
                <a:sym typeface="Cambria"/>
              </a:rPr>
              <a:t>Utilizaria para mostrar que as pronúncias diferem, mesmo tendo a mesma língua oficial  </a:t>
            </a:r>
            <a:endParaRPr sz="2000">
              <a:solidFill>
                <a:schemeClr val="dk1"/>
              </a:solidFill>
              <a:highlight>
                <a:srgbClr val="FFFF00"/>
              </a:highlight>
              <a:latin typeface="Cambria"/>
              <a:ea typeface="Cambria"/>
              <a:cs typeface="Cambria"/>
              <a:sym typeface="Cambria"/>
            </a:endParaRPr>
          </a:p>
          <a:p>
            <a:pPr indent="0" lvl="0" marL="0" rtl="0" algn="l">
              <a:lnSpc>
                <a:spcPct val="115000"/>
              </a:lnSpc>
              <a:spcBef>
                <a:spcPts val="0"/>
              </a:spcBef>
              <a:spcAft>
                <a:spcPts val="0"/>
              </a:spcAft>
              <a:buNone/>
            </a:pPr>
            <a:r>
              <a:rPr b="1" lang="en-US" sz="2000">
                <a:solidFill>
                  <a:srgbClr val="3F3F3F"/>
                </a:solidFill>
                <a:highlight>
                  <a:srgbClr val="FFFF00"/>
                </a:highlight>
                <a:latin typeface="Cambria"/>
                <a:ea typeface="Cambria"/>
                <a:cs typeface="Cambria"/>
                <a:sym typeface="Cambria"/>
              </a:rPr>
              <a:t>Recurso Digita</a:t>
            </a:r>
            <a:r>
              <a:rPr lang="en-US" sz="2000">
                <a:solidFill>
                  <a:srgbClr val="3F3F3F"/>
                </a:solidFill>
                <a:highlight>
                  <a:srgbClr val="FFFF00"/>
                </a:highlight>
                <a:latin typeface="Cambria"/>
                <a:ea typeface="Cambria"/>
                <a:cs typeface="Cambria"/>
                <a:sym typeface="Cambria"/>
              </a:rPr>
              <a:t>l</a:t>
            </a:r>
            <a:br>
              <a:rPr lang="en-US" sz="2000">
                <a:solidFill>
                  <a:srgbClr val="3F3F3F"/>
                </a:solidFill>
                <a:latin typeface="Cambria"/>
                <a:ea typeface="Cambria"/>
                <a:cs typeface="Cambria"/>
                <a:sym typeface="Cambria"/>
              </a:rPr>
            </a:br>
            <a:r>
              <a:rPr lang="en-US" sz="2000">
                <a:solidFill>
                  <a:srgbClr val="3F3F3F"/>
                </a:solidFill>
                <a:latin typeface="Cambria"/>
                <a:ea typeface="Cambria"/>
                <a:cs typeface="Cambria"/>
                <a:sym typeface="Cambria"/>
              </a:rPr>
              <a:t>Uso do Audiovisual facilita a aprendizagem </a:t>
            </a:r>
            <a:br>
              <a:rPr lang="en-US" sz="2000">
                <a:solidFill>
                  <a:srgbClr val="3F3F3F"/>
                </a:solidFill>
                <a:highlight>
                  <a:srgbClr val="FFFF00"/>
                </a:highlight>
                <a:latin typeface="Cambria"/>
                <a:ea typeface="Cambria"/>
                <a:cs typeface="Cambria"/>
                <a:sym typeface="Cambria"/>
              </a:rPr>
            </a:br>
            <a:r>
              <a:rPr lang="en-US" sz="2000">
                <a:solidFill>
                  <a:srgbClr val="3F3F3F"/>
                </a:solidFill>
                <a:latin typeface="Cambria"/>
                <a:ea typeface="Cambria"/>
                <a:cs typeface="Cambria"/>
                <a:sym typeface="Cambria"/>
              </a:rPr>
              <a:t>Utilizaria o audiovisual para a avaliação </a:t>
            </a:r>
            <a:br>
              <a:rPr lang="en-US" sz="2000">
                <a:solidFill>
                  <a:srgbClr val="3F3F3F"/>
                </a:solidFill>
                <a:latin typeface="Cambria"/>
                <a:ea typeface="Cambria"/>
                <a:cs typeface="Cambria"/>
                <a:sym typeface="Cambria"/>
              </a:rPr>
            </a:br>
            <a:r>
              <a:rPr lang="en-US" sz="2000">
                <a:solidFill>
                  <a:srgbClr val="3F3F3F"/>
                </a:solidFill>
                <a:latin typeface="Cambria"/>
                <a:ea typeface="Cambria"/>
                <a:cs typeface="Cambria"/>
                <a:sym typeface="Cambria"/>
              </a:rPr>
              <a:t>Utilizaria o audiovisual de forma mais expositiva </a:t>
            </a:r>
            <a:endParaRPr sz="2000">
              <a:solidFill>
                <a:srgbClr val="3F3F3F"/>
              </a:solidFill>
              <a:highlight>
                <a:srgbClr val="FFFF00"/>
              </a:highlight>
              <a:latin typeface="Cambria"/>
              <a:ea typeface="Cambria"/>
              <a:cs typeface="Cambria"/>
              <a:sym typeface="Cambria"/>
            </a:endParaRPr>
          </a:p>
          <a:p>
            <a:pPr indent="0" lvl="0" marL="0" rtl="0" algn="l">
              <a:lnSpc>
                <a:spcPct val="115000"/>
              </a:lnSpc>
              <a:spcBef>
                <a:spcPts val="0"/>
              </a:spcBef>
              <a:spcAft>
                <a:spcPts val="0"/>
              </a:spcAft>
              <a:buClr>
                <a:schemeClr val="dk1"/>
              </a:buClr>
              <a:buSzPts val="1100"/>
              <a:buFont typeface="Arial"/>
              <a:buNone/>
            </a:pPr>
            <a:r>
              <a:rPr b="1" lang="en-US" sz="2000">
                <a:solidFill>
                  <a:srgbClr val="3F3F3F"/>
                </a:solidFill>
                <a:highlight>
                  <a:srgbClr val="FFFF00"/>
                </a:highlight>
                <a:latin typeface="Cambria"/>
                <a:ea typeface="Cambria"/>
                <a:cs typeface="Cambria"/>
                <a:sym typeface="Cambria"/>
              </a:rPr>
              <a:t>Equipamento digital-</a:t>
            </a:r>
            <a:r>
              <a:rPr b="1" lang="en-US" sz="2000">
                <a:solidFill>
                  <a:srgbClr val="3F3F3F"/>
                </a:solidFill>
                <a:latin typeface="Cambria"/>
                <a:ea typeface="Cambria"/>
                <a:cs typeface="Cambria"/>
                <a:sym typeface="Cambria"/>
              </a:rPr>
              <a:t>   </a:t>
            </a:r>
            <a:r>
              <a:rPr lang="en-US" sz="2000">
                <a:solidFill>
                  <a:srgbClr val="3F3F3F"/>
                </a:solidFill>
                <a:latin typeface="Cambria"/>
                <a:ea typeface="Cambria"/>
                <a:cs typeface="Cambria"/>
                <a:sym typeface="Cambria"/>
              </a:rPr>
              <a:t>Já uso tablets </a:t>
            </a:r>
            <a:endParaRPr sz="2000">
              <a:solidFill>
                <a:srgbClr val="3F3F3F"/>
              </a:solidFill>
              <a:latin typeface="Cambria"/>
              <a:ea typeface="Cambria"/>
              <a:cs typeface="Cambria"/>
              <a:sym typeface="Cambria"/>
            </a:endParaRPr>
          </a:p>
          <a:p>
            <a:pPr indent="0" lvl="0" marL="0" rtl="0" algn="l">
              <a:lnSpc>
                <a:spcPct val="115000"/>
              </a:lnSpc>
              <a:spcBef>
                <a:spcPts val="0"/>
              </a:spcBef>
              <a:spcAft>
                <a:spcPts val="0"/>
              </a:spcAft>
              <a:buNone/>
            </a:pPr>
            <a:r>
              <a:rPr b="1" lang="en-US" sz="2000">
                <a:solidFill>
                  <a:srgbClr val="3F3F3F"/>
                </a:solidFill>
                <a:highlight>
                  <a:srgbClr val="FFFF00"/>
                </a:highlight>
                <a:latin typeface="Cambria"/>
                <a:ea typeface="Cambria"/>
                <a:cs typeface="Cambria"/>
                <a:sym typeface="Cambria"/>
              </a:rPr>
              <a:t>Finalidade</a:t>
            </a:r>
            <a:r>
              <a:rPr lang="en-US" sz="2000">
                <a:solidFill>
                  <a:srgbClr val="3F3F3F"/>
                </a:solidFill>
                <a:highlight>
                  <a:srgbClr val="FFFF00"/>
                </a:highlight>
                <a:latin typeface="Cambria"/>
                <a:ea typeface="Cambria"/>
                <a:cs typeface="Cambria"/>
                <a:sym typeface="Cambria"/>
              </a:rPr>
              <a:t> - </a:t>
            </a:r>
            <a:r>
              <a:rPr lang="en-US" sz="2000">
                <a:solidFill>
                  <a:srgbClr val="3F3F3F"/>
                </a:solidFill>
                <a:latin typeface="Cambria"/>
                <a:ea typeface="Cambria"/>
                <a:cs typeface="Cambria"/>
                <a:sym typeface="Cambria"/>
              </a:rPr>
              <a:t>Utilizaria para aproximar o aluno de culturas diferentes desses países</a:t>
            </a:r>
            <a:r>
              <a:rPr lang="en-US" sz="2000">
                <a:solidFill>
                  <a:srgbClr val="3F3F3F"/>
                </a:solidFill>
                <a:latin typeface="Calibri"/>
                <a:ea typeface="Calibri"/>
                <a:cs typeface="Calibri"/>
                <a:sym typeface="Calibri"/>
              </a:rPr>
              <a:t> </a:t>
            </a:r>
            <a:br>
              <a:rPr lang="en-US" sz="2000">
                <a:solidFill>
                  <a:srgbClr val="3F3F3F"/>
                </a:solidFill>
                <a:highlight>
                  <a:srgbClr val="FFFF00"/>
                </a:highlight>
                <a:latin typeface="Calibri"/>
                <a:ea typeface="Calibri"/>
                <a:cs typeface="Calibri"/>
                <a:sym typeface="Calibri"/>
              </a:rPr>
            </a:br>
            <a:endParaRPr sz="2000">
              <a:solidFill>
                <a:srgbClr val="3F3F3F"/>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g3f9eceff479_0_25"/>
          <p:cNvSpPr txBox="1"/>
          <p:nvPr>
            <p:ph type="title"/>
          </p:nvPr>
        </p:nvSpPr>
        <p:spPr>
          <a:xfrm>
            <a:off x="990155" y="179428"/>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b="1" lang="en-US" sz="2800">
                <a:latin typeface="Cambria"/>
                <a:ea typeface="Cambria"/>
                <a:cs typeface="Cambria"/>
                <a:sym typeface="Cambria"/>
              </a:rPr>
              <a:t>CATEGORIZAÇÃO - DEFINIÇÃO DE CATEGORIAS</a:t>
            </a:r>
            <a:endParaRPr b="1" sz="2800">
              <a:latin typeface="Cambria"/>
              <a:ea typeface="Cambria"/>
              <a:cs typeface="Cambria"/>
              <a:sym typeface="Cambria"/>
            </a:endParaRPr>
          </a:p>
        </p:txBody>
      </p:sp>
      <p:sp>
        <p:nvSpPr>
          <p:cNvPr id="198" name="Google Shape;198;g3f9eceff479_0_25"/>
          <p:cNvSpPr txBox="1"/>
          <p:nvPr/>
        </p:nvSpPr>
        <p:spPr>
          <a:xfrm>
            <a:off x="1048200" y="1792075"/>
            <a:ext cx="9942300" cy="4740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2000">
                <a:solidFill>
                  <a:srgbClr val="3F3F3F"/>
                </a:solidFill>
                <a:highlight>
                  <a:srgbClr val="FFFF00"/>
                </a:highlight>
                <a:latin typeface="Cambria"/>
                <a:ea typeface="Cambria"/>
                <a:cs typeface="Cambria"/>
                <a:sym typeface="Cambria"/>
              </a:rPr>
              <a:t>RECURSOS DIGITAIS</a:t>
            </a:r>
            <a:br>
              <a:rPr b="1" lang="en-US" sz="2000">
                <a:solidFill>
                  <a:srgbClr val="3F3F3F"/>
                </a:solidFill>
                <a:latin typeface="Cambria"/>
                <a:ea typeface="Cambria"/>
                <a:cs typeface="Cambria"/>
                <a:sym typeface="Cambria"/>
              </a:rPr>
            </a:br>
            <a:r>
              <a:rPr lang="en-US" sz="2000">
                <a:solidFill>
                  <a:srgbClr val="3F3F3F"/>
                </a:solidFill>
                <a:latin typeface="Cambria"/>
                <a:ea typeface="Cambria"/>
                <a:cs typeface="Cambria"/>
                <a:sym typeface="Cambria"/>
              </a:rPr>
              <a:t>Recursos digitais escolhidos pelos licenciandos ao pensarem o uso das tecnologias digitais no contexto da docência.</a:t>
            </a:r>
            <a:br>
              <a:rPr lang="en-US" sz="2000">
                <a:solidFill>
                  <a:srgbClr val="3F3F3F"/>
                </a:solidFill>
                <a:latin typeface="Cambria"/>
                <a:ea typeface="Cambria"/>
                <a:cs typeface="Cambria"/>
                <a:sym typeface="Cambria"/>
              </a:rPr>
            </a:br>
            <a:r>
              <a:rPr b="1" lang="en-US" sz="2000">
                <a:solidFill>
                  <a:srgbClr val="3F3F3F"/>
                </a:solidFill>
                <a:highlight>
                  <a:srgbClr val="FFFF00"/>
                </a:highlight>
                <a:latin typeface="Cambria"/>
                <a:ea typeface="Cambria"/>
                <a:cs typeface="Cambria"/>
                <a:sym typeface="Cambria"/>
              </a:rPr>
              <a:t>EQUIPAMENTO DIGITA</a:t>
            </a:r>
            <a:br>
              <a:rPr lang="en-US" sz="2000">
                <a:solidFill>
                  <a:srgbClr val="3F3F3F"/>
                </a:solidFill>
                <a:latin typeface="Cambria"/>
                <a:ea typeface="Cambria"/>
                <a:cs typeface="Cambria"/>
                <a:sym typeface="Cambria"/>
              </a:rPr>
            </a:br>
            <a:r>
              <a:rPr lang="en-US" sz="2000">
                <a:solidFill>
                  <a:srgbClr val="3F3F3F"/>
                </a:solidFill>
                <a:latin typeface="Cambria"/>
                <a:ea typeface="Cambria"/>
                <a:cs typeface="Cambria"/>
                <a:sym typeface="Cambria"/>
              </a:rPr>
              <a:t>Equipamentos digitais escolhidos pelos licenciandos ao pensarem o uso das tecnologias digitais no contexto da docência.</a:t>
            </a:r>
            <a:br>
              <a:rPr lang="en-US" sz="2000">
                <a:solidFill>
                  <a:srgbClr val="3F3F3F"/>
                </a:solidFill>
                <a:latin typeface="Cambria"/>
                <a:ea typeface="Cambria"/>
                <a:cs typeface="Cambria"/>
                <a:sym typeface="Cambria"/>
              </a:rPr>
            </a:br>
            <a:r>
              <a:rPr b="1" lang="en-US" sz="2000">
                <a:solidFill>
                  <a:srgbClr val="3F3F3F"/>
                </a:solidFill>
                <a:highlight>
                  <a:srgbClr val="FFFF00"/>
                </a:highlight>
                <a:latin typeface="Cambria"/>
                <a:ea typeface="Cambria"/>
                <a:cs typeface="Cambria"/>
                <a:sym typeface="Cambria"/>
              </a:rPr>
              <a:t>FINALIDADE</a:t>
            </a:r>
            <a:endParaRPr b="1" sz="2000">
              <a:solidFill>
                <a:srgbClr val="3F3F3F"/>
              </a:solidFill>
              <a:highlight>
                <a:srgbClr val="FFFF00"/>
              </a:highlight>
              <a:latin typeface="Cambria"/>
              <a:ea typeface="Cambria"/>
              <a:cs typeface="Cambria"/>
              <a:sym typeface="Cambria"/>
            </a:endParaRPr>
          </a:p>
          <a:p>
            <a:pPr indent="0" lvl="0" marL="0" rtl="0" algn="l">
              <a:lnSpc>
                <a:spcPct val="115000"/>
              </a:lnSpc>
              <a:spcBef>
                <a:spcPts val="0"/>
              </a:spcBef>
              <a:spcAft>
                <a:spcPts val="0"/>
              </a:spcAft>
              <a:buNone/>
            </a:pPr>
            <a:r>
              <a:rPr lang="en-US" sz="2000">
                <a:solidFill>
                  <a:srgbClr val="3F3F3F"/>
                </a:solidFill>
                <a:latin typeface="Cambria"/>
                <a:ea typeface="Cambria"/>
                <a:cs typeface="Cambria"/>
                <a:sym typeface="Cambria"/>
              </a:rPr>
              <a:t>Para que servem as tecnologias digitais escolhidas pelos licenciandos a serem utilizadas no contexto da docência.</a:t>
            </a:r>
            <a:br>
              <a:rPr lang="en-US" sz="2000">
                <a:solidFill>
                  <a:srgbClr val="3F3F3F"/>
                </a:solidFill>
                <a:latin typeface="Cambria"/>
                <a:ea typeface="Cambria"/>
                <a:cs typeface="Cambria"/>
                <a:sym typeface="Cambria"/>
              </a:rPr>
            </a:br>
            <a:r>
              <a:rPr b="1" lang="en-US" sz="2000">
                <a:solidFill>
                  <a:srgbClr val="3F3F3F"/>
                </a:solidFill>
                <a:highlight>
                  <a:srgbClr val="FFFF00"/>
                </a:highlight>
                <a:latin typeface="Cambria"/>
                <a:ea typeface="Cambria"/>
                <a:cs typeface="Cambria"/>
                <a:sym typeface="Cambria"/>
              </a:rPr>
              <a:t>METODOLOGIA DE ENSINO</a:t>
            </a:r>
            <a:br>
              <a:rPr lang="en-US" sz="2000">
                <a:solidFill>
                  <a:srgbClr val="3F3F3F"/>
                </a:solidFill>
                <a:latin typeface="Cambria"/>
                <a:ea typeface="Cambria"/>
                <a:cs typeface="Cambria"/>
                <a:sym typeface="Cambria"/>
              </a:rPr>
            </a:br>
            <a:r>
              <a:rPr lang="en-US" sz="2000">
                <a:solidFill>
                  <a:srgbClr val="3F3F3F"/>
                </a:solidFill>
                <a:latin typeface="Cambria"/>
                <a:ea typeface="Cambria"/>
                <a:cs typeface="Cambria"/>
                <a:sym typeface="Cambria"/>
              </a:rPr>
              <a:t>De que forma os licenciando pensam o uso das tecnologias digitais no contexto da docência.</a:t>
            </a:r>
            <a:br>
              <a:rPr lang="en-US" sz="2000">
                <a:solidFill>
                  <a:srgbClr val="3F3F3F"/>
                </a:solidFill>
                <a:latin typeface="Calibri"/>
                <a:ea typeface="Calibri"/>
                <a:cs typeface="Calibri"/>
                <a:sym typeface="Calibri"/>
              </a:rPr>
            </a:br>
            <a:endParaRPr sz="2000">
              <a:solidFill>
                <a:srgbClr val="3F3F3F"/>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fa011831ea_0_0"/>
          <p:cNvSpPr txBox="1"/>
          <p:nvPr>
            <p:ph type="title"/>
          </p:nvPr>
        </p:nvSpPr>
        <p:spPr>
          <a:xfrm>
            <a:off x="1006230" y="238128"/>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b="1" lang="en-US" sz="2800">
                <a:solidFill>
                  <a:srgbClr val="262626"/>
                </a:solidFill>
                <a:latin typeface="Cambria"/>
                <a:ea typeface="Cambria"/>
                <a:cs typeface="Cambria"/>
                <a:sym typeface="Cambria"/>
              </a:rPr>
              <a:t>3) DESCRIÇÃO - passos:</a:t>
            </a:r>
            <a:endParaRPr b="1" sz="2800">
              <a:solidFill>
                <a:srgbClr val="262626"/>
              </a:solidFill>
              <a:latin typeface="Cambria"/>
              <a:ea typeface="Cambria"/>
              <a:cs typeface="Cambria"/>
              <a:sym typeface="Cambria"/>
            </a:endParaRPr>
          </a:p>
        </p:txBody>
      </p:sp>
      <p:sp>
        <p:nvSpPr>
          <p:cNvPr id="204" name="Google Shape;204;g3fa011831ea_0_0"/>
          <p:cNvSpPr txBox="1"/>
          <p:nvPr/>
        </p:nvSpPr>
        <p:spPr>
          <a:xfrm>
            <a:off x="1097275" y="2272075"/>
            <a:ext cx="9327000" cy="20319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Clr>
                <a:srgbClr val="3F3F3F"/>
              </a:buClr>
              <a:buSzPts val="2400"/>
              <a:buFont typeface="Cambria"/>
              <a:buAutoNum type="alphaLcParenR"/>
            </a:pPr>
            <a:r>
              <a:rPr lang="en-US" sz="2400">
                <a:solidFill>
                  <a:srgbClr val="3F3F3F"/>
                </a:solidFill>
                <a:latin typeface="Cambria"/>
                <a:ea typeface="Cambria"/>
                <a:cs typeface="Cambria"/>
                <a:sym typeface="Cambria"/>
              </a:rPr>
              <a:t>Apresentar elementos emergentes dos textos analisados e representados pelas categorias e subcategorias.</a:t>
            </a:r>
            <a:endParaRPr sz="2400">
              <a:solidFill>
                <a:srgbClr val="3F3F3F"/>
              </a:solidFill>
              <a:latin typeface="Cambria"/>
              <a:ea typeface="Cambria"/>
              <a:cs typeface="Cambria"/>
              <a:sym typeface="Cambria"/>
            </a:endParaRPr>
          </a:p>
          <a:p>
            <a:pPr indent="0" lvl="0" marL="0" rtl="0" algn="l">
              <a:spcBef>
                <a:spcPts val="0"/>
              </a:spcBef>
              <a:spcAft>
                <a:spcPts val="0"/>
              </a:spcAft>
              <a:buNone/>
            </a:pPr>
            <a:r>
              <a:t/>
            </a:r>
            <a:endParaRPr sz="2400">
              <a:solidFill>
                <a:srgbClr val="3F3F3F"/>
              </a:solidFill>
              <a:latin typeface="Cambria"/>
              <a:ea typeface="Cambria"/>
              <a:cs typeface="Cambria"/>
              <a:sym typeface="Cambria"/>
            </a:endParaRPr>
          </a:p>
          <a:p>
            <a:pPr indent="-381000" lvl="0" marL="457200" rtl="0" algn="l">
              <a:spcBef>
                <a:spcPts val="0"/>
              </a:spcBef>
              <a:spcAft>
                <a:spcPts val="0"/>
              </a:spcAft>
              <a:buClr>
                <a:srgbClr val="3F3F3F"/>
              </a:buClr>
              <a:buSzPts val="2400"/>
              <a:buFont typeface="Cambria"/>
              <a:buAutoNum type="alphaLcParenR"/>
            </a:pPr>
            <a:r>
              <a:rPr lang="en-US" sz="2400">
                <a:solidFill>
                  <a:srgbClr val="3F3F3F"/>
                </a:solidFill>
                <a:latin typeface="Cambria"/>
                <a:ea typeface="Cambria"/>
                <a:cs typeface="Cambria"/>
                <a:sym typeface="Cambria"/>
              </a:rPr>
              <a:t>Utilizar recortes dos textos originais produzidos pelo sujeito da pesquisa.</a:t>
            </a:r>
            <a:endParaRPr sz="2400">
              <a:solidFill>
                <a:srgbClr val="3F3F3F"/>
              </a:solidFill>
              <a:latin typeface="Cambria"/>
              <a:ea typeface="Cambria"/>
              <a:cs typeface="Cambria"/>
              <a:sym typeface="Cambria"/>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g3fa011831ea_0_5"/>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b="1" lang="en-US" sz="2800">
                <a:solidFill>
                  <a:srgbClr val="262626"/>
                </a:solidFill>
                <a:latin typeface="Cambria"/>
                <a:ea typeface="Cambria"/>
                <a:cs typeface="Cambria"/>
                <a:sym typeface="Cambria"/>
              </a:rPr>
              <a:t>DESCRIÇÃO - EXEMPLO</a:t>
            </a:r>
            <a:endParaRPr b="1" sz="2800">
              <a:solidFill>
                <a:srgbClr val="262626"/>
              </a:solidFill>
              <a:latin typeface="Cambria"/>
              <a:ea typeface="Cambria"/>
              <a:cs typeface="Cambria"/>
              <a:sym typeface="Cambria"/>
            </a:endParaRPr>
          </a:p>
        </p:txBody>
      </p:sp>
      <p:sp>
        <p:nvSpPr>
          <p:cNvPr id="210" name="Google Shape;210;g3fa011831ea_0_5"/>
          <p:cNvSpPr txBox="1"/>
          <p:nvPr/>
        </p:nvSpPr>
        <p:spPr>
          <a:xfrm>
            <a:off x="1097275" y="2326100"/>
            <a:ext cx="13300800" cy="295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solidFill>
                  <a:schemeClr val="dk1"/>
                </a:solidFill>
                <a:highlight>
                  <a:srgbClr val="FFFF00"/>
                </a:highlight>
                <a:latin typeface="Calibri"/>
                <a:ea typeface="Calibri"/>
                <a:cs typeface="Calibri"/>
                <a:sym typeface="Calibri"/>
              </a:rPr>
              <a:t>RECURSO DIGITAL </a:t>
            </a:r>
            <a:endParaRPr b="1" sz="2000">
              <a:solidFill>
                <a:schemeClr val="dk1"/>
              </a:solidFill>
              <a:highlight>
                <a:srgbClr val="FFFF00"/>
              </a:highlight>
              <a:latin typeface="Calibri"/>
              <a:ea typeface="Calibri"/>
              <a:cs typeface="Calibri"/>
              <a:sym typeface="Calibri"/>
            </a:endParaRPr>
          </a:p>
          <a:p>
            <a:pPr indent="0" lvl="0" marL="0" rtl="0" algn="l">
              <a:spcBef>
                <a:spcPts val="0"/>
              </a:spcBef>
              <a:spcAft>
                <a:spcPts val="0"/>
              </a:spcAft>
              <a:buNone/>
            </a:pPr>
            <a:r>
              <a:rPr lang="en-US" sz="2000">
                <a:solidFill>
                  <a:schemeClr val="dk1"/>
                </a:solidFill>
                <a:highlight>
                  <a:schemeClr val="lt1"/>
                </a:highlight>
                <a:latin typeface="Calibri"/>
                <a:ea typeface="Calibri"/>
                <a:cs typeface="Calibri"/>
                <a:sym typeface="Calibri"/>
              </a:rPr>
              <a:t>Utilizar um video para criar uma canal com temática de ciência (divulgação científica).</a:t>
            </a:r>
            <a:br>
              <a:rPr lang="en-US" sz="2000">
                <a:solidFill>
                  <a:schemeClr val="dk1"/>
                </a:solidFill>
                <a:highlight>
                  <a:schemeClr val="lt1"/>
                </a:highlight>
                <a:latin typeface="Calibri"/>
                <a:ea typeface="Calibri"/>
                <a:cs typeface="Calibri"/>
                <a:sym typeface="Calibri"/>
              </a:rPr>
            </a:br>
            <a:r>
              <a:rPr b="1" lang="en-US" sz="2000">
                <a:solidFill>
                  <a:schemeClr val="dk1"/>
                </a:solidFill>
                <a:highlight>
                  <a:srgbClr val="FFFF00"/>
                </a:highlight>
                <a:latin typeface="Calibri"/>
                <a:ea typeface="Calibri"/>
                <a:cs typeface="Calibri"/>
                <a:sym typeface="Calibri"/>
              </a:rPr>
              <a:t>EQUIPAMENTO DIGITAL</a:t>
            </a:r>
            <a:br>
              <a:rPr lang="en-US" sz="2000">
                <a:solidFill>
                  <a:schemeClr val="dk1"/>
                </a:solidFill>
                <a:highlight>
                  <a:srgbClr val="FFFF00"/>
                </a:highlight>
                <a:latin typeface="Calibri"/>
                <a:ea typeface="Calibri"/>
                <a:cs typeface="Calibri"/>
                <a:sym typeface="Calibri"/>
              </a:rPr>
            </a:br>
            <a:r>
              <a:rPr lang="en-US" sz="2000">
                <a:solidFill>
                  <a:schemeClr val="dk1"/>
                </a:solidFill>
                <a:highlight>
                  <a:schemeClr val="lt1"/>
                </a:highlight>
                <a:latin typeface="Calibri"/>
                <a:ea typeface="Calibri"/>
                <a:cs typeface="Calibri"/>
                <a:sym typeface="Calibri"/>
              </a:rPr>
              <a:t>Já o uso do Tablet.</a:t>
            </a:r>
            <a:br>
              <a:rPr lang="en-US" sz="2000">
                <a:solidFill>
                  <a:schemeClr val="dk1"/>
                </a:solidFill>
                <a:highlight>
                  <a:schemeClr val="lt1"/>
                </a:highlight>
                <a:latin typeface="Calibri"/>
                <a:ea typeface="Calibri"/>
                <a:cs typeface="Calibri"/>
                <a:sym typeface="Calibri"/>
              </a:rPr>
            </a:br>
            <a:r>
              <a:rPr b="1" lang="en-US" sz="2000">
                <a:solidFill>
                  <a:schemeClr val="dk1"/>
                </a:solidFill>
                <a:highlight>
                  <a:srgbClr val="FFFF00"/>
                </a:highlight>
                <a:latin typeface="Calibri"/>
                <a:ea typeface="Calibri"/>
                <a:cs typeface="Calibri"/>
                <a:sym typeface="Calibri"/>
              </a:rPr>
              <a:t>FINALIDADE</a:t>
            </a:r>
            <a:endParaRPr b="1" sz="2000">
              <a:solidFill>
                <a:schemeClr val="dk1"/>
              </a:solidFill>
              <a:highlight>
                <a:srgbClr val="FFFF00"/>
              </a:highlight>
              <a:latin typeface="Calibri"/>
              <a:ea typeface="Calibri"/>
              <a:cs typeface="Calibri"/>
              <a:sym typeface="Calibri"/>
            </a:endParaRPr>
          </a:p>
          <a:p>
            <a:pPr indent="0" lvl="0" marL="0" rtl="0" algn="l">
              <a:spcBef>
                <a:spcPts val="0"/>
              </a:spcBef>
              <a:spcAft>
                <a:spcPts val="0"/>
              </a:spcAft>
              <a:buNone/>
            </a:pPr>
            <a:r>
              <a:rPr lang="en-US" sz="2000">
                <a:solidFill>
                  <a:schemeClr val="dk1"/>
                </a:solidFill>
                <a:highlight>
                  <a:schemeClr val="lt1"/>
                </a:highlight>
                <a:latin typeface="Calibri"/>
                <a:ea typeface="Calibri"/>
                <a:cs typeface="Calibri"/>
                <a:sym typeface="Calibri"/>
              </a:rPr>
              <a:t>Uso do audiovisual facilita a aprendizagem.</a:t>
            </a:r>
            <a:br>
              <a:rPr lang="en-US" sz="2000">
                <a:solidFill>
                  <a:schemeClr val="dk1"/>
                </a:solidFill>
                <a:highlight>
                  <a:srgbClr val="FFFF00"/>
                </a:highlight>
                <a:latin typeface="Calibri"/>
                <a:ea typeface="Calibri"/>
                <a:cs typeface="Calibri"/>
                <a:sym typeface="Calibri"/>
              </a:rPr>
            </a:br>
            <a:r>
              <a:rPr b="1" lang="en-US" sz="2000">
                <a:solidFill>
                  <a:schemeClr val="dk1"/>
                </a:solidFill>
                <a:highlight>
                  <a:srgbClr val="FFFF00"/>
                </a:highlight>
                <a:latin typeface="Calibri"/>
                <a:ea typeface="Calibri"/>
                <a:cs typeface="Calibri"/>
                <a:sym typeface="Calibri"/>
              </a:rPr>
              <a:t>METODOLOGIA DE ENSINO</a:t>
            </a:r>
            <a:endParaRPr b="1" sz="2000">
              <a:solidFill>
                <a:schemeClr val="dk1"/>
              </a:solidFill>
              <a:highlight>
                <a:srgbClr val="FFFF00"/>
              </a:highlight>
              <a:latin typeface="Calibri"/>
              <a:ea typeface="Calibri"/>
              <a:cs typeface="Calibri"/>
              <a:sym typeface="Calibri"/>
            </a:endParaRPr>
          </a:p>
          <a:p>
            <a:pPr indent="0" lvl="0" marL="0" rtl="0" algn="l">
              <a:spcBef>
                <a:spcPts val="0"/>
              </a:spcBef>
              <a:spcAft>
                <a:spcPts val="0"/>
              </a:spcAft>
              <a:buNone/>
            </a:pPr>
            <a:r>
              <a:rPr lang="en-US" sz="2000">
                <a:solidFill>
                  <a:schemeClr val="dk1"/>
                </a:solidFill>
                <a:highlight>
                  <a:schemeClr val="lt1"/>
                </a:highlight>
                <a:latin typeface="Calibri"/>
                <a:ea typeface="Calibri"/>
                <a:cs typeface="Calibri"/>
                <a:sym typeface="Calibri"/>
              </a:rPr>
              <a:t>Utilizaria o audiovisual de forma mais expositiva.</a:t>
            </a:r>
            <a:endParaRPr sz="2000">
              <a:solidFill>
                <a:schemeClr val="dk1"/>
              </a:solidFill>
              <a:highlight>
                <a:schemeClr val="lt1"/>
              </a:highlight>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2000">
                <a:solidFill>
                  <a:schemeClr val="dk1"/>
                </a:solidFill>
                <a:highlight>
                  <a:schemeClr val="lt1"/>
                </a:highlight>
                <a:latin typeface="Calibri"/>
                <a:ea typeface="Calibri"/>
                <a:cs typeface="Calibri"/>
                <a:sym typeface="Calibri"/>
              </a:rPr>
              <a:t>Utilizar um vídeo para criar uma canal com temática de ciência (divulgação científica).</a:t>
            </a:r>
            <a:endParaRPr sz="2000">
              <a:solidFill>
                <a:schemeClr val="dk1"/>
              </a:solidFill>
              <a:highlight>
                <a:srgbClr val="FFFF00"/>
              </a:highlight>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g3fa011831ea_0_10"/>
          <p:cNvSpPr txBox="1"/>
          <p:nvPr>
            <p:ph type="title"/>
          </p:nvPr>
        </p:nvSpPr>
        <p:spPr>
          <a:xfrm>
            <a:off x="1102600" y="816225"/>
            <a:ext cx="6346500" cy="1450800"/>
          </a:xfrm>
          <a:prstGeom prst="rect">
            <a:avLst/>
          </a:prstGeom>
        </p:spPr>
        <p:txBody>
          <a:bodyPr anchorCtr="0" anchor="b" bIns="45700" lIns="91425" spcFirstLastPara="1" rIns="91425" wrap="square" tIns="45700">
            <a:normAutofit fontScale="90000"/>
          </a:bodyPr>
          <a:lstStyle/>
          <a:p>
            <a:pPr indent="0" lvl="0" marL="0" rtl="0" algn="l">
              <a:spcBef>
                <a:spcPts val="0"/>
              </a:spcBef>
              <a:spcAft>
                <a:spcPts val="0"/>
              </a:spcAft>
              <a:buNone/>
            </a:pPr>
            <a:r>
              <a:t/>
            </a:r>
            <a:endParaRPr>
              <a:latin typeface="Cambria"/>
              <a:ea typeface="Cambria"/>
              <a:cs typeface="Cambria"/>
              <a:sym typeface="Cambria"/>
            </a:endParaRPr>
          </a:p>
          <a:p>
            <a:pPr indent="0" lvl="0" marL="0" rtl="0" algn="l">
              <a:spcBef>
                <a:spcPts val="0"/>
              </a:spcBef>
              <a:spcAft>
                <a:spcPts val="0"/>
              </a:spcAft>
              <a:buNone/>
            </a:pPr>
            <a:r>
              <a:rPr b="1" lang="en-US" sz="3100">
                <a:latin typeface="Cambria"/>
                <a:ea typeface="Cambria"/>
                <a:cs typeface="Cambria"/>
                <a:sym typeface="Cambria"/>
              </a:rPr>
              <a:t>INTERPRETAÇÃO - passos</a:t>
            </a:r>
            <a:endParaRPr b="1" sz="3100">
              <a:latin typeface="Cambria"/>
              <a:ea typeface="Cambria"/>
              <a:cs typeface="Cambria"/>
              <a:sym typeface="Cambria"/>
            </a:endParaRPr>
          </a:p>
          <a:p>
            <a:pPr indent="0" lvl="0" marL="0" rtl="0" algn="ctr">
              <a:spcBef>
                <a:spcPts val="0"/>
              </a:spcBef>
              <a:spcAft>
                <a:spcPts val="0"/>
              </a:spcAft>
              <a:buNone/>
            </a:pPr>
            <a:r>
              <a:t/>
            </a:r>
            <a:endParaRPr>
              <a:latin typeface="Cambria"/>
              <a:ea typeface="Cambria"/>
              <a:cs typeface="Cambria"/>
              <a:sym typeface="Cambria"/>
            </a:endParaRPr>
          </a:p>
        </p:txBody>
      </p:sp>
      <p:sp>
        <p:nvSpPr>
          <p:cNvPr id="216" name="Google Shape;216;g3fa011831ea_0_10"/>
          <p:cNvSpPr txBox="1"/>
          <p:nvPr/>
        </p:nvSpPr>
        <p:spPr>
          <a:xfrm>
            <a:off x="778700" y="2243432"/>
            <a:ext cx="10497000" cy="2308800"/>
          </a:xfrm>
          <a:prstGeom prst="rect">
            <a:avLst/>
          </a:prstGeom>
          <a:noFill/>
          <a:ln>
            <a:noFill/>
          </a:ln>
        </p:spPr>
        <p:txBody>
          <a:bodyPr anchorCtr="0" anchor="t" bIns="91425" lIns="91425" spcFirstLastPara="1" rIns="91425" wrap="square" tIns="91425">
            <a:spAutoFit/>
          </a:bodyPr>
          <a:lstStyle/>
          <a:p>
            <a:pPr indent="-374650" lvl="0" marL="457200" rtl="0" algn="l">
              <a:spcBef>
                <a:spcPts val="0"/>
              </a:spcBef>
              <a:spcAft>
                <a:spcPts val="0"/>
              </a:spcAft>
              <a:buClr>
                <a:srgbClr val="3F3F3F"/>
              </a:buClr>
              <a:buSzPts val="2300"/>
              <a:buFont typeface="Cambria"/>
              <a:buAutoNum type="alphaLcParenR"/>
            </a:pPr>
            <a:r>
              <a:rPr lang="en-US" sz="2300">
                <a:solidFill>
                  <a:srgbClr val="3F3F3F"/>
                </a:solidFill>
                <a:latin typeface="Cambria"/>
                <a:ea typeface="Cambria"/>
                <a:cs typeface="Cambria"/>
                <a:sym typeface="Cambria"/>
              </a:rPr>
              <a:t>Realizar uma leitura teórica dos fatos empíricos de forma profunda e complexa.</a:t>
            </a:r>
            <a:br>
              <a:rPr lang="en-US" sz="2300">
                <a:solidFill>
                  <a:srgbClr val="3F3F3F"/>
                </a:solidFill>
                <a:latin typeface="Cambria"/>
                <a:ea typeface="Cambria"/>
                <a:cs typeface="Cambria"/>
                <a:sym typeface="Cambria"/>
              </a:rPr>
            </a:br>
            <a:endParaRPr sz="2300">
              <a:solidFill>
                <a:srgbClr val="3F3F3F"/>
              </a:solidFill>
              <a:latin typeface="Cambria"/>
              <a:ea typeface="Cambria"/>
              <a:cs typeface="Cambria"/>
              <a:sym typeface="Cambria"/>
            </a:endParaRPr>
          </a:p>
          <a:p>
            <a:pPr indent="-374650" lvl="0" marL="457200" rtl="0" algn="l">
              <a:spcBef>
                <a:spcPts val="0"/>
              </a:spcBef>
              <a:spcAft>
                <a:spcPts val="0"/>
              </a:spcAft>
              <a:buClr>
                <a:srgbClr val="3F3F3F"/>
              </a:buClr>
              <a:buSzPts val="2300"/>
              <a:buFont typeface="Cambria"/>
              <a:buAutoNum type="alphaLcParenR"/>
            </a:pPr>
            <a:r>
              <a:rPr lang="en-US" sz="2300">
                <a:solidFill>
                  <a:srgbClr val="3F3F3F"/>
                </a:solidFill>
                <a:latin typeface="Cambria"/>
                <a:ea typeface="Cambria"/>
                <a:cs typeface="Cambria"/>
                <a:sym typeface="Cambria"/>
              </a:rPr>
              <a:t>Trazer o referencial teórico para embasar os dados coletados.</a:t>
            </a:r>
            <a:br>
              <a:rPr lang="en-US" sz="2300">
                <a:solidFill>
                  <a:srgbClr val="3F3F3F"/>
                </a:solidFill>
                <a:latin typeface="Cambria"/>
                <a:ea typeface="Cambria"/>
                <a:cs typeface="Cambria"/>
                <a:sym typeface="Cambria"/>
              </a:rPr>
            </a:br>
            <a:endParaRPr sz="2300">
              <a:solidFill>
                <a:srgbClr val="3F3F3F"/>
              </a:solidFill>
              <a:latin typeface="Cambria"/>
              <a:ea typeface="Cambria"/>
              <a:cs typeface="Cambria"/>
              <a:sym typeface="Cambria"/>
            </a:endParaRPr>
          </a:p>
          <a:p>
            <a:pPr indent="-374650" lvl="0" marL="457200" rtl="0" algn="l">
              <a:spcBef>
                <a:spcPts val="0"/>
              </a:spcBef>
              <a:spcAft>
                <a:spcPts val="0"/>
              </a:spcAft>
              <a:buClr>
                <a:srgbClr val="3F3F3F"/>
              </a:buClr>
              <a:buSzPts val="2300"/>
              <a:buFont typeface="Cambria"/>
              <a:buAutoNum type="alphaLcParenR"/>
            </a:pPr>
            <a:r>
              <a:rPr lang="en-US" sz="2300">
                <a:solidFill>
                  <a:srgbClr val="3F3F3F"/>
                </a:solidFill>
                <a:latin typeface="Cambria"/>
                <a:ea typeface="Cambria"/>
                <a:cs typeface="Cambria"/>
                <a:sym typeface="Cambria"/>
              </a:rPr>
              <a:t>Estabelecer uma relação entre as descrições empíricas e os aspectos teóricos da pesquisa bibliografica.</a:t>
            </a:r>
            <a:endParaRPr sz="2300">
              <a:solidFill>
                <a:srgbClr val="3F3F3F"/>
              </a:solidFill>
              <a:latin typeface="Cambria"/>
              <a:ea typeface="Cambria"/>
              <a:cs typeface="Cambria"/>
              <a:sym typeface="Cambri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g3fa011831ea_0_19"/>
          <p:cNvSpPr txBox="1"/>
          <p:nvPr>
            <p:ph type="title"/>
          </p:nvPr>
        </p:nvSpPr>
        <p:spPr>
          <a:xfrm>
            <a:off x="1097275" y="-163275"/>
            <a:ext cx="10058400" cy="13296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sz="4000">
                <a:latin typeface="Cambria"/>
                <a:ea typeface="Cambria"/>
                <a:cs typeface="Cambria"/>
                <a:sym typeface="Cambria"/>
              </a:rPr>
              <a:t>INTERPRETAÇÃO - EXEMPLO</a:t>
            </a:r>
            <a:endParaRPr sz="4000">
              <a:latin typeface="Cambria"/>
              <a:ea typeface="Cambria"/>
              <a:cs typeface="Cambria"/>
              <a:sym typeface="Cambria"/>
            </a:endParaRPr>
          </a:p>
        </p:txBody>
      </p:sp>
      <p:sp>
        <p:nvSpPr>
          <p:cNvPr id="222" name="Google Shape;222;g3fa011831ea_0_19"/>
          <p:cNvSpPr txBox="1"/>
          <p:nvPr/>
        </p:nvSpPr>
        <p:spPr>
          <a:xfrm>
            <a:off x="942975" y="1360775"/>
            <a:ext cx="10902300" cy="4802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US" sz="2000">
                <a:solidFill>
                  <a:schemeClr val="dk1"/>
                </a:solidFill>
                <a:highlight>
                  <a:srgbClr val="FFFF00"/>
                </a:highlight>
                <a:latin typeface="Calibri"/>
                <a:ea typeface="Calibri"/>
                <a:cs typeface="Calibri"/>
                <a:sym typeface="Calibri"/>
              </a:rPr>
              <a:t>RECURSO DIGITAL </a:t>
            </a:r>
            <a:endParaRPr b="1" sz="2000">
              <a:solidFill>
                <a:schemeClr val="dk1"/>
              </a:solidFill>
              <a:highlight>
                <a:srgbClr val="FFFF00"/>
              </a:highlight>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2000">
                <a:solidFill>
                  <a:schemeClr val="dk1"/>
                </a:solidFill>
                <a:highlight>
                  <a:schemeClr val="lt1"/>
                </a:highlight>
                <a:latin typeface="Calibri"/>
                <a:ea typeface="Calibri"/>
                <a:cs typeface="Calibri"/>
                <a:sym typeface="Calibri"/>
              </a:rPr>
              <a:t>Utilizar um video para criar uma canal com temática de ciência (divulgação científica)</a:t>
            </a:r>
            <a:br>
              <a:rPr lang="en-US" sz="2000">
                <a:solidFill>
                  <a:schemeClr val="dk1"/>
                </a:solidFill>
                <a:highlight>
                  <a:schemeClr val="lt1"/>
                </a:highlight>
                <a:latin typeface="Calibri"/>
                <a:ea typeface="Calibri"/>
                <a:cs typeface="Calibri"/>
                <a:sym typeface="Calibri"/>
              </a:rPr>
            </a:br>
            <a:r>
              <a:rPr b="1" lang="en-US" sz="2000">
                <a:solidFill>
                  <a:schemeClr val="dk1"/>
                </a:solidFill>
                <a:highlight>
                  <a:srgbClr val="FFFF00"/>
                </a:highlight>
                <a:latin typeface="Calibri"/>
                <a:ea typeface="Calibri"/>
                <a:cs typeface="Calibri"/>
                <a:sym typeface="Calibri"/>
              </a:rPr>
              <a:t>EQUIPAMENTO DIGITAL</a:t>
            </a:r>
            <a:br>
              <a:rPr lang="en-US" sz="2000">
                <a:solidFill>
                  <a:schemeClr val="dk1"/>
                </a:solidFill>
                <a:highlight>
                  <a:srgbClr val="FFFF00"/>
                </a:highlight>
                <a:latin typeface="Calibri"/>
                <a:ea typeface="Calibri"/>
                <a:cs typeface="Calibri"/>
                <a:sym typeface="Calibri"/>
              </a:rPr>
            </a:br>
            <a:r>
              <a:rPr lang="en-US" sz="2000">
                <a:solidFill>
                  <a:schemeClr val="dk1"/>
                </a:solidFill>
                <a:highlight>
                  <a:schemeClr val="lt1"/>
                </a:highlight>
                <a:latin typeface="Calibri"/>
                <a:ea typeface="Calibri"/>
                <a:cs typeface="Calibri"/>
                <a:sym typeface="Calibri"/>
              </a:rPr>
              <a:t>Já o uso do Tablet</a:t>
            </a:r>
            <a:br>
              <a:rPr lang="en-US" sz="2000">
                <a:solidFill>
                  <a:schemeClr val="dk1"/>
                </a:solidFill>
                <a:highlight>
                  <a:schemeClr val="lt1"/>
                </a:highlight>
                <a:latin typeface="Calibri"/>
                <a:ea typeface="Calibri"/>
                <a:cs typeface="Calibri"/>
                <a:sym typeface="Calibri"/>
              </a:rPr>
            </a:br>
            <a:r>
              <a:rPr b="1" lang="en-US" sz="2000">
                <a:solidFill>
                  <a:schemeClr val="dk1"/>
                </a:solidFill>
                <a:highlight>
                  <a:srgbClr val="FFFF00"/>
                </a:highlight>
                <a:latin typeface="Calibri"/>
                <a:ea typeface="Calibri"/>
                <a:cs typeface="Calibri"/>
                <a:sym typeface="Calibri"/>
              </a:rPr>
              <a:t>FINALIDADE</a:t>
            </a:r>
            <a:endParaRPr b="1" sz="2000">
              <a:solidFill>
                <a:schemeClr val="dk1"/>
              </a:solidFill>
              <a:highlight>
                <a:srgbClr val="FFFF00"/>
              </a:highlight>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2000">
                <a:solidFill>
                  <a:schemeClr val="dk1"/>
                </a:solidFill>
                <a:highlight>
                  <a:schemeClr val="lt1"/>
                </a:highlight>
                <a:latin typeface="Calibri"/>
                <a:ea typeface="Calibri"/>
                <a:cs typeface="Calibri"/>
                <a:sym typeface="Calibri"/>
              </a:rPr>
              <a:t>Uso do audiovisual facilita a aprendizagem</a:t>
            </a:r>
            <a:br>
              <a:rPr lang="en-US" sz="2000">
                <a:solidFill>
                  <a:schemeClr val="dk1"/>
                </a:solidFill>
                <a:highlight>
                  <a:srgbClr val="FFFF00"/>
                </a:highlight>
                <a:latin typeface="Calibri"/>
                <a:ea typeface="Calibri"/>
                <a:cs typeface="Calibri"/>
                <a:sym typeface="Calibri"/>
              </a:rPr>
            </a:br>
            <a:r>
              <a:rPr b="1" lang="en-US" sz="2000">
                <a:solidFill>
                  <a:schemeClr val="dk1"/>
                </a:solidFill>
                <a:highlight>
                  <a:srgbClr val="FFFF00"/>
                </a:highlight>
                <a:latin typeface="Calibri"/>
                <a:ea typeface="Calibri"/>
                <a:cs typeface="Calibri"/>
                <a:sym typeface="Calibri"/>
              </a:rPr>
              <a:t>METODOLOGIA DE ENSINO</a:t>
            </a:r>
            <a:endParaRPr b="1" sz="2000">
              <a:solidFill>
                <a:schemeClr val="dk1"/>
              </a:solidFill>
              <a:highlight>
                <a:srgbClr val="FFFF00"/>
              </a:highlight>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2000">
                <a:solidFill>
                  <a:schemeClr val="dk1"/>
                </a:solidFill>
                <a:highlight>
                  <a:schemeClr val="lt1"/>
                </a:highlight>
                <a:latin typeface="Calibri"/>
                <a:ea typeface="Calibri"/>
                <a:cs typeface="Calibri"/>
                <a:sym typeface="Calibri"/>
              </a:rPr>
              <a:t>Utilizaria o audiovisual de forma mais expositiva</a:t>
            </a:r>
            <a:endParaRPr sz="2000">
              <a:solidFill>
                <a:schemeClr val="dk1"/>
              </a:solidFill>
              <a:highlight>
                <a:schemeClr val="lt1"/>
              </a:highlight>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2000">
                <a:solidFill>
                  <a:schemeClr val="dk1"/>
                </a:solidFill>
                <a:highlight>
                  <a:schemeClr val="lt1"/>
                </a:highlight>
                <a:latin typeface="Calibri"/>
                <a:ea typeface="Calibri"/>
                <a:cs typeface="Calibri"/>
                <a:sym typeface="Calibri"/>
              </a:rPr>
              <a:t>Utilizar um video para criar uma canal com temática de ciência (divulgação científica)</a:t>
            </a:r>
            <a:br>
              <a:rPr lang="en-US" sz="2000">
                <a:solidFill>
                  <a:schemeClr val="dk1"/>
                </a:solidFill>
                <a:highlight>
                  <a:schemeClr val="lt1"/>
                </a:highlight>
                <a:latin typeface="Calibri"/>
                <a:ea typeface="Calibri"/>
                <a:cs typeface="Calibri"/>
                <a:sym typeface="Calibri"/>
              </a:rPr>
            </a:br>
            <a:br>
              <a:rPr lang="en-US" sz="2000">
                <a:solidFill>
                  <a:schemeClr val="dk1"/>
                </a:solidFill>
                <a:highlight>
                  <a:schemeClr val="lt1"/>
                </a:highlight>
                <a:latin typeface="Calibri"/>
                <a:ea typeface="Calibri"/>
                <a:cs typeface="Calibri"/>
                <a:sym typeface="Calibri"/>
              </a:rPr>
            </a:br>
            <a:r>
              <a:rPr lang="en-US" sz="2000">
                <a:solidFill>
                  <a:schemeClr val="dk1"/>
                </a:solidFill>
                <a:highlight>
                  <a:schemeClr val="lt1"/>
                </a:highlight>
                <a:latin typeface="Calibri"/>
                <a:ea typeface="Calibri"/>
                <a:cs typeface="Calibri"/>
                <a:sym typeface="Calibri"/>
              </a:rPr>
              <a:t>Segundo Coll  (2010), os professores utilizam as tecnologias digitais na docência da mesma forma que reutilizam essa docência sem o uso das tecnologias digitais. Se o professor opta por aulas expositivas comumente, quando utilizarem tecnologias digitais o farão da mesma forma , sendo assim a escolha de recursos digitais voltado para a apresentação de conteúdos como o caso do audiovisual , caracteriza essa como assertivo de Coll (2010).</a:t>
            </a:r>
            <a:endParaRPr sz="2000">
              <a:solidFill>
                <a:srgbClr val="3F3F3F"/>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8"/>
          <p:cNvSpPr txBox="1"/>
          <p:nvPr/>
        </p:nvSpPr>
        <p:spPr>
          <a:xfrm>
            <a:off x="1191175" y="610475"/>
            <a:ext cx="85908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chemeClr val="dk1"/>
                </a:solidFill>
                <a:latin typeface="Calibri"/>
                <a:ea typeface="Calibri"/>
                <a:cs typeface="Calibri"/>
                <a:sym typeface="Calibri"/>
              </a:rPr>
              <a:t>Entre o caos e a nova ordem</a:t>
            </a:r>
            <a:endParaRPr/>
          </a:p>
        </p:txBody>
      </p:sp>
      <p:sp>
        <p:nvSpPr>
          <p:cNvPr id="228" name="Google Shape;228;p8"/>
          <p:cNvSpPr txBox="1"/>
          <p:nvPr/>
        </p:nvSpPr>
        <p:spPr>
          <a:xfrm>
            <a:off x="8229600" y="2005350"/>
            <a:ext cx="35832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1000"/>
              </a:spcBef>
              <a:spcAft>
                <a:spcPts val="0"/>
              </a:spcAft>
              <a:buNone/>
            </a:pPr>
            <a:r>
              <a:t/>
            </a:r>
            <a:endParaRPr/>
          </a:p>
        </p:txBody>
      </p:sp>
      <p:sp>
        <p:nvSpPr>
          <p:cNvPr id="229" name="Google Shape;229;p8"/>
          <p:cNvSpPr txBox="1"/>
          <p:nvPr/>
        </p:nvSpPr>
        <p:spPr>
          <a:xfrm>
            <a:off x="1238575" y="1830525"/>
            <a:ext cx="9970200" cy="4176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1900">
                <a:latin typeface="Cambria"/>
                <a:ea typeface="Cambria"/>
                <a:cs typeface="Cambria"/>
                <a:sym typeface="Cambria"/>
              </a:rPr>
              <a:t>“</a:t>
            </a:r>
            <a:r>
              <a:rPr lang="en-US" sz="1900">
                <a:latin typeface="Cambria"/>
                <a:ea typeface="Cambria"/>
                <a:cs typeface="Cambria"/>
                <a:sym typeface="Cambria"/>
              </a:rPr>
              <a:t>Conforme Morin (2003, p. 46), “a entropia, num sentido, contribui para a organização que tende a arruinar e a ordem auto-organizada só pode complexificar-se a partir da desordem”. </a:t>
            </a:r>
            <a:endParaRPr sz="1900">
              <a:latin typeface="Cambria"/>
              <a:ea typeface="Cambria"/>
              <a:cs typeface="Cambria"/>
              <a:sym typeface="Cambria"/>
            </a:endParaRPr>
          </a:p>
          <a:p>
            <a:pPr indent="0" lvl="0" marL="0" rtl="0" algn="l">
              <a:lnSpc>
                <a:spcPct val="115000"/>
              </a:lnSpc>
              <a:spcBef>
                <a:spcPts val="0"/>
              </a:spcBef>
              <a:spcAft>
                <a:spcPts val="0"/>
              </a:spcAft>
              <a:buNone/>
            </a:pPr>
            <a:r>
              <a:rPr lang="en-US" sz="1900">
                <a:latin typeface="Cambria"/>
                <a:ea typeface="Cambria"/>
                <a:cs typeface="Cambria"/>
                <a:sym typeface="Cambria"/>
              </a:rPr>
              <a:t>A emergência de novas formas de organização só pode se realizar a partir da destruição de ordens existentes. </a:t>
            </a:r>
            <a:endParaRPr sz="1900">
              <a:latin typeface="Cambria"/>
              <a:ea typeface="Cambria"/>
              <a:cs typeface="Cambria"/>
              <a:sym typeface="Cambria"/>
            </a:endParaRPr>
          </a:p>
          <a:p>
            <a:pPr indent="0" lvl="0" marL="0" rtl="0" algn="l">
              <a:lnSpc>
                <a:spcPct val="115000"/>
              </a:lnSpc>
              <a:spcBef>
                <a:spcPts val="0"/>
              </a:spcBef>
              <a:spcAft>
                <a:spcPts val="0"/>
              </a:spcAft>
              <a:buNone/>
            </a:pPr>
            <a:r>
              <a:rPr lang="en-US" sz="1900">
                <a:latin typeface="Cambria"/>
                <a:ea typeface="Cambria"/>
                <a:cs typeface="Cambria"/>
                <a:sym typeface="Cambria"/>
              </a:rPr>
              <a:t>Prender-se ao ordenado e ao certo implica estacionar. </a:t>
            </a:r>
            <a:endParaRPr sz="1900">
              <a:latin typeface="Cambria"/>
              <a:ea typeface="Cambria"/>
              <a:cs typeface="Cambria"/>
              <a:sym typeface="Cambria"/>
            </a:endParaRPr>
          </a:p>
          <a:p>
            <a:pPr indent="0" lvl="0" marL="0" rtl="0" algn="l">
              <a:lnSpc>
                <a:spcPct val="115000"/>
              </a:lnSpc>
              <a:spcBef>
                <a:spcPts val="0"/>
              </a:spcBef>
              <a:spcAft>
                <a:spcPts val="0"/>
              </a:spcAft>
              <a:buNone/>
            </a:pPr>
            <a:r>
              <a:t/>
            </a:r>
            <a:endParaRPr sz="1900">
              <a:latin typeface="Cambria"/>
              <a:ea typeface="Cambria"/>
              <a:cs typeface="Cambria"/>
              <a:sym typeface="Cambria"/>
            </a:endParaRPr>
          </a:p>
          <a:p>
            <a:pPr indent="0" lvl="0" marL="0" rtl="0" algn="l">
              <a:lnSpc>
                <a:spcPct val="115000"/>
              </a:lnSpc>
              <a:spcBef>
                <a:spcPts val="0"/>
              </a:spcBef>
              <a:spcAft>
                <a:spcPts val="0"/>
              </a:spcAft>
              <a:buNone/>
            </a:pPr>
            <a:r>
              <a:rPr lang="en-US" sz="1900">
                <a:latin typeface="Cambria"/>
                <a:ea typeface="Cambria"/>
                <a:cs typeface="Cambria"/>
                <a:sym typeface="Cambria"/>
              </a:rPr>
              <a:t>Pode parecer seguro, mas não possibilita avançar. Entretanto, mover-se para o caos exige coragem, implica insegurança: “muitas vezes sentia-me inundada pelo material. Parecia não haver indicativo de que eu chegaria a algum lugar, uma desordem total”. </a:t>
            </a:r>
            <a:endParaRPr sz="1900">
              <a:latin typeface="Cambria"/>
              <a:ea typeface="Cambria"/>
              <a:cs typeface="Cambria"/>
              <a:sym typeface="Cambria"/>
            </a:endParaRPr>
          </a:p>
          <a:p>
            <a:pPr indent="0" lvl="0" marL="0" rtl="0" algn="l">
              <a:lnSpc>
                <a:spcPct val="115000"/>
              </a:lnSpc>
              <a:spcBef>
                <a:spcPts val="0"/>
              </a:spcBef>
              <a:spcAft>
                <a:spcPts val="0"/>
              </a:spcAft>
              <a:buNone/>
            </a:pPr>
            <a:r>
              <a:t/>
            </a:r>
            <a:endParaRPr sz="1900">
              <a:latin typeface="Cambria"/>
              <a:ea typeface="Cambria"/>
              <a:cs typeface="Cambria"/>
              <a:sym typeface="Cambria"/>
            </a:endParaRPr>
          </a:p>
          <a:p>
            <a:pPr indent="0" lvl="0" marL="0" rtl="0" algn="l">
              <a:lnSpc>
                <a:spcPct val="115000"/>
              </a:lnSpc>
              <a:spcBef>
                <a:spcPts val="0"/>
              </a:spcBef>
              <a:spcAft>
                <a:spcPts val="0"/>
              </a:spcAft>
              <a:buNone/>
            </a:pPr>
            <a:r>
              <a:rPr lang="en-US" sz="1900">
                <a:latin typeface="Cambria"/>
                <a:ea typeface="Cambria"/>
                <a:cs typeface="Cambria"/>
                <a:sym typeface="Cambria"/>
              </a:rPr>
              <a:t>“a partir da desordem eu podia ver uma nova ordem”, os flashes de luz que sugerem uma auto-organização”</a:t>
            </a:r>
            <a:endParaRPr sz="1900">
              <a:latin typeface="Cambria"/>
              <a:ea typeface="Cambria"/>
              <a:cs typeface="Cambria"/>
              <a:sym typeface="Cambria"/>
            </a:endParaRPr>
          </a:p>
        </p:txBody>
      </p:sp>
      <p:sp>
        <p:nvSpPr>
          <p:cNvPr id="230" name="Google Shape;230;p8"/>
          <p:cNvSpPr txBox="1"/>
          <p:nvPr/>
        </p:nvSpPr>
        <p:spPr>
          <a:xfrm>
            <a:off x="1285975" y="1266546"/>
            <a:ext cx="9875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600">
                <a:solidFill>
                  <a:schemeClr val="dk1"/>
                </a:solidFill>
              </a:rPr>
              <a:t>“P</a:t>
            </a:r>
            <a:r>
              <a:rPr lang="en-US" sz="1600">
                <a:solidFill>
                  <a:schemeClr val="dk1"/>
                </a:solidFill>
              </a:rPr>
              <a:t>rocesso de construção e desconstrução é fundamental em um processo de interpretação”</a:t>
            </a:r>
            <a:endParaRPr sz="16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6"/>
          <p:cNvSpPr txBox="1"/>
          <p:nvPr/>
        </p:nvSpPr>
        <p:spPr>
          <a:xfrm>
            <a:off x="640080" y="411480"/>
            <a:ext cx="108813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dk1"/>
                </a:solidFill>
                <a:latin typeface="Calibri"/>
                <a:ea typeface="Calibri"/>
                <a:cs typeface="Calibri"/>
                <a:sym typeface="Calibri"/>
              </a:rPr>
              <a:t>4</a:t>
            </a:r>
            <a:r>
              <a:rPr b="1" i="0" lang="en-US" sz="2800" u="none" cap="none" strike="noStrike">
                <a:solidFill>
                  <a:schemeClr val="dk1"/>
                </a:solidFill>
                <a:latin typeface="Calibri"/>
                <a:ea typeface="Calibri"/>
                <a:cs typeface="Calibri"/>
                <a:sym typeface="Calibri"/>
              </a:rPr>
              <a:t>. </a:t>
            </a:r>
            <a:r>
              <a:rPr b="1" lang="en-US" sz="2800">
                <a:solidFill>
                  <a:schemeClr val="dk1"/>
                </a:solidFill>
                <a:latin typeface="Calibri"/>
                <a:ea typeface="Calibri"/>
                <a:cs typeface="Calibri"/>
                <a:sym typeface="Calibri"/>
              </a:rPr>
              <a:t>Argumentação ou </a:t>
            </a:r>
            <a:r>
              <a:rPr b="1" i="0" lang="en-US" sz="2800" u="none" cap="none" strike="noStrike">
                <a:solidFill>
                  <a:schemeClr val="dk1"/>
                </a:solidFill>
                <a:latin typeface="Calibri"/>
                <a:ea typeface="Calibri"/>
                <a:cs typeface="Calibri"/>
                <a:sym typeface="Calibri"/>
              </a:rPr>
              <a:t>Metatexto - </a:t>
            </a:r>
            <a:r>
              <a:rPr lang="en-US" sz="1900">
                <a:solidFill>
                  <a:schemeClr val="dk1"/>
                </a:solidFill>
                <a:latin typeface="Cambria"/>
                <a:ea typeface="Cambria"/>
                <a:cs typeface="Cambria"/>
                <a:sym typeface="Cambria"/>
              </a:rPr>
              <a:t>r</a:t>
            </a:r>
            <a:r>
              <a:rPr lang="en-US" sz="1900">
                <a:solidFill>
                  <a:schemeClr val="dk1"/>
                </a:solidFill>
                <a:latin typeface="Cambria"/>
                <a:ea typeface="Cambria"/>
                <a:cs typeface="Cambria"/>
                <a:sym typeface="Cambria"/>
              </a:rPr>
              <a:t>econstruir sentidos</a:t>
            </a:r>
            <a:endParaRPr/>
          </a:p>
        </p:txBody>
      </p:sp>
      <p:sp>
        <p:nvSpPr>
          <p:cNvPr id="236" name="Google Shape;236;p6"/>
          <p:cNvSpPr txBox="1"/>
          <p:nvPr/>
        </p:nvSpPr>
        <p:spPr>
          <a:xfrm>
            <a:off x="451500" y="2080900"/>
            <a:ext cx="4589100" cy="3750600"/>
          </a:xfrm>
          <a:prstGeom prst="rect">
            <a:avLst/>
          </a:prstGeom>
          <a:noFill/>
          <a:ln>
            <a:noFill/>
          </a:ln>
        </p:spPr>
        <p:txBody>
          <a:bodyPr anchorCtr="0" anchor="t" bIns="91425" lIns="91425" spcFirstLastPara="1" rIns="91425" wrap="square" tIns="91425">
            <a:spAutoFit/>
          </a:bodyPr>
          <a:lstStyle/>
          <a:p>
            <a:pPr indent="0" lvl="0" marL="0" rtl="0" algn="just">
              <a:spcBef>
                <a:spcPts val="1000"/>
              </a:spcBef>
              <a:spcAft>
                <a:spcPts val="0"/>
              </a:spcAft>
              <a:buNone/>
            </a:pPr>
            <a:r>
              <a:rPr lang="en-US" sz="1900">
                <a:solidFill>
                  <a:schemeClr val="dk1"/>
                </a:solidFill>
                <a:latin typeface="Cambria"/>
                <a:ea typeface="Cambria"/>
                <a:cs typeface="Cambria"/>
                <a:sym typeface="Cambria"/>
              </a:rPr>
              <a:t>E esse movimento não é um problema da metodologia. </a:t>
            </a:r>
            <a:endParaRPr sz="1900">
              <a:solidFill>
                <a:schemeClr val="dk1"/>
              </a:solidFill>
              <a:latin typeface="Cambria"/>
              <a:ea typeface="Cambria"/>
              <a:cs typeface="Cambria"/>
              <a:sym typeface="Cambria"/>
            </a:endParaRPr>
          </a:p>
          <a:p>
            <a:pPr indent="0" lvl="0" marL="0" rtl="0" algn="just">
              <a:spcBef>
                <a:spcPts val="1000"/>
              </a:spcBef>
              <a:spcAft>
                <a:spcPts val="0"/>
              </a:spcAft>
              <a:buNone/>
            </a:pPr>
            <a:r>
              <a:rPr lang="en-US" sz="1900">
                <a:solidFill>
                  <a:schemeClr val="dk1"/>
                </a:solidFill>
                <a:latin typeface="Cambria"/>
                <a:ea typeface="Cambria"/>
                <a:cs typeface="Cambria"/>
                <a:sym typeface="Cambria"/>
              </a:rPr>
              <a:t>É justamente nele que podem emergir novas compreensões </a:t>
            </a:r>
            <a:endParaRPr sz="1900">
              <a:solidFill>
                <a:schemeClr val="dk1"/>
              </a:solidFill>
              <a:latin typeface="Cambria"/>
              <a:ea typeface="Cambria"/>
              <a:cs typeface="Cambria"/>
              <a:sym typeface="Cambria"/>
            </a:endParaRPr>
          </a:p>
          <a:p>
            <a:pPr indent="0" lvl="0" marL="0" rtl="0" algn="just">
              <a:spcBef>
                <a:spcPts val="1000"/>
              </a:spcBef>
              <a:spcAft>
                <a:spcPts val="0"/>
              </a:spcAft>
              <a:buNone/>
            </a:pPr>
            <a:r>
              <a:t/>
            </a:r>
            <a:endParaRPr sz="1900">
              <a:solidFill>
                <a:schemeClr val="dk1"/>
              </a:solidFill>
              <a:latin typeface="Cambria"/>
              <a:ea typeface="Cambria"/>
              <a:cs typeface="Cambria"/>
              <a:sym typeface="Cambria"/>
            </a:endParaRPr>
          </a:p>
          <a:p>
            <a:pPr indent="0" lvl="0" marL="0" rtl="0" algn="just">
              <a:spcBef>
                <a:spcPts val="1000"/>
              </a:spcBef>
              <a:spcAft>
                <a:spcPts val="0"/>
              </a:spcAft>
              <a:buNone/>
            </a:pPr>
            <a:r>
              <a:rPr b="1" lang="en-US" sz="1900">
                <a:solidFill>
                  <a:schemeClr val="dk1"/>
                </a:solidFill>
                <a:latin typeface="Cambria"/>
                <a:ea typeface="Cambria"/>
                <a:cs typeface="Cambria"/>
                <a:sym typeface="Cambria"/>
              </a:rPr>
              <a:t>O metatexto expressa os entendimentos construídos pelo pesquisador a partir do processo analítico.</a:t>
            </a:r>
            <a:endParaRPr b="1" sz="1900">
              <a:solidFill>
                <a:schemeClr val="dk1"/>
              </a:solidFill>
              <a:latin typeface="Cambria"/>
              <a:ea typeface="Cambria"/>
              <a:cs typeface="Cambria"/>
              <a:sym typeface="Cambria"/>
            </a:endParaRPr>
          </a:p>
          <a:p>
            <a:pPr indent="0" lvl="0" marL="0" rtl="0" algn="l">
              <a:spcBef>
                <a:spcPts val="1000"/>
              </a:spcBef>
              <a:spcAft>
                <a:spcPts val="0"/>
              </a:spcAft>
              <a:buNone/>
            </a:pPr>
            <a:r>
              <a:t/>
            </a:r>
            <a:endParaRPr b="1" sz="1900">
              <a:solidFill>
                <a:schemeClr val="dk1"/>
              </a:solidFill>
              <a:latin typeface="Cambria"/>
              <a:ea typeface="Cambria"/>
              <a:cs typeface="Cambria"/>
              <a:sym typeface="Cambria"/>
            </a:endParaRPr>
          </a:p>
          <a:p>
            <a:pPr indent="0" lvl="0" marL="0" rtl="0" algn="l">
              <a:spcBef>
                <a:spcPts val="1000"/>
              </a:spcBef>
              <a:spcAft>
                <a:spcPts val="0"/>
              </a:spcAft>
              <a:buNone/>
            </a:pPr>
            <a:r>
              <a:t/>
            </a:r>
            <a:endParaRPr b="1" sz="1900">
              <a:solidFill>
                <a:schemeClr val="dk1"/>
              </a:solidFill>
              <a:latin typeface="Cambria"/>
              <a:ea typeface="Cambria"/>
              <a:cs typeface="Cambria"/>
              <a:sym typeface="Cambria"/>
            </a:endParaRPr>
          </a:p>
        </p:txBody>
      </p:sp>
      <p:sp>
        <p:nvSpPr>
          <p:cNvPr id="237" name="Google Shape;237;p6"/>
          <p:cNvSpPr txBox="1"/>
          <p:nvPr/>
        </p:nvSpPr>
        <p:spPr>
          <a:xfrm>
            <a:off x="5726575" y="2080900"/>
            <a:ext cx="5794800" cy="36762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1000"/>
              </a:spcBef>
              <a:spcAft>
                <a:spcPts val="0"/>
              </a:spcAft>
              <a:buNone/>
            </a:pPr>
            <a:r>
              <a:rPr b="1" lang="en-US" sz="1900">
                <a:solidFill>
                  <a:schemeClr val="dk1"/>
                </a:solidFill>
                <a:latin typeface="Cambria"/>
                <a:ea typeface="Cambria"/>
                <a:cs typeface="Cambria"/>
                <a:sym typeface="Cambria"/>
              </a:rPr>
              <a:t>“Nesse tipo de análise exige-se do pesquisador mergulhar em seu objeto de pesquisa, </a:t>
            </a:r>
            <a:r>
              <a:rPr b="1" lang="en-US" sz="1900" u="sng">
                <a:solidFill>
                  <a:schemeClr val="dk1"/>
                </a:solidFill>
                <a:latin typeface="Cambria"/>
                <a:ea typeface="Cambria"/>
                <a:cs typeface="Cambria"/>
                <a:sym typeface="Cambria"/>
              </a:rPr>
              <a:t>assumindo-se sujeito</a:t>
            </a:r>
            <a:r>
              <a:rPr b="1" lang="en-US" sz="1900">
                <a:solidFill>
                  <a:schemeClr val="dk1"/>
                </a:solidFill>
                <a:latin typeface="Cambria"/>
                <a:ea typeface="Cambria"/>
                <a:cs typeface="Cambria"/>
                <a:sym typeface="Cambria"/>
              </a:rPr>
              <a:t> e assumindo suas próprias interpretações.  Nesse movimento hermenêutico são solicitadas constantes retomadas do </a:t>
            </a:r>
            <a:r>
              <a:rPr b="1" lang="en-US" sz="1900">
                <a:solidFill>
                  <a:schemeClr val="dk1"/>
                </a:solidFill>
                <a:latin typeface="Cambria"/>
                <a:ea typeface="Cambria"/>
                <a:cs typeface="Cambria"/>
                <a:sym typeface="Cambria"/>
              </a:rPr>
              <a:t>concretizado</a:t>
            </a:r>
            <a:r>
              <a:rPr b="1" lang="en-US" sz="1900">
                <a:solidFill>
                  <a:schemeClr val="dk1"/>
                </a:solidFill>
                <a:latin typeface="Cambria"/>
                <a:ea typeface="Cambria"/>
                <a:cs typeface="Cambria"/>
                <a:sym typeface="Cambria"/>
              </a:rPr>
              <a:t>, visando a permanente qualificação dos resultados” pág 122</a:t>
            </a:r>
            <a:endParaRPr b="1" sz="1900">
              <a:solidFill>
                <a:schemeClr val="dk1"/>
              </a:solidFill>
              <a:latin typeface="Cambria"/>
              <a:ea typeface="Cambria"/>
              <a:cs typeface="Cambria"/>
              <a:sym typeface="Cambria"/>
            </a:endParaRPr>
          </a:p>
          <a:p>
            <a:pPr indent="0" lvl="0" marL="0" rtl="0" algn="l">
              <a:spcBef>
                <a:spcPts val="1000"/>
              </a:spcBef>
              <a:spcAft>
                <a:spcPts val="0"/>
              </a:spcAft>
              <a:buNone/>
            </a:pPr>
            <a:r>
              <a:t/>
            </a:r>
            <a:endParaRPr b="1" sz="1900">
              <a:solidFill>
                <a:schemeClr val="dk1"/>
              </a:solidFill>
              <a:latin typeface="Cambria"/>
              <a:ea typeface="Cambria"/>
              <a:cs typeface="Cambria"/>
              <a:sym typeface="Cambria"/>
            </a:endParaRPr>
          </a:p>
        </p:txBody>
      </p:sp>
      <p:sp>
        <p:nvSpPr>
          <p:cNvPr id="238" name="Google Shape;238;p6"/>
          <p:cNvSpPr txBox="1"/>
          <p:nvPr/>
        </p:nvSpPr>
        <p:spPr>
          <a:xfrm>
            <a:off x="977275" y="1183000"/>
            <a:ext cx="10441200" cy="897900"/>
          </a:xfrm>
          <a:prstGeom prst="rect">
            <a:avLst/>
          </a:prstGeom>
          <a:noFill/>
          <a:ln>
            <a:noFill/>
          </a:ln>
        </p:spPr>
        <p:txBody>
          <a:bodyPr anchorCtr="0" anchor="t" bIns="91425" lIns="91425" spcFirstLastPara="1" rIns="91425" wrap="square" tIns="91425">
            <a:spAutoFit/>
          </a:bodyPr>
          <a:lstStyle/>
          <a:p>
            <a:pPr indent="0" lvl="0" marL="0" rtl="0" algn="l">
              <a:spcBef>
                <a:spcPts val="1000"/>
              </a:spcBef>
              <a:spcAft>
                <a:spcPts val="0"/>
              </a:spcAft>
              <a:buNone/>
            </a:pPr>
            <a:r>
              <a:rPr lang="en-US" sz="1900">
                <a:solidFill>
                  <a:schemeClr val="dk1"/>
                </a:solidFill>
                <a:latin typeface="Cambria"/>
                <a:ea typeface="Cambria"/>
                <a:cs typeface="Cambria"/>
                <a:sym typeface="Cambria"/>
              </a:rPr>
              <a:t>DADOS EMPÍRICOS + REFERENCIAL TEÓRICO + INTERPRETAÇÃO =  NOVAS COMPREENSÕES</a:t>
            </a:r>
            <a:endParaRPr sz="1900">
              <a:solidFill>
                <a:schemeClr val="dk1"/>
              </a:solidFill>
              <a:latin typeface="Cambria"/>
              <a:ea typeface="Cambria"/>
              <a:cs typeface="Cambria"/>
              <a:sym typeface="Cambria"/>
            </a:endParaRPr>
          </a:p>
          <a:p>
            <a:pPr indent="0" lvl="0" marL="0" rtl="0" algn="l">
              <a:spcBef>
                <a:spcPts val="1000"/>
              </a:spcBef>
              <a:spcAft>
                <a:spcPts val="0"/>
              </a:spcAft>
              <a:buNone/>
            </a:pPr>
            <a:r>
              <a:t/>
            </a:r>
            <a:endParaRPr sz="1900">
              <a:solidFill>
                <a:schemeClr val="dk1"/>
              </a:solidFill>
              <a:latin typeface="Cambria"/>
              <a:ea typeface="Cambria"/>
              <a:cs typeface="Cambria"/>
              <a:sym typeface="Cambria"/>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g3fa011831ea_0_24"/>
          <p:cNvSpPr txBox="1"/>
          <p:nvPr>
            <p:ph type="title"/>
          </p:nvPr>
        </p:nvSpPr>
        <p:spPr>
          <a:xfrm>
            <a:off x="1066800" y="595202"/>
            <a:ext cx="10058400" cy="7161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b="1" lang="en-US" sz="2800">
                <a:solidFill>
                  <a:srgbClr val="262626"/>
                </a:solidFill>
                <a:latin typeface="Cambria"/>
                <a:ea typeface="Cambria"/>
                <a:cs typeface="Cambria"/>
                <a:sym typeface="Cambria"/>
              </a:rPr>
              <a:t>4) </a:t>
            </a:r>
            <a:r>
              <a:rPr b="1" lang="en-US" sz="2800">
                <a:solidFill>
                  <a:srgbClr val="262626"/>
                </a:solidFill>
                <a:latin typeface="Cambria"/>
                <a:ea typeface="Cambria"/>
                <a:cs typeface="Cambria"/>
                <a:sym typeface="Cambria"/>
              </a:rPr>
              <a:t>ARGUMENTAÇÃO ou METATEXTO</a:t>
            </a:r>
            <a:endParaRPr b="1" sz="2800">
              <a:solidFill>
                <a:srgbClr val="262626"/>
              </a:solidFill>
              <a:latin typeface="Cambria"/>
              <a:ea typeface="Cambria"/>
              <a:cs typeface="Cambria"/>
              <a:sym typeface="Cambria"/>
            </a:endParaRPr>
          </a:p>
        </p:txBody>
      </p:sp>
      <p:sp>
        <p:nvSpPr>
          <p:cNvPr id="244" name="Google Shape;244;g3fa011831ea_0_24"/>
          <p:cNvSpPr txBox="1"/>
          <p:nvPr/>
        </p:nvSpPr>
        <p:spPr>
          <a:xfrm>
            <a:off x="960125" y="1962825"/>
            <a:ext cx="10768200" cy="29553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rgbClr val="3F3F3F"/>
              </a:buClr>
              <a:buSzPts val="2000"/>
              <a:buFont typeface="Cambria"/>
              <a:buAutoNum type="alphaLcParenR"/>
            </a:pPr>
            <a:r>
              <a:rPr lang="en-US" sz="2000">
                <a:solidFill>
                  <a:srgbClr val="3F3F3F"/>
                </a:solidFill>
                <a:latin typeface="Cambria"/>
                <a:ea typeface="Cambria"/>
                <a:cs typeface="Cambria"/>
                <a:sym typeface="Cambria"/>
              </a:rPr>
              <a:t>Apresentar afirmações teóricas emergentes do processo de análise.</a:t>
            </a:r>
            <a:endParaRPr sz="2000">
              <a:solidFill>
                <a:srgbClr val="3F3F3F"/>
              </a:solidFill>
              <a:latin typeface="Cambria"/>
              <a:ea typeface="Cambria"/>
              <a:cs typeface="Cambria"/>
              <a:sym typeface="Cambria"/>
            </a:endParaRPr>
          </a:p>
          <a:p>
            <a:pPr indent="0" lvl="0" marL="0" rtl="0" algn="l">
              <a:spcBef>
                <a:spcPts val="0"/>
              </a:spcBef>
              <a:spcAft>
                <a:spcPts val="0"/>
              </a:spcAft>
              <a:buNone/>
            </a:pPr>
            <a:r>
              <a:t/>
            </a:r>
            <a:endParaRPr sz="2000">
              <a:solidFill>
                <a:srgbClr val="3F3F3F"/>
              </a:solidFill>
              <a:latin typeface="Cambria"/>
              <a:ea typeface="Cambria"/>
              <a:cs typeface="Cambria"/>
              <a:sym typeface="Cambria"/>
            </a:endParaRPr>
          </a:p>
          <a:p>
            <a:pPr indent="-355600" lvl="0" marL="457200" rtl="0" algn="l">
              <a:spcBef>
                <a:spcPts val="0"/>
              </a:spcBef>
              <a:spcAft>
                <a:spcPts val="0"/>
              </a:spcAft>
              <a:buClr>
                <a:srgbClr val="3F3F3F"/>
              </a:buClr>
              <a:buSzPts val="2000"/>
              <a:buFont typeface="Cambria"/>
              <a:buAutoNum type="alphaLcParenR"/>
            </a:pPr>
            <a:r>
              <a:rPr lang="en-US" sz="2000">
                <a:solidFill>
                  <a:srgbClr val="3F3F3F"/>
                </a:solidFill>
                <a:latin typeface="Cambria"/>
                <a:ea typeface="Cambria"/>
                <a:cs typeface="Cambria"/>
                <a:sym typeface="Cambria"/>
              </a:rPr>
              <a:t>Perceber insights ou intuições não previstos durante o processo desenvolvido.</a:t>
            </a:r>
            <a:br>
              <a:rPr lang="en-US" sz="2000">
                <a:solidFill>
                  <a:srgbClr val="3F3F3F"/>
                </a:solidFill>
                <a:latin typeface="Cambria"/>
                <a:ea typeface="Cambria"/>
                <a:cs typeface="Cambria"/>
                <a:sym typeface="Cambria"/>
              </a:rPr>
            </a:br>
            <a:endParaRPr sz="2000">
              <a:solidFill>
                <a:srgbClr val="3F3F3F"/>
              </a:solidFill>
              <a:latin typeface="Cambria"/>
              <a:ea typeface="Cambria"/>
              <a:cs typeface="Cambria"/>
              <a:sym typeface="Cambria"/>
            </a:endParaRPr>
          </a:p>
          <a:p>
            <a:pPr indent="-355600" lvl="0" marL="457200" rtl="0" algn="l">
              <a:spcBef>
                <a:spcPts val="0"/>
              </a:spcBef>
              <a:spcAft>
                <a:spcPts val="0"/>
              </a:spcAft>
              <a:buClr>
                <a:srgbClr val="3F3F3F"/>
              </a:buClr>
              <a:buSzPts val="2000"/>
              <a:buFont typeface="Cambria"/>
              <a:buAutoNum type="alphaLcParenR"/>
            </a:pPr>
            <a:r>
              <a:rPr lang="en-US" sz="2000">
                <a:solidFill>
                  <a:srgbClr val="3F3F3F"/>
                </a:solidFill>
                <a:latin typeface="Cambria"/>
                <a:ea typeface="Cambria"/>
                <a:cs typeface="Cambria"/>
                <a:sym typeface="Cambria"/>
              </a:rPr>
              <a:t>Construir um metatexto de caráter descritivo com uma argumentação centralizadora que explica o todo a partir das relações entre os argumentos produzidos pelas categorias.</a:t>
            </a:r>
            <a:br>
              <a:rPr lang="en-US" sz="2000">
                <a:solidFill>
                  <a:srgbClr val="3F3F3F"/>
                </a:solidFill>
                <a:latin typeface="Cambria"/>
                <a:ea typeface="Cambria"/>
                <a:cs typeface="Cambria"/>
                <a:sym typeface="Cambria"/>
              </a:rPr>
            </a:br>
            <a:endParaRPr sz="2000">
              <a:solidFill>
                <a:srgbClr val="3F3F3F"/>
              </a:solidFill>
              <a:latin typeface="Cambria"/>
              <a:ea typeface="Cambria"/>
              <a:cs typeface="Cambria"/>
              <a:sym typeface="Cambria"/>
            </a:endParaRPr>
          </a:p>
          <a:p>
            <a:pPr indent="-355600" lvl="0" marL="457200" rtl="0" algn="l">
              <a:spcBef>
                <a:spcPts val="0"/>
              </a:spcBef>
              <a:spcAft>
                <a:spcPts val="0"/>
              </a:spcAft>
              <a:buClr>
                <a:srgbClr val="3F3F3F"/>
              </a:buClr>
              <a:buSzPts val="2000"/>
              <a:buFont typeface="Cambria"/>
              <a:buAutoNum type="alphaLcParenR"/>
            </a:pPr>
            <a:r>
              <a:rPr lang="en-US" sz="2000">
                <a:solidFill>
                  <a:srgbClr val="3F3F3F"/>
                </a:solidFill>
                <a:latin typeface="Cambria"/>
                <a:ea typeface="Cambria"/>
                <a:cs typeface="Cambria"/>
                <a:sym typeface="Cambria"/>
              </a:rPr>
              <a:t>Realizar um fechamento de idéias que torna o texto mais claro e preciso possível.</a:t>
            </a:r>
            <a:endParaRPr sz="2000">
              <a:solidFill>
                <a:srgbClr val="3F3F3F"/>
              </a:solidFill>
              <a:latin typeface="Cambria"/>
              <a:ea typeface="Cambria"/>
              <a:cs typeface="Cambria"/>
              <a:sym typeface="Cambria"/>
            </a:endParaRPr>
          </a:p>
          <a:p>
            <a:pPr indent="0" lvl="0" marL="0" rtl="0" algn="l">
              <a:spcBef>
                <a:spcPts val="0"/>
              </a:spcBef>
              <a:spcAft>
                <a:spcPts val="0"/>
              </a:spcAft>
              <a:buNone/>
            </a:pPr>
            <a:r>
              <a:t/>
            </a:r>
            <a:endParaRPr sz="2000">
              <a:solidFill>
                <a:srgbClr val="3F3F3F"/>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g3fa011831ea_0_29"/>
          <p:cNvSpPr txBox="1"/>
          <p:nvPr>
            <p:ph type="title"/>
          </p:nvPr>
        </p:nvSpPr>
        <p:spPr>
          <a:xfrm>
            <a:off x="561500" y="-1"/>
            <a:ext cx="10058400" cy="1357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b="1" lang="en-US" sz="2800">
                <a:solidFill>
                  <a:srgbClr val="262626"/>
                </a:solidFill>
                <a:latin typeface="Cambria"/>
                <a:ea typeface="Cambria"/>
                <a:cs typeface="Cambria"/>
                <a:sym typeface="Cambria"/>
              </a:rPr>
              <a:t>EXEMPLO</a:t>
            </a:r>
            <a:r>
              <a:rPr lang="en-US" sz="2800">
                <a:latin typeface="Cambria"/>
                <a:ea typeface="Cambria"/>
                <a:cs typeface="Cambria"/>
                <a:sym typeface="Cambria"/>
              </a:rPr>
              <a:t>: </a:t>
            </a:r>
            <a:endParaRPr sz="2800">
              <a:latin typeface="Cambria"/>
              <a:ea typeface="Cambria"/>
              <a:cs typeface="Cambria"/>
              <a:sym typeface="Cambria"/>
            </a:endParaRPr>
          </a:p>
          <a:p>
            <a:pPr indent="0" lvl="0" marL="0" rtl="0" algn="l">
              <a:spcBef>
                <a:spcPts val="0"/>
              </a:spcBef>
              <a:spcAft>
                <a:spcPts val="0"/>
              </a:spcAft>
              <a:buNone/>
            </a:pPr>
            <a:r>
              <a:t/>
            </a:r>
            <a:endParaRPr/>
          </a:p>
        </p:txBody>
      </p:sp>
      <p:sp>
        <p:nvSpPr>
          <p:cNvPr id="250" name="Google Shape;250;g3fa011831ea_0_29"/>
          <p:cNvSpPr txBox="1"/>
          <p:nvPr/>
        </p:nvSpPr>
        <p:spPr>
          <a:xfrm>
            <a:off x="473850" y="747550"/>
            <a:ext cx="11328600" cy="60339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US" sz="2000">
                <a:solidFill>
                  <a:srgbClr val="3F3F3F"/>
                </a:solidFill>
                <a:highlight>
                  <a:srgbClr val="00FFFF"/>
                </a:highlight>
                <a:latin typeface="Cambria"/>
                <a:ea typeface="Cambria"/>
                <a:cs typeface="Cambria"/>
                <a:sym typeface="Cambria"/>
              </a:rPr>
              <a:t>Quando se trata de recursos audiovisuais, os alunos optam por uma ação mais centrada ao professor , ele deve criar canais temáticos na internet e apresentar conteúdos de forma mais expositiva.</a:t>
            </a:r>
            <a:endParaRPr b="1" sz="2000">
              <a:solidFill>
                <a:srgbClr val="3F3F3F"/>
              </a:solidFill>
              <a:highlight>
                <a:srgbClr val="00FFFF"/>
              </a:highlight>
              <a:latin typeface="Cambria"/>
              <a:ea typeface="Cambria"/>
              <a:cs typeface="Cambria"/>
              <a:sym typeface="Cambria"/>
            </a:endParaRPr>
          </a:p>
          <a:p>
            <a:pPr indent="0" lvl="0" marL="0" rtl="0" algn="just">
              <a:spcBef>
                <a:spcPts val="0"/>
              </a:spcBef>
              <a:spcAft>
                <a:spcPts val="0"/>
              </a:spcAft>
              <a:buNone/>
            </a:pPr>
            <a:r>
              <a:rPr lang="en-US" sz="2000">
                <a:solidFill>
                  <a:srgbClr val="3F3F3F"/>
                </a:solidFill>
                <a:highlight>
                  <a:schemeClr val="lt1"/>
                </a:highlight>
                <a:latin typeface="Cambria"/>
                <a:ea typeface="Cambria"/>
                <a:cs typeface="Cambria"/>
                <a:sym typeface="Cambria"/>
              </a:rPr>
              <a:t> “Utilizar o vídeo para criar um canal com a temática de ciência ( divulgação científica)“ ( A1)</a:t>
            </a:r>
            <a:br>
              <a:rPr lang="en-US" sz="2000">
                <a:solidFill>
                  <a:srgbClr val="3F3F3F"/>
                </a:solidFill>
                <a:highlight>
                  <a:schemeClr val="lt1"/>
                </a:highlight>
                <a:latin typeface="Cambria"/>
                <a:ea typeface="Cambria"/>
                <a:cs typeface="Cambria"/>
                <a:sym typeface="Cambria"/>
              </a:rPr>
            </a:br>
            <a:r>
              <a:rPr lang="en-US" sz="2000">
                <a:solidFill>
                  <a:srgbClr val="3F3F3F"/>
                </a:solidFill>
                <a:highlight>
                  <a:schemeClr val="lt1"/>
                </a:highlight>
                <a:latin typeface="Cambria"/>
                <a:ea typeface="Cambria"/>
                <a:cs typeface="Cambria"/>
                <a:sym typeface="Cambria"/>
              </a:rPr>
              <a:t>“Utilizaria o audiovisual de forma mais expositiva” (A1)</a:t>
            </a:r>
            <a:endParaRPr sz="2000">
              <a:solidFill>
                <a:srgbClr val="3F3F3F"/>
              </a:solidFill>
              <a:highlight>
                <a:schemeClr val="lt1"/>
              </a:highlight>
              <a:latin typeface="Cambria"/>
              <a:ea typeface="Cambria"/>
              <a:cs typeface="Cambria"/>
              <a:sym typeface="Cambria"/>
            </a:endParaRPr>
          </a:p>
          <a:p>
            <a:pPr indent="0" lvl="0" marL="0" rtl="0" algn="just">
              <a:spcBef>
                <a:spcPts val="0"/>
              </a:spcBef>
              <a:spcAft>
                <a:spcPts val="0"/>
              </a:spcAft>
              <a:buNone/>
            </a:pPr>
            <a:r>
              <a:t/>
            </a:r>
            <a:endParaRPr sz="2000">
              <a:solidFill>
                <a:srgbClr val="3F3F3F"/>
              </a:solidFill>
              <a:highlight>
                <a:schemeClr val="lt1"/>
              </a:highlight>
              <a:latin typeface="Cambria"/>
              <a:ea typeface="Cambria"/>
              <a:cs typeface="Cambria"/>
              <a:sym typeface="Cambria"/>
            </a:endParaRPr>
          </a:p>
          <a:p>
            <a:pPr indent="0" lvl="0" marL="0" rtl="0" algn="just">
              <a:spcBef>
                <a:spcPts val="0"/>
              </a:spcBef>
              <a:spcAft>
                <a:spcPts val="0"/>
              </a:spcAft>
              <a:buClr>
                <a:schemeClr val="dk1"/>
              </a:buClr>
              <a:buSzPts val="1100"/>
              <a:buFont typeface="Arial"/>
              <a:buNone/>
            </a:pPr>
            <a:r>
              <a:rPr lang="en-US" sz="2000">
                <a:solidFill>
                  <a:schemeClr val="dk1"/>
                </a:solidFill>
                <a:highlight>
                  <a:srgbClr val="FFFF00"/>
                </a:highlight>
                <a:latin typeface="Cambria"/>
                <a:ea typeface="Cambria"/>
                <a:cs typeface="Cambria"/>
                <a:sym typeface="Cambria"/>
              </a:rPr>
              <a:t>Segundo Coll  (2010), os professores utilizam as tecnologias digitais na docência da mesma forma que reutilizam essa docência sem o uso das tecnologias digitais. Se o professor opta por aulas expositivas comumente, quando utilizarem tecnologias digitais o farão da mesma forma , sendo assim a escolha de recursos digitais voltado para a apresentação de conteúdos como o caso do audiovisual , caracteriza essa como assertivo de Coll (2010).</a:t>
            </a:r>
            <a:endParaRPr sz="2000">
              <a:solidFill>
                <a:srgbClr val="3F3F3F"/>
              </a:solidFill>
              <a:highlight>
                <a:srgbClr val="FFFF00"/>
              </a:highlight>
              <a:latin typeface="Cambria"/>
              <a:ea typeface="Cambria"/>
              <a:cs typeface="Cambria"/>
              <a:sym typeface="Cambria"/>
            </a:endParaRPr>
          </a:p>
          <a:p>
            <a:pPr indent="0" lvl="0" marL="0" rtl="0" algn="just">
              <a:spcBef>
                <a:spcPts val="0"/>
              </a:spcBef>
              <a:spcAft>
                <a:spcPts val="0"/>
              </a:spcAft>
              <a:buNone/>
            </a:pPr>
            <a:r>
              <a:t/>
            </a:r>
            <a:endParaRPr sz="2000">
              <a:solidFill>
                <a:srgbClr val="3F3F3F"/>
              </a:solidFill>
              <a:highlight>
                <a:schemeClr val="lt1"/>
              </a:highlight>
              <a:latin typeface="Cambria"/>
              <a:ea typeface="Cambria"/>
              <a:cs typeface="Cambria"/>
              <a:sym typeface="Cambria"/>
            </a:endParaRPr>
          </a:p>
          <a:p>
            <a:pPr indent="0" lvl="0" marL="0" rtl="0" algn="just">
              <a:spcBef>
                <a:spcPts val="0"/>
              </a:spcBef>
              <a:spcAft>
                <a:spcPts val="0"/>
              </a:spcAft>
              <a:buNone/>
            </a:pPr>
            <a:r>
              <a:rPr b="1" lang="en-US" sz="2000">
                <a:solidFill>
                  <a:srgbClr val="3F3F3F"/>
                </a:solidFill>
                <a:highlight>
                  <a:srgbClr val="00FFFF"/>
                </a:highlight>
                <a:latin typeface="Cambria"/>
                <a:ea typeface="Cambria"/>
                <a:cs typeface="Cambria"/>
                <a:sym typeface="Cambria"/>
              </a:rPr>
              <a:t>Nesse sentido, os licenciandos, sujeitos da pesquisa, encontram-se em fase de transição,utilizando os recursos digitais , centrados no professor, com indícios de uso de metodologias tradicionais, e com metodologias mais contemporâneas, no caso as metodologias ativas. Percebe-se que com isso, os licenciandos precisam ainda se pautar naquilo que conhecem como docência. Utilizam ainda os moldesconstruídos por mais de 12 anos de estudos de vivência tradicional.</a:t>
            </a:r>
            <a:endParaRPr b="1" sz="2000">
              <a:solidFill>
                <a:srgbClr val="3F3F3F"/>
              </a:solidFill>
              <a:highlight>
                <a:srgbClr val="00FFFF"/>
              </a:highlight>
              <a:latin typeface="Cambria"/>
              <a:ea typeface="Cambria"/>
              <a:cs typeface="Cambria"/>
              <a:sym typeface="Cambria"/>
            </a:endParaRPr>
          </a:p>
          <a:p>
            <a:pPr indent="0" lvl="0" marL="0" rtl="0" algn="just">
              <a:spcBef>
                <a:spcPts val="0"/>
              </a:spcBef>
              <a:spcAft>
                <a:spcPts val="0"/>
              </a:spcAft>
              <a:buNone/>
            </a:pPr>
            <a:r>
              <a:rPr lang="en-US" sz="2000">
                <a:solidFill>
                  <a:srgbClr val="3F3F3F"/>
                </a:solidFill>
                <a:highlight>
                  <a:schemeClr val="lt1"/>
                </a:highlight>
                <a:latin typeface="Calibri"/>
                <a:ea typeface="Calibri"/>
                <a:cs typeface="Calibri"/>
                <a:sym typeface="Calibri"/>
              </a:rPr>
              <a:t> </a:t>
            </a:r>
            <a:endParaRPr sz="2000">
              <a:solidFill>
                <a:srgbClr val="3F3F3F"/>
              </a:solidFill>
              <a:highlight>
                <a:schemeClr val="lt1"/>
              </a:highlight>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10"/>
          <p:cNvSpPr txBox="1"/>
          <p:nvPr/>
        </p:nvSpPr>
        <p:spPr>
          <a:xfrm>
            <a:off x="1062980" y="411480"/>
            <a:ext cx="108813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p:txBody>
      </p:sp>
      <p:sp>
        <p:nvSpPr>
          <p:cNvPr id="256" name="Google Shape;256;p10"/>
          <p:cNvSpPr txBox="1"/>
          <p:nvPr/>
        </p:nvSpPr>
        <p:spPr>
          <a:xfrm>
            <a:off x="1366350" y="2093625"/>
            <a:ext cx="9668700" cy="1950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1700"/>
              <a:t>“D</a:t>
            </a:r>
            <a:r>
              <a:rPr lang="en-US" sz="1700">
                <a:latin typeface="Cambria"/>
                <a:ea typeface="Cambria"/>
                <a:cs typeface="Cambria"/>
                <a:sym typeface="Cambria"/>
              </a:rPr>
              <a:t>efende-se que esta é uma metodologia exigente, solicitando intensa impregnação do pesquisador. </a:t>
            </a:r>
            <a:r>
              <a:rPr b="1" lang="en-US" sz="1700">
                <a:latin typeface="Cambria"/>
                <a:ea typeface="Cambria"/>
                <a:cs typeface="Cambria"/>
                <a:sym typeface="Cambria"/>
              </a:rPr>
              <a:t>Este, ao longo do processo, é desafiado a reconstruir seus entendimentos de ciência e de pesquisa, no mesmo movimento em que reconstrói e torna mais complexas suas compreensões dos fenômenos que investiga. </a:t>
            </a:r>
            <a:r>
              <a:rPr lang="en-US" sz="1700">
                <a:latin typeface="Cambria"/>
                <a:ea typeface="Cambria"/>
                <a:cs typeface="Cambria"/>
                <a:sym typeface="Cambria"/>
              </a:rPr>
              <a:t>Como processo auto-organizado a análise textual discursiva </a:t>
            </a:r>
            <a:r>
              <a:rPr b="1" lang="en-US" sz="1700">
                <a:latin typeface="Cambria"/>
                <a:ea typeface="Cambria"/>
                <a:cs typeface="Cambria"/>
                <a:sym typeface="Cambria"/>
              </a:rPr>
              <a:t>cria espaços para a emergência do novo, uma tempestade de luzes surgindo do caos criado dentro do processo”  </a:t>
            </a:r>
            <a:r>
              <a:rPr lang="en-US" sz="1700">
                <a:latin typeface="Cambria"/>
                <a:ea typeface="Cambria"/>
                <a:cs typeface="Cambria"/>
                <a:sym typeface="Cambria"/>
              </a:rPr>
              <a:t>pág 126.  </a:t>
            </a:r>
            <a:endParaRPr sz="1700">
              <a:latin typeface="Cambria"/>
              <a:ea typeface="Cambria"/>
              <a:cs typeface="Cambria"/>
              <a:sym typeface="Cambria"/>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12"/>
          <p:cNvSpPr txBox="1"/>
          <p:nvPr/>
        </p:nvSpPr>
        <p:spPr>
          <a:xfrm>
            <a:off x="1017200" y="1088850"/>
            <a:ext cx="32661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chemeClr val="dk1"/>
                </a:solidFill>
                <a:latin typeface="Calibri"/>
                <a:ea typeface="Calibri"/>
                <a:cs typeface="Calibri"/>
                <a:sym typeface="Calibri"/>
              </a:rPr>
              <a:t>Referência</a:t>
            </a:r>
            <a:r>
              <a:rPr b="1" lang="en-US" sz="2800">
                <a:solidFill>
                  <a:schemeClr val="dk1"/>
                </a:solidFill>
                <a:latin typeface="Calibri"/>
                <a:ea typeface="Calibri"/>
                <a:cs typeface="Calibri"/>
                <a:sym typeface="Calibri"/>
              </a:rPr>
              <a:t>s</a:t>
            </a:r>
            <a:endParaRPr/>
          </a:p>
        </p:txBody>
      </p:sp>
      <p:sp>
        <p:nvSpPr>
          <p:cNvPr id="262" name="Google Shape;262;p12"/>
          <p:cNvSpPr txBox="1"/>
          <p:nvPr/>
        </p:nvSpPr>
        <p:spPr>
          <a:xfrm>
            <a:off x="1017200" y="1979851"/>
            <a:ext cx="10515600" cy="4197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2000" u="none" cap="none" strike="noStrike">
                <a:solidFill>
                  <a:schemeClr val="dk1"/>
                </a:solidFill>
                <a:latin typeface="Cambria"/>
                <a:ea typeface="Cambria"/>
                <a:cs typeface="Cambria"/>
                <a:sym typeface="Cambria"/>
              </a:rPr>
              <a:t>MORAES, Roque; GALIAZZI, Maria do Carmo.</a:t>
            </a:r>
            <a:endParaRPr>
              <a:latin typeface="Cambria"/>
              <a:ea typeface="Cambria"/>
              <a:cs typeface="Cambria"/>
              <a:sym typeface="Cambria"/>
            </a:endParaRPr>
          </a:p>
          <a:p>
            <a:pPr indent="0" lvl="0" marL="0" marR="0" rtl="0" algn="l">
              <a:spcBef>
                <a:spcPts val="1000"/>
              </a:spcBef>
              <a:spcAft>
                <a:spcPts val="0"/>
              </a:spcAft>
              <a:buNone/>
            </a:pPr>
            <a:r>
              <a:rPr i="0" lang="en-US" sz="2000" u="none" cap="none" strike="noStrike">
                <a:solidFill>
                  <a:schemeClr val="dk1"/>
                </a:solidFill>
                <a:latin typeface="Cambria"/>
                <a:ea typeface="Cambria"/>
                <a:cs typeface="Cambria"/>
                <a:sym typeface="Cambria"/>
              </a:rPr>
              <a:t>Análise textual discursiva: processo reconstrutivo de múltiplas faces.</a:t>
            </a:r>
            <a:endParaRPr>
              <a:latin typeface="Cambria"/>
              <a:ea typeface="Cambria"/>
              <a:cs typeface="Cambria"/>
              <a:sym typeface="Cambria"/>
            </a:endParaRPr>
          </a:p>
          <a:p>
            <a:pPr indent="0" lvl="0" marL="0" marR="0" rtl="0" algn="l">
              <a:spcBef>
                <a:spcPts val="1000"/>
              </a:spcBef>
              <a:spcAft>
                <a:spcPts val="0"/>
              </a:spcAft>
              <a:buNone/>
            </a:pPr>
            <a:r>
              <a:rPr i="0" lang="en-US" sz="2000" u="none" cap="none" strike="noStrike">
                <a:solidFill>
                  <a:schemeClr val="dk1"/>
                </a:solidFill>
                <a:latin typeface="Cambria"/>
                <a:ea typeface="Cambria"/>
                <a:cs typeface="Cambria"/>
                <a:sym typeface="Cambria"/>
              </a:rPr>
              <a:t>Ciência &amp; Educação, v. 12, n. 1, p. 117-128, 2006.</a:t>
            </a:r>
            <a:endParaRPr i="0" sz="2000" u="none" cap="none" strike="noStrike">
              <a:solidFill>
                <a:schemeClr val="dk1"/>
              </a:solidFill>
              <a:latin typeface="Cambria"/>
              <a:ea typeface="Cambria"/>
              <a:cs typeface="Cambria"/>
              <a:sym typeface="Cambria"/>
            </a:endParaRPr>
          </a:p>
          <a:p>
            <a:pPr indent="0" lvl="0" marL="0" marR="0" rtl="0" algn="l">
              <a:spcBef>
                <a:spcPts val="1000"/>
              </a:spcBef>
              <a:spcAft>
                <a:spcPts val="0"/>
              </a:spcAft>
              <a:buNone/>
            </a:pPr>
            <a:r>
              <a:t/>
            </a:r>
            <a:endParaRPr sz="2000">
              <a:solidFill>
                <a:schemeClr val="dk1"/>
              </a:solidFill>
              <a:latin typeface="Cambria"/>
              <a:ea typeface="Cambria"/>
              <a:cs typeface="Cambria"/>
              <a:sym typeface="Cambria"/>
            </a:endParaRPr>
          </a:p>
          <a:p>
            <a:pPr indent="0" lvl="0" marL="0" marR="0" rtl="0" algn="l">
              <a:spcBef>
                <a:spcPts val="1000"/>
              </a:spcBef>
              <a:spcAft>
                <a:spcPts val="0"/>
              </a:spcAft>
              <a:buNone/>
            </a:pPr>
            <a:r>
              <a:rPr lang="en-US" sz="2000">
                <a:solidFill>
                  <a:schemeClr val="dk1"/>
                </a:solidFill>
                <a:latin typeface="Cambria"/>
                <a:ea typeface="Cambria"/>
                <a:cs typeface="Cambria"/>
                <a:sym typeface="Cambria"/>
              </a:rPr>
              <a:t>MORAES, ROQUE </a:t>
            </a:r>
            <a:endParaRPr sz="2000">
              <a:solidFill>
                <a:schemeClr val="dk1"/>
              </a:solidFill>
              <a:latin typeface="Cambria"/>
              <a:ea typeface="Cambria"/>
              <a:cs typeface="Cambria"/>
              <a:sym typeface="Cambria"/>
            </a:endParaRPr>
          </a:p>
          <a:p>
            <a:pPr indent="0" lvl="0" marL="0" marR="0" rtl="0" algn="l">
              <a:spcBef>
                <a:spcPts val="1000"/>
              </a:spcBef>
              <a:spcAft>
                <a:spcPts val="0"/>
              </a:spcAft>
              <a:buNone/>
            </a:pPr>
            <a:r>
              <a:rPr lang="en-US" sz="2000">
                <a:solidFill>
                  <a:schemeClr val="dk1"/>
                </a:solidFill>
                <a:latin typeface="Cambria"/>
                <a:ea typeface="Cambria"/>
                <a:cs typeface="Cambria"/>
                <a:sym typeface="Cambria"/>
              </a:rPr>
              <a:t>Uma tempestade de luz: a compreensão possibilitada pela análise textual discursiva</a:t>
            </a:r>
            <a:endParaRPr sz="2000">
              <a:solidFill>
                <a:schemeClr val="dk1"/>
              </a:solidFill>
              <a:latin typeface="Cambria"/>
              <a:ea typeface="Cambria"/>
              <a:cs typeface="Cambria"/>
              <a:sym typeface="Cambria"/>
            </a:endParaRPr>
          </a:p>
          <a:p>
            <a:pPr indent="0" lvl="0" marL="0" rtl="0" algn="l">
              <a:spcBef>
                <a:spcPts val="1000"/>
              </a:spcBef>
              <a:spcAft>
                <a:spcPts val="0"/>
              </a:spcAft>
              <a:buNone/>
            </a:pPr>
            <a:r>
              <a:rPr lang="en-US" sz="2000">
                <a:solidFill>
                  <a:schemeClr val="dk1"/>
                </a:solidFill>
                <a:latin typeface="Cambria"/>
                <a:ea typeface="Cambria"/>
                <a:cs typeface="Cambria"/>
                <a:sym typeface="Cambria"/>
              </a:rPr>
              <a:t>Ciência &amp; Educação, v. 9 n.2 p.191-121, 2003. </a:t>
            </a:r>
            <a:endParaRPr sz="2000">
              <a:solidFill>
                <a:schemeClr val="dk1"/>
              </a:solidFill>
              <a:latin typeface="Cambria"/>
              <a:ea typeface="Cambria"/>
              <a:cs typeface="Cambria"/>
              <a:sym typeface="Cambria"/>
            </a:endParaRPr>
          </a:p>
          <a:p>
            <a:pPr indent="0" lvl="0" marL="0" rtl="0" algn="l">
              <a:spcBef>
                <a:spcPts val="1000"/>
              </a:spcBef>
              <a:spcAft>
                <a:spcPts val="0"/>
              </a:spcAft>
              <a:buClr>
                <a:schemeClr val="dk1"/>
              </a:buClr>
              <a:buFont typeface="Arial"/>
              <a:buNone/>
            </a:pPr>
            <a:r>
              <a:t/>
            </a:r>
            <a:endParaRPr sz="2000">
              <a:solidFill>
                <a:schemeClr val="dk1"/>
              </a:solidFill>
              <a:latin typeface="Cambria"/>
              <a:ea typeface="Cambria"/>
              <a:cs typeface="Cambria"/>
              <a:sym typeface="Cambria"/>
            </a:endParaRPr>
          </a:p>
          <a:p>
            <a:pPr indent="0" lvl="0" marL="0" marR="0" rtl="0" algn="l">
              <a:spcBef>
                <a:spcPts val="1000"/>
              </a:spcBef>
              <a:spcAft>
                <a:spcPts val="0"/>
              </a:spcAft>
              <a:buNone/>
            </a:pPr>
            <a:r>
              <a:rPr lang="en-US" sz="2000">
                <a:solidFill>
                  <a:schemeClr val="dk1"/>
                </a:solidFill>
                <a:latin typeface="Cambria"/>
                <a:ea typeface="Cambria"/>
                <a:cs typeface="Cambria"/>
                <a:sym typeface="Cambria"/>
              </a:rPr>
              <a:t> LIMA, Luciana , (CANAL YOU TUBE - Tecnodocência) , Análise Textual Discursiva </a:t>
            </a:r>
            <a:r>
              <a:rPr lang="en-US" sz="2000" u="sng">
                <a:solidFill>
                  <a:schemeClr val="hlink"/>
                </a:solidFill>
                <a:latin typeface="Cambria"/>
                <a:ea typeface="Cambria"/>
                <a:cs typeface="Cambria"/>
                <a:sym typeface="Cambria"/>
                <a:hlinkClick r:id="rId3"/>
              </a:rPr>
              <a:t>https://www.youtube.com/watch?v=fCGvDeehhmY</a:t>
            </a:r>
            <a:r>
              <a:rPr lang="en-US" sz="2000">
                <a:solidFill>
                  <a:schemeClr val="dk1"/>
                </a:solidFill>
                <a:latin typeface="Cambria"/>
                <a:ea typeface="Cambria"/>
                <a:cs typeface="Cambria"/>
                <a:sym typeface="Cambria"/>
              </a:rPr>
              <a:t> </a:t>
            </a:r>
            <a:endParaRPr sz="2000">
              <a:solidFill>
                <a:schemeClr val="dk1"/>
              </a:solidFill>
              <a:latin typeface="Cambria"/>
              <a:ea typeface="Cambria"/>
              <a:cs typeface="Cambria"/>
              <a:sym typeface="Cambria"/>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etrospectiva">
  <a:themeElements>
    <a:clrScheme name="Retrospectiva">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APPR03</dc:creator>
</cp:coreProperties>
</file>