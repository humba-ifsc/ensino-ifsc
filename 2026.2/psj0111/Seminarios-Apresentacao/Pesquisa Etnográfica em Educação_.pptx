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a7e1ed2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a7e1ed2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414364b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414364b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c4c5f79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8c4c5f79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c62554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c62554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8a200ad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b8a200ad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7e1ed25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7e1ed2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7e1ed25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a7e1ed25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7e1ed2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7e1ed2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c4c5f79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c4c5f79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c4c5f7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c4c5f7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c4c5f7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8c4c5f7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c4c5f7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c4c5f7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7e1ed25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a7e1ed25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4c5f79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8c4c5f79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c62554d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c62554d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14364ba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414364ba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c4c5f79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c4c5f79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a81c0329c_6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a81c0329c_6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90e63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a90e63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a90e638a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a90e638a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a90e638a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a90e638a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90e638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a90e638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90e638a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a90e638a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90e638a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a90e638a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a90e638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a90e638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b8a200ad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b8a200ad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a90e638a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a90e638a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a90e638a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a90e638a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a90e638a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a90e638a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90e638a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a90e638a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90e638a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a90e638a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90e638a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a90e638a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a90e638a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a90e638a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a7e1ed25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a7e1ed25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a7e1ed25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a7e1ed25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7e1ed25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a7e1ed25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a7e1ed25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a7e1ed25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a81c0329c_6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a81c0329c_6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a81c0329c_6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a81c0329c_6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b800448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fb800448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b800448f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b800448f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8e10cb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8e10cb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8e10cb0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8e10cb0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a7e1ed2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a7e1ed2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7e1ed25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a7e1ed25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a7e1ed25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a7e1ed25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a7e1ed2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fa7e1ed2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c62554d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f8c62554d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a7e1ed25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a7e1ed25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8c62554d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8c62554d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c68d6501_5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8c68d6501_5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bef247b9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fbef247b9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c62554d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8c62554d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c68d6501_56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8c68d6501_5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a81c0329c_6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a81c0329c_6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8c62554d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8c62554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Relationship Id="rId4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revistaea.org/artigo.php?idartigo=1103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www.scielo.br/j/reben/a/KWMynKfjZFGHqFDvjPJQqTz/?lang=pt&amp;format=pdf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58762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38761D"/>
                </a:solidFill>
              </a:rPr>
              <a:t>Pesquisa Etnográfica em Educação</a:t>
            </a:r>
            <a:endParaRPr b="1" sz="3600">
              <a:solidFill>
                <a:srgbClr val="38761D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482188"/>
            <a:ext cx="8520600" cy="14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t-BR" sz="1800"/>
              <a:t>Seminário da componente curricular Metodologia da Pesquisa em Educação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800"/>
              <a:t>Professores: Humberto Luz Oliveira, Joce Mary Mello Giotto, Volmir Von Dentz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800"/>
              <a:t>Alunos: Francisco Souza da Silva Castro, Mariana de Sá </a:t>
            </a:r>
            <a:r>
              <a:rPr lang="pt-BR" sz="1800"/>
              <a:t>Rodrigues</a:t>
            </a:r>
            <a:r>
              <a:rPr lang="pt-BR" sz="1800"/>
              <a:t> da Silva 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3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2396"/>
              <a:buNone/>
            </a:pPr>
            <a:r>
              <a:rPr lang="pt-BR" sz="2400"/>
              <a:t>Instituto Federal de Santa Catarina - Câmpus São José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2396"/>
              <a:buNone/>
            </a:pPr>
            <a:r>
              <a:rPr lang="pt-BR" sz="2400"/>
              <a:t>Especialização em Educação Ambiental com Ênfase na Formação de Professores </a:t>
            </a:r>
            <a:endParaRPr sz="24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4446400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17 de setembro de 2026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8" name="Google Shape;58;p13" title="IFSC São Jos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2451" y="4244050"/>
            <a:ext cx="756800" cy="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718800"/>
            <a:ext cx="8520600" cy="4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pt-BR"/>
              <a:t>Etnografia: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método de </a:t>
            </a:r>
            <a:r>
              <a:rPr b="1" lang="pt-BR"/>
              <a:t>pesquisa qualitativa</a:t>
            </a:r>
            <a:r>
              <a:rPr lang="pt-BR"/>
              <a:t> do campo da </a:t>
            </a:r>
            <a:r>
              <a:rPr b="1" lang="pt-BR"/>
              <a:t>antropologia, </a:t>
            </a:r>
            <a:r>
              <a:rPr lang="pt-BR"/>
              <a:t>cujo</a:t>
            </a:r>
            <a:r>
              <a:rPr lang="pt-BR"/>
              <a:t> foco principal é o </a:t>
            </a:r>
            <a:r>
              <a:rPr b="1" lang="pt-BR"/>
              <a:t>estudo da cultura e comportamentos de determinados grupos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estudo descritivo e detalhado dos hábitos, crenças, práticas culturais e modos de vida de um grupo social - </a:t>
            </a:r>
            <a:r>
              <a:rPr b="1" lang="pt-BR"/>
              <a:t>descrição cultural de um coletivo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Pesquisa etnográfica busca descrever uma realidade, visa fazer um estudo detalhado do dia a dia das pessoas que estão imersas nos fenômenos que visão o estudo. (Minayo, 2014).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34050" y="718800"/>
            <a:ext cx="8475900" cy="4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pt-BR"/>
              <a:t>Origem: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Finais séc. XIX e inícios XX - Antropólogos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Investigar comunidades pequenas e isoladas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Filosofia - incapaz de compreender grupos humanos.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Povos primitivos - desconhecidos da Europa ocidental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Inicialmente a distância (missionários) - questionários e manufaturas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Séc. XX - Ida ao campo - observação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pt-BR"/>
              <a:t>Hoje (a partir da década de 80): 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Diversas comunidades de interesse e diferentes disciplinas.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chemeClr val="dk1"/>
                </a:solidFill>
              </a:rPr>
              <a:t>(Angrosino, 2009</a:t>
            </a:r>
            <a:r>
              <a:rPr lang="pt-BR" sz="1400">
                <a:solidFill>
                  <a:schemeClr val="dk1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812900" y="3690600"/>
            <a:ext cx="6267600" cy="1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Geertz (2008, p. 4 citado por Ataíde; Oliveira; de Freitas Silva - Univ. Fed. de Uberlândia, 2021)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Esforço intelectual destinado a uma </a:t>
            </a:r>
            <a:r>
              <a:rPr b="1" lang="pt-BR"/>
              <a:t>descrição densa de uma realidade sociocultural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812900" y="718800"/>
            <a:ext cx="62676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Angrosino, 2009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Descrição de um povo (um coletivo) - </a:t>
            </a:r>
            <a:r>
              <a:rPr b="1" lang="pt-BR" sz="1800">
                <a:solidFill>
                  <a:schemeClr val="dk2"/>
                </a:solidFill>
              </a:rPr>
              <a:t>Estuda pessoas em um grupo organizado - comunidades ou sociedades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 Etnografia “[...] é um método de pesquisa que busca definir padrões previsíveis de comportamento de grupo. Ela é baseada em trabalho de campo, personalizada, multifatorial, de longo prazo, indutiva, dialógica e holística” (2009, p. 34)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7527" l="7527" r="0" t="0"/>
          <a:stretch/>
        </p:blipFill>
        <p:spPr>
          <a:xfrm>
            <a:off x="0" y="985400"/>
            <a:ext cx="2780350" cy="3989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150" y="295896"/>
            <a:ext cx="1937200" cy="14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5430100" y="1902875"/>
            <a:ext cx="3307500" cy="20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Peirano (2008)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“</a:t>
            </a:r>
            <a:r>
              <a:rPr lang="pt-BR"/>
              <a:t>[...] não é apenas uma metodologia e/ou uma prática de pesquisa, mas a própria </a:t>
            </a:r>
            <a:r>
              <a:rPr b="1" lang="pt-BR"/>
              <a:t>teoria vivida</a:t>
            </a:r>
            <a:r>
              <a:rPr lang="pt-BR"/>
              <a:t>, [...] uma forma de ver e ouvir, uma maneira de interpretar, uma perspectiva analítica, a própria </a:t>
            </a:r>
            <a:r>
              <a:rPr b="1" lang="pt-BR"/>
              <a:t>teoria em ação</a:t>
            </a:r>
            <a:r>
              <a:rPr lang="pt-BR"/>
              <a:t>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5750" y="923200"/>
            <a:ext cx="2636100" cy="39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00" y="898000"/>
            <a:ext cx="2636100" cy="400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5">
            <a:alphaModFix/>
          </a:blip>
          <a:srcRect b="0" l="2836" r="54775" t="0"/>
          <a:stretch/>
        </p:blipFill>
        <p:spPr>
          <a:xfrm>
            <a:off x="7645400" y="782300"/>
            <a:ext cx="1282700" cy="17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327400" y="2312675"/>
            <a:ext cx="57150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Mattos (2011b)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“Etnografia é também conhecida como: observação participante, pesquisa interpretativa, pesquisa hermenêutica, dentre outras.” p.51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Objetiva revelar o </a:t>
            </a:r>
            <a:r>
              <a:rPr b="1" lang="pt-BR"/>
              <a:t>significado</a:t>
            </a:r>
            <a:r>
              <a:rPr lang="pt-BR"/>
              <a:t> cotidiano, nos quais as pessoas dos grupos estudados agem.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277001"/>
            <a:ext cx="3136900" cy="46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6420" l="14577" r="26810" t="0"/>
          <a:stretch/>
        </p:blipFill>
        <p:spPr>
          <a:xfrm>
            <a:off x="7200900" y="917900"/>
            <a:ext cx="1841501" cy="165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214875" y="718800"/>
            <a:ext cx="8520600" cy="4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830"/>
              <a:t>P</a:t>
            </a:r>
            <a:r>
              <a:rPr lang="pt-BR" sz="1830"/>
              <a:t>ode-se pesquisar qualquer grupo de pessoas, sem restrição, desde uma tribo, a uma turma de escola, moradores de uma determinada região, dependendo do assunto que se busca pesquisar.</a:t>
            </a:r>
            <a:endParaRPr sz="183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830"/>
              <a:t>O grupo precisa estar de acordo com o assunto o qual o pesquisador </a:t>
            </a:r>
            <a:r>
              <a:rPr lang="pt-BR" sz="1830"/>
              <a:t>está</a:t>
            </a:r>
            <a:r>
              <a:rPr lang="pt-BR" sz="1830"/>
              <a:t> se propondo a pesquisar.</a:t>
            </a:r>
            <a:endParaRPr sz="183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1830"/>
              <a:t>É preciso levar em consideração a necessidade de imersão, que é uma característica muito forte da pesquisa etnográfica:</a:t>
            </a:r>
            <a:endParaRPr sz="1830"/>
          </a:p>
          <a:p>
            <a:pPr indent="-34480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pt-BR" sz="1830"/>
              <a:t>a presença física do pesquisador e observação no local (em um determinado tempo);</a:t>
            </a:r>
            <a:endParaRPr sz="1830"/>
          </a:p>
          <a:p>
            <a:pPr indent="-34480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pt-BR" sz="1830"/>
              <a:t>o convívio com as pessoas de determinado grupo em um determinado tempo.</a:t>
            </a:r>
            <a:endParaRPr sz="183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83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30"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Definições Teóricas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239075" y="718800"/>
            <a:ext cx="8520600" cy="3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/>
              <a:t>A imersão na vida das pessoas é que torna esse tipo de Pesquisa diferente de uma Pesquisa de Campo. Onde a Pesquisa de Campo não exige uma interação forte com o grupo estudado.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/>
              <a:t>Com o tipo de Pesquisa Etnográfica, dentro da imersão, por exemplo em uma tribo indigena; O que vai ser observado (</a:t>
            </a:r>
            <a:r>
              <a:rPr lang="pt-BR"/>
              <a:t>língua</a:t>
            </a:r>
            <a:r>
              <a:rPr lang="pt-BR"/>
              <a:t>, costumes, alimentação, quais os tipos de religiões, a </a:t>
            </a:r>
            <a:r>
              <a:rPr lang="pt-BR"/>
              <a:t>família</a:t>
            </a:r>
            <a:r>
              <a:rPr lang="pt-BR"/>
              <a:t>, etc).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/>
              <a:t>De acordo com o </a:t>
            </a:r>
            <a:r>
              <a:rPr lang="pt-BR"/>
              <a:t>convívio do pesquisador</a:t>
            </a:r>
            <a:r>
              <a:rPr lang="pt-BR"/>
              <a:t> é que pode ser descrito, com riqueza de detalhes, como é realmente a cultura daquele grupo que está sendo estudado.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/>
              <a:t>O tempo necessário para uma pesquisa etnográfica varia de acordo com a quantidades de informações ou dados do assunto da pesquisa. Podendo ser de um mês, três meses, um ano, dois anos, dependendo do fechamento das informações necessárias à determinada pesquisa. Quanto maior o tempo de observação melhor será o resultado da pesquisa.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Estudo / Tese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239075" y="936625"/>
            <a:ext cx="8520600" cy="3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começar uma pesquisa Etnográfica? (Pereira, 2022)                                                                  </a:t>
            </a:r>
            <a:endParaRPr sz="14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Construção teórica a partir do tema </a:t>
            </a:r>
            <a:r>
              <a:rPr lang="pt-BR"/>
              <a:t>que o pesquisador pretende estudar;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definir o objetivo do trabalho;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buscar trabalhos anteriores sobre o assunto para poder construir o um </a:t>
            </a:r>
            <a:r>
              <a:rPr lang="pt-BR"/>
              <a:t>referencial</a:t>
            </a:r>
            <a:r>
              <a:rPr lang="pt-BR"/>
              <a:t> </a:t>
            </a:r>
            <a:r>
              <a:rPr lang="pt-BR"/>
              <a:t>teórico</a:t>
            </a:r>
            <a:r>
              <a:rPr lang="pt-BR"/>
              <a:t>.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estudo prévio a respeito do grupo o qual se pretende fazer o trabalho, verificando o que já existe publicado sobre esse grupo.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Em seguida é necessário partir para coletas de dados no campo: observações, entrevistas, diário de campo, gravações, fotos, etc…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</a:t>
            </a:r>
            <a:r>
              <a:rPr lang="pt-BR"/>
              <a:t> próximo passo será, descrever as suas observações chegando a um resultado a oferecer um retrato mais completo possível do grupo em estudo. E depois discutir esses dados. </a:t>
            </a:r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Procedimentos e Etapas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0625" y="958825"/>
            <a:ext cx="816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617850" y="4445250"/>
            <a:ext cx="79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Autoria própria a partir de Ataídes; de Oliveira; de Freitas Silva (2021)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655950" y="1488000"/>
            <a:ext cx="2130000" cy="1293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Eleição do </a:t>
            </a:r>
            <a:r>
              <a:rPr lang="pt-BR" sz="1800" u="sng">
                <a:solidFill>
                  <a:schemeClr val="dk2"/>
                </a:solidFill>
              </a:rPr>
              <a:t>campo de pesquisa</a:t>
            </a:r>
            <a:r>
              <a:rPr lang="pt-BR" sz="1800">
                <a:solidFill>
                  <a:schemeClr val="dk2"/>
                </a:solidFill>
              </a:rPr>
              <a:t> e embasamento teórico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2858575" y="1844100"/>
            <a:ext cx="568800" cy="58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500025" y="1210950"/>
            <a:ext cx="2263200" cy="2124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Coleta de dados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Triangulação (observação, entrevista e análise de documentos arquivados) entre outros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5835875" y="1844100"/>
            <a:ext cx="568800" cy="58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6477325" y="1488000"/>
            <a:ext cx="1924200" cy="1293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Interpretação e apresentação dos dados etnográficos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Procedimentos e Etapas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595325" y="1275600"/>
            <a:ext cx="2263200" cy="2928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/>
        </p:nvSpPr>
        <p:spPr>
          <a:xfrm flipH="1">
            <a:off x="450125" y="3028275"/>
            <a:ext cx="2553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pt-BR" sz="1600">
                <a:solidFill>
                  <a:schemeClr val="dk2"/>
                </a:solidFill>
              </a:rPr>
              <a:t>trabalho de campo é o coração da pesquisa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Godoy (1995, p. 28)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489900" y="718800"/>
            <a:ext cx="816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/>
              <a:t>Eleição do campo de pesquisa</a:t>
            </a:r>
            <a:r>
              <a:rPr lang="pt-BR"/>
              <a:t>: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Fácil acesso, 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Diálogo com as referências acadêmicas estudadas, 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Passível de comparação,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Que não se torne um incômodo para a comunidade pesquisada.</a:t>
            </a:r>
            <a:endParaRPr/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Angrosino (2009)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/>
              <a:t>Embasamento teórico</a:t>
            </a:r>
            <a:r>
              <a:rPr lang="pt-BR"/>
              <a:t>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Revisão de literatura inicial - suporte à pesquisa de campo, constructos para a análise de dados.</a:t>
            </a:r>
            <a:endParaRPr/>
          </a:p>
          <a:p>
            <a:pPr indent="0" lvl="0" marL="457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Cunha e Ribeiro (2010) - repositorio.usp.br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chemeClr val="dk1"/>
                </a:solidFill>
              </a:rPr>
              <a:t>(Citados por Ataídes; de Oliveira; de Freitas Silva, 2021)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Procedimentos e Etapas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668125" y="462625"/>
            <a:ext cx="816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7057" l="0" r="0" t="28556"/>
          <a:stretch/>
        </p:blipFill>
        <p:spPr>
          <a:xfrm>
            <a:off x="1080038" y="1164800"/>
            <a:ext cx="7188174" cy="346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796075" y="4652150"/>
            <a:ext cx="79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Autoria própria a partir de Ataídes; de Oliveira; de Freitas Silva (2021)</a:t>
            </a:r>
            <a:endParaRPr/>
          </a:p>
        </p:txBody>
      </p:sp>
      <p:sp>
        <p:nvSpPr>
          <p:cNvPr id="142" name="Google Shape;142;p24"/>
          <p:cNvSpPr txBox="1"/>
          <p:nvPr/>
        </p:nvSpPr>
        <p:spPr>
          <a:xfrm>
            <a:off x="1080050" y="703100"/>
            <a:ext cx="72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u="sng">
                <a:solidFill>
                  <a:schemeClr val="dk2"/>
                </a:solidFill>
              </a:rPr>
              <a:t>Coleta de dados - triangulação</a:t>
            </a:r>
            <a:endParaRPr b="1" sz="2000" u="sng">
              <a:solidFill>
                <a:schemeClr val="dk2"/>
              </a:solidFill>
            </a:endParaRPr>
          </a:p>
        </p:txBody>
      </p:sp>
      <p:sp>
        <p:nvSpPr>
          <p:cNvPr id="143" name="Google Shape;143;p24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Procedimentos e Etapas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247800" y="718800"/>
            <a:ext cx="8648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u="sng"/>
              <a:t>Análise de dados</a:t>
            </a:r>
            <a:r>
              <a:rPr lang="pt-BR"/>
              <a:t>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André (2012)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Ir além dos dados aparentes - usar a sensibilidade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existe modelo padrão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Obter sentido e significado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Godoy (1995)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Deve ocorrer no decorrer de todo o processo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/>
              <a:t>Apresentação:</a:t>
            </a:r>
            <a:endParaRPr u="sng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Textos acadêmicos, tabelas, gráficos, filmes documentários ou ficcionais, textos e imagens postados na internet, exposições em museus etc.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chemeClr val="dk1"/>
                </a:solidFill>
              </a:rPr>
              <a:t>(citados por Ataídes; de Oliveira; de Freitas Silva, 2021)</a:t>
            </a:r>
            <a:endParaRPr/>
          </a:p>
        </p:txBody>
      </p:sp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Procedimentos e Etapas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718800"/>
            <a:ext cx="8520600" cy="4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Atenção aos detalhes da ação verbal e não-verbal; Artefatos (Godoy, 1995, citado por Ataíde; de Oliveira; de Freitas Silva, 2021 p. 29) 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rPr lang="pt-BR"/>
              <a:t>Independente da quantidade de pessoas desse grupo e do tempo de estudo desse determinado grupo, deve-se atentar a tudo voltado para o assunto da pesquisa (como as pessoas falam, como vivem, como agem, ou seja, a descrição do mundo dessas pessoas).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Cuidado com os instrumentos audiovisuais  no início da pesquisa (gravador, câmera fotográfica, filmadora) - começar com diário de campo (Sousa e Barroso, 2008,)</a:t>
            </a:r>
            <a:endParaRPr/>
          </a:p>
          <a:p>
            <a:pPr indent="-342900" lvl="0" marL="457200" rtl="0" algn="just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pt-BR"/>
              <a:t>O pesquisador precisa criar uma confiança, uma intimidade com as pessoas do grupo estudado. Buscando passar despercebido ou se fazendo parte do mesmo.</a:t>
            </a:r>
            <a:endParaRPr/>
          </a:p>
        </p:txBody>
      </p:sp>
      <p:sp>
        <p:nvSpPr>
          <p:cNvPr id="155" name="Google Shape;155;p26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Cuidados e Orientações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Cuidados e Orientações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393225" y="996700"/>
            <a:ext cx="82539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 Etnografia exige que </a:t>
            </a:r>
            <a:r>
              <a:rPr lang="pt-BR" sz="1800">
                <a:solidFill>
                  <a:schemeClr val="dk2"/>
                </a:solidFill>
              </a:rPr>
              <a:t>(Sousa e Barroso, 2008 citados por Ataídes; de Oliveira; de Freitas Silva, 2021)</a:t>
            </a:r>
            <a:r>
              <a:rPr lang="pt-BR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o pesquisador seja um bom observador;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saiba lidar com os sujeitos do campo e consigo mesmo;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desarme de seus preconceitos;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saiba se portar diante dos outros;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saiba escrever para apresentar aos leitores os fatos observados e as interações do campo; e,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o pesquisador deve evitar ser visto como um intruso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Cuidados e Orientações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445050" y="2124225"/>
            <a:ext cx="82539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Observações (Peirano, 1992):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Desistência</a:t>
            </a:r>
            <a:r>
              <a:rPr lang="pt-BR" sz="1800">
                <a:solidFill>
                  <a:schemeClr val="dk2"/>
                </a:solidFill>
              </a:rPr>
              <a:t> da pesquisa, antes ou logo após o seu início dificuldade enfrentar a experiência do exótico (o 'campo'), impacto psíquico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Re-estruturação da visão de mundo destes pesquisadores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Conversão religiosa de vários antropólogos (a</a:t>
            </a:r>
            <a:r>
              <a:rPr lang="pt-BR" sz="1800">
                <a:solidFill>
                  <a:schemeClr val="dk2"/>
                </a:solidFill>
              </a:rPr>
              <a:t>ssunto tabu entre os especialista)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337025" y="913613"/>
            <a:ext cx="8606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O projeto de pesquisa etnográfica deve ser </a:t>
            </a:r>
            <a:r>
              <a:rPr lang="pt-BR" sz="1800">
                <a:solidFill>
                  <a:schemeClr val="dk2"/>
                </a:solidFill>
              </a:rPr>
              <a:t>submetida a um Comitê de Ética em Pesquisa (CEP) </a:t>
            </a:r>
            <a:r>
              <a:rPr lang="pt-BR" sz="1800">
                <a:solidFill>
                  <a:schemeClr val="dk2"/>
                </a:solidFill>
              </a:rPr>
              <a:t>para sua avaliação e aprovação.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197400" y="779400"/>
            <a:ext cx="5771700" cy="3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Ê</a:t>
            </a:r>
            <a:r>
              <a:rPr lang="pt-BR"/>
              <a:t>nfase no </a:t>
            </a:r>
            <a:r>
              <a:rPr b="1" lang="pt-BR"/>
              <a:t>processo</a:t>
            </a:r>
            <a:r>
              <a:rPr lang="pt-BR"/>
              <a:t>, naquilo que está acontecendo e não no produto ou nos resultados finais;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Preocupação com o </a:t>
            </a:r>
            <a:r>
              <a:rPr b="1" lang="pt-BR"/>
              <a:t>significado</a:t>
            </a:r>
            <a:r>
              <a:rPr lang="pt-BR"/>
              <a:t>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Descrição e indução</a:t>
            </a:r>
            <a:r>
              <a:rPr lang="pt-BR"/>
              <a:t>, o pesquisador tem acesso a dados descritivos que são por ele reconstruídos em forma de palavras ou transcrições literais;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Busca </a:t>
            </a:r>
            <a:r>
              <a:rPr b="1" lang="pt-BR"/>
              <a:t>formulações de hipóteses, conceitos, abstrações, teorias</a:t>
            </a:r>
            <a:r>
              <a:rPr lang="pt-BR"/>
              <a:t> e não sua testagem.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(André, 2012)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Características de Análise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218" y="809575"/>
            <a:ext cx="2811356" cy="420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6800" y="3341975"/>
            <a:ext cx="18288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77675" y="849900"/>
            <a:ext cx="81642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Magnani (2009)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/>
              <a:t>Pesquisador relaciona suas teorias com aquelas compartilhadas pelo grupo estudado </a:t>
            </a:r>
            <a:r>
              <a:rPr lang="pt-BR"/>
              <a:t>a fim</a:t>
            </a:r>
            <a:r>
              <a:rPr lang="pt-BR"/>
              <a:t> de encontrar um novo entendimento.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/>
              <a:t>Rosa e Orey (2012, p. 867 citado por Ataíde; de Oliveira; de Freitas Silva, 2021)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/>
              <a:t>Princípio êmico e ético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ético - interpretação a partir de quem observa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êmico - como os observados entendem suas próprias manifestações culturais.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Características de Análise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8700"/>
            <a:ext cx="8315544" cy="44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/>
          <p:cNvPicPr preferRelativeResize="0"/>
          <p:nvPr/>
        </p:nvPicPr>
        <p:blipFill rotWithShape="1">
          <a:blip r:embed="rId4">
            <a:alphaModFix/>
          </a:blip>
          <a:srcRect b="41355" l="0" r="24846" t="28974"/>
          <a:stretch/>
        </p:blipFill>
        <p:spPr>
          <a:xfrm>
            <a:off x="0" y="2946400"/>
            <a:ext cx="9144000" cy="193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6009"/>
            <a:ext cx="9144001" cy="4956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49845" l="0" r="37846" t="23583"/>
          <a:stretch/>
        </p:blipFill>
        <p:spPr>
          <a:xfrm>
            <a:off x="98438" y="2936850"/>
            <a:ext cx="8947125" cy="205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 rotWithShape="1">
          <a:blip r:embed="rId3">
            <a:alphaModFix/>
          </a:blip>
          <a:srcRect b="3434" l="5814" r="8053" t="2749"/>
          <a:stretch/>
        </p:blipFill>
        <p:spPr>
          <a:xfrm>
            <a:off x="142250" y="668700"/>
            <a:ext cx="7048500" cy="44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7190750" y="1252150"/>
            <a:ext cx="1953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1600"/>
              <a:t>Keywords: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Indigenous languages.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Teaching-learning.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Indigenous school.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Guarani.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Kaingang.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/>
              <a:t>Laklãnõ-Xokleng.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888" y="857650"/>
            <a:ext cx="6088225" cy="403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 rotWithShape="1">
          <a:blip r:embed="rId3">
            <a:alphaModFix/>
          </a:blip>
          <a:srcRect b="12960" l="0" r="0" t="0"/>
          <a:stretch/>
        </p:blipFill>
        <p:spPr>
          <a:xfrm>
            <a:off x="1565463" y="668700"/>
            <a:ext cx="6013067" cy="44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21" name="Google Shape;221;p36"/>
          <p:cNvPicPr preferRelativeResize="0"/>
          <p:nvPr/>
        </p:nvPicPr>
        <p:blipFill rotWithShape="1">
          <a:blip r:embed="rId3">
            <a:alphaModFix/>
          </a:blip>
          <a:srcRect b="0" l="0" r="0" t="43107"/>
          <a:stretch/>
        </p:blipFill>
        <p:spPr>
          <a:xfrm>
            <a:off x="1336900" y="1579875"/>
            <a:ext cx="6597200" cy="356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6"/>
          <p:cNvPicPr preferRelativeResize="0"/>
          <p:nvPr/>
        </p:nvPicPr>
        <p:blipFill rotWithShape="1">
          <a:blip r:embed="rId3">
            <a:alphaModFix/>
          </a:blip>
          <a:srcRect b="86696" l="0" r="0" t="0"/>
          <a:stretch/>
        </p:blipFill>
        <p:spPr>
          <a:xfrm>
            <a:off x="1336900" y="668700"/>
            <a:ext cx="6597200" cy="83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28" name="Google Shape;2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275" y="668700"/>
            <a:ext cx="5102525" cy="43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grpSp>
        <p:nvGrpSpPr>
          <p:cNvPr id="234" name="Google Shape;234;p38"/>
          <p:cNvGrpSpPr/>
          <p:nvPr/>
        </p:nvGrpSpPr>
        <p:grpSpPr>
          <a:xfrm>
            <a:off x="1790700" y="419100"/>
            <a:ext cx="5024350" cy="4610100"/>
            <a:chOff x="-2457450" y="0"/>
            <a:chExt cx="5024350" cy="4610100"/>
          </a:xfrm>
        </p:grpSpPr>
        <p:pic>
          <p:nvPicPr>
            <p:cNvPr id="235" name="Google Shape;235;p38"/>
            <p:cNvPicPr preferRelativeResize="0"/>
            <p:nvPr/>
          </p:nvPicPr>
          <p:blipFill rotWithShape="1">
            <a:blip r:embed="rId3">
              <a:alphaModFix/>
            </a:blip>
            <a:srcRect b="0" l="0" r="0" t="85169"/>
            <a:stretch/>
          </p:blipFill>
          <p:spPr>
            <a:xfrm>
              <a:off x="-2457450" y="3714750"/>
              <a:ext cx="5024350" cy="895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38"/>
            <p:cNvPicPr preferRelativeResize="0"/>
            <p:nvPr/>
          </p:nvPicPr>
          <p:blipFill rotWithShape="1">
            <a:blip r:embed="rId3">
              <a:alphaModFix/>
            </a:blip>
            <a:srcRect b="38465" l="0" r="0" t="0"/>
            <a:stretch/>
          </p:blipFill>
          <p:spPr>
            <a:xfrm>
              <a:off x="-2457450" y="0"/>
              <a:ext cx="5024350" cy="3714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42" name="Google Shape;242;p39"/>
          <p:cNvPicPr preferRelativeResize="0"/>
          <p:nvPr/>
        </p:nvPicPr>
        <p:blipFill rotWithShape="1">
          <a:blip r:embed="rId3">
            <a:alphaModFix/>
          </a:blip>
          <a:srcRect b="50995" l="0" r="0" t="0"/>
          <a:stretch/>
        </p:blipFill>
        <p:spPr>
          <a:xfrm>
            <a:off x="152400" y="447500"/>
            <a:ext cx="4572000" cy="446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39"/>
          <p:cNvGrpSpPr/>
          <p:nvPr/>
        </p:nvGrpSpPr>
        <p:grpSpPr>
          <a:xfrm>
            <a:off x="4476750" y="1257300"/>
            <a:ext cx="4572000" cy="3193926"/>
            <a:chOff x="4457700" y="552450"/>
            <a:chExt cx="4572000" cy="3193926"/>
          </a:xfrm>
        </p:grpSpPr>
        <p:pic>
          <p:nvPicPr>
            <p:cNvPr id="244" name="Google Shape;244;p39"/>
            <p:cNvPicPr preferRelativeResize="0"/>
            <p:nvPr/>
          </p:nvPicPr>
          <p:blipFill rotWithShape="1">
            <a:blip r:embed="rId3">
              <a:alphaModFix/>
            </a:blip>
            <a:srcRect b="26263" l="0" r="0" t="48918"/>
            <a:stretch/>
          </p:blipFill>
          <p:spPr>
            <a:xfrm>
              <a:off x="4457700" y="552450"/>
              <a:ext cx="4572000" cy="2171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9"/>
            <p:cNvPicPr preferRelativeResize="0"/>
            <p:nvPr/>
          </p:nvPicPr>
          <p:blipFill rotWithShape="1">
            <a:blip r:embed="rId3">
              <a:alphaModFix/>
            </a:blip>
            <a:srcRect b="0" l="0" r="0" t="88318"/>
            <a:stretch/>
          </p:blipFill>
          <p:spPr>
            <a:xfrm>
              <a:off x="4457700" y="2724150"/>
              <a:ext cx="4572000" cy="1022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500" y="668700"/>
            <a:ext cx="5265000" cy="41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257" name="Google Shape;257;p41"/>
          <p:cNvSpPr txBox="1"/>
          <p:nvPr/>
        </p:nvSpPr>
        <p:spPr>
          <a:xfrm>
            <a:off x="5685775" y="668700"/>
            <a:ext cx="334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 Capítulo </a:t>
            </a:r>
            <a:r>
              <a:rPr lang="pt-BR" sz="1500"/>
              <a:t>2 AÇÃO SABERES INDÍGENAS NA ESCOLA, LINGUÍSTICA APLICADA E ETNOGRAFIA</a:t>
            </a:r>
            <a:endParaRPr sz="1500"/>
          </a:p>
        </p:txBody>
      </p:sp>
      <p:sp>
        <p:nvSpPr>
          <p:cNvPr id="258" name="Google Shape;258;p41"/>
          <p:cNvSpPr txBox="1"/>
          <p:nvPr/>
        </p:nvSpPr>
        <p:spPr>
          <a:xfrm>
            <a:off x="5685775" y="1786800"/>
            <a:ext cx="3345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2.1 O CONTEXTO DE PESQUISA: A AÇÃO SABERES INDÍGENAS NA ESCOLA JUNTO ÀS COMUNIDADES GUARANI, KAINGANG E LAKLÃNÕ-XOKLENG EM SANTA CATARINA</a:t>
            </a:r>
            <a:endParaRPr sz="1500"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75" y="264087"/>
            <a:ext cx="5216275" cy="48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265" name="Google Shape;265;p42"/>
          <p:cNvSpPr txBox="1"/>
          <p:nvPr/>
        </p:nvSpPr>
        <p:spPr>
          <a:xfrm>
            <a:off x="3956575" y="2368375"/>
            <a:ext cx="466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2.3 FUNDAMENTAÇÃO METODOLÓGICA: A PESQUISA ETNOGRÁFICA</a:t>
            </a:r>
            <a:endParaRPr sz="1500"/>
          </a:p>
        </p:txBody>
      </p:sp>
      <p:pic>
        <p:nvPicPr>
          <p:cNvPr id="266" name="Google Shape;266;p42"/>
          <p:cNvPicPr preferRelativeResize="0"/>
          <p:nvPr/>
        </p:nvPicPr>
        <p:blipFill rotWithShape="1">
          <a:blip r:embed="rId3">
            <a:alphaModFix/>
          </a:blip>
          <a:srcRect b="57735" l="0" r="0" t="0"/>
          <a:stretch/>
        </p:blipFill>
        <p:spPr>
          <a:xfrm>
            <a:off x="152400" y="0"/>
            <a:ext cx="3413924" cy="25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0" r="0" t="58342"/>
          <a:stretch/>
        </p:blipFill>
        <p:spPr>
          <a:xfrm>
            <a:off x="152400" y="2607620"/>
            <a:ext cx="3413924" cy="2535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/>
          <p:nvPr/>
        </p:nvSpPr>
        <p:spPr>
          <a:xfrm>
            <a:off x="3647450" y="81275"/>
            <a:ext cx="228000" cy="5062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2"/>
          <p:cNvSpPr txBox="1"/>
          <p:nvPr/>
        </p:nvSpPr>
        <p:spPr>
          <a:xfrm>
            <a:off x="5685775" y="668700"/>
            <a:ext cx="334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 Capítulo 2 AÇÃO SABERES INDÍGENAS NA ESCOLA, LINGUÍSTICA APLICADA E ETNOGRAFIA</a:t>
            </a:r>
            <a:endParaRPr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75" name="Google Shape;2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662" y="668700"/>
            <a:ext cx="5856675" cy="42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475" y="770300"/>
            <a:ext cx="5695025" cy="43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87" name="Google Shape;2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76200"/>
            <a:ext cx="3106062" cy="499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2750" y="935400"/>
            <a:ext cx="5519800" cy="33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294" name="Google Shape;2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248900"/>
            <a:ext cx="4206250" cy="46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idx="1" type="body"/>
          </p:nvPr>
        </p:nvSpPr>
        <p:spPr>
          <a:xfrm>
            <a:off x="311700" y="718800"/>
            <a:ext cx="85206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/>
              <a:t>Dissertação de mestrado: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7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 de Pesquisa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01" name="Google Shape;301;p47"/>
          <p:cNvSpPr txBox="1"/>
          <p:nvPr/>
        </p:nvSpPr>
        <p:spPr>
          <a:xfrm>
            <a:off x="4178550" y="1872750"/>
            <a:ext cx="46410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Repositório </a:t>
            </a:r>
            <a:r>
              <a:rPr lang="pt-BR" sz="1500">
                <a:solidFill>
                  <a:schemeClr val="dk2"/>
                </a:solidFill>
              </a:rPr>
              <a:t>Institucional</a:t>
            </a:r>
            <a:r>
              <a:rPr lang="pt-BR" sz="1500">
                <a:solidFill>
                  <a:schemeClr val="dk2"/>
                </a:solidFill>
              </a:rPr>
              <a:t> da UFPB - BDTD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Campus I João Pessoa Centro de Ciências Social Aplicada (CCSA)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2"/>
                </a:solidFill>
              </a:rPr>
              <a:t>Programa de Pós Graduação em Administração 29/02/2016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02" name="Google Shape;30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9688"/>
            <a:ext cx="3760026" cy="316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1150" y="3045300"/>
            <a:ext cx="4795800" cy="15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7"/>
          <p:cNvSpPr txBox="1"/>
          <p:nvPr/>
        </p:nvSpPr>
        <p:spPr>
          <a:xfrm>
            <a:off x="4191300" y="4528425"/>
            <a:ext cx="46155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https://repositorio.ufpb.br/jspui/handle/tede/8273?locale=pt_BR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05" name="Google Shape;305;p47"/>
          <p:cNvSpPr txBox="1"/>
          <p:nvPr/>
        </p:nvSpPr>
        <p:spPr>
          <a:xfrm>
            <a:off x="256550" y="1084575"/>
            <a:ext cx="857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O DEFICIENTE VISUAL E O ENSINO FUNDAMENTAL: UM ESTUDO ETNOGRÁFICO SOB A PERSPECTIVA DA PESQUISA TRANSFORMATIVA DO CONSUMIDOR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idx="1" type="body"/>
          </p:nvPr>
        </p:nvSpPr>
        <p:spPr>
          <a:xfrm>
            <a:off x="311700" y="751375"/>
            <a:ext cx="8520600" cy="3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/>
              <a:t>Dissertação de mestrado: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8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 de Pesquisa</a:t>
            </a:r>
            <a:endParaRPr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t/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12" name="Google Shape;312;p48"/>
          <p:cNvSpPr txBox="1"/>
          <p:nvPr/>
        </p:nvSpPr>
        <p:spPr>
          <a:xfrm>
            <a:off x="4612175" y="2853825"/>
            <a:ext cx="41601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Feito em uma ONG (atuante em educação de alunos com Deficiência Visual).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C</a:t>
            </a:r>
            <a:r>
              <a:rPr lang="pt-BR" sz="1600">
                <a:solidFill>
                  <a:schemeClr val="dk2"/>
                </a:solidFill>
              </a:rPr>
              <a:t>oletas de dados: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entrevistas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observações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13" name="Google Shape;31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6025"/>
            <a:ext cx="4572001" cy="248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/>
          <p:cNvPicPr preferRelativeResize="0"/>
          <p:nvPr/>
        </p:nvPicPr>
        <p:blipFill rotWithShape="1">
          <a:blip r:embed="rId4">
            <a:alphaModFix/>
          </a:blip>
          <a:srcRect b="0" l="0" r="0" t="11426"/>
          <a:stretch/>
        </p:blipFill>
        <p:spPr>
          <a:xfrm>
            <a:off x="4572000" y="1354925"/>
            <a:ext cx="4307100" cy="14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311700" y="626250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Dissertação de mestrado: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9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 de Pesquisa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21" name="Google Shape;321;p49"/>
          <p:cNvSpPr txBox="1"/>
          <p:nvPr/>
        </p:nvSpPr>
        <p:spPr>
          <a:xfrm>
            <a:off x="3849275" y="2753775"/>
            <a:ext cx="5099100" cy="20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 p</a:t>
            </a:r>
            <a:r>
              <a:rPr lang="pt-BR" sz="1600">
                <a:solidFill>
                  <a:schemeClr val="dk2"/>
                </a:solidFill>
              </a:rPr>
              <a:t>esquisa etnográfica</a:t>
            </a:r>
            <a:r>
              <a:rPr lang="pt-BR" sz="1600">
                <a:solidFill>
                  <a:schemeClr val="dk2"/>
                </a:solidFill>
              </a:rPr>
              <a:t> p</a:t>
            </a:r>
            <a:r>
              <a:rPr lang="pt-BR" sz="1600">
                <a:solidFill>
                  <a:schemeClr val="dk2"/>
                </a:solidFill>
              </a:rPr>
              <a:t>ossibilitou a </a:t>
            </a:r>
            <a:r>
              <a:rPr b="1" lang="pt-BR" sz="1600">
                <a:solidFill>
                  <a:schemeClr val="dk2"/>
                </a:solidFill>
              </a:rPr>
              <a:t>investigação dos serviços educacionais oferecidos durante o ensino fundamental com alunos com Deficiência Visual de uma ONG que trabalha na Paraíba</a:t>
            </a:r>
            <a:r>
              <a:rPr lang="pt-BR" sz="1600">
                <a:solidFill>
                  <a:schemeClr val="dk2"/>
                </a:solidFill>
              </a:rPr>
              <a:t>.</a:t>
            </a:r>
            <a:r>
              <a:rPr lang="pt-BR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22" name="Google Shape;322;p49"/>
          <p:cNvPicPr preferRelativeResize="0"/>
          <p:nvPr/>
        </p:nvPicPr>
        <p:blipFill rotWithShape="1">
          <a:blip r:embed="rId3">
            <a:alphaModFix/>
          </a:blip>
          <a:srcRect b="0" l="0" r="0" t="47589"/>
          <a:stretch/>
        </p:blipFill>
        <p:spPr>
          <a:xfrm>
            <a:off x="3882651" y="1460600"/>
            <a:ext cx="5099101" cy="1293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00" y="1027900"/>
            <a:ext cx="2903454" cy="3833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9"/>
          <p:cNvSpPr txBox="1"/>
          <p:nvPr/>
        </p:nvSpPr>
        <p:spPr>
          <a:xfrm>
            <a:off x="3849275" y="972388"/>
            <a:ext cx="36906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Tipo de Estudo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>
            <p:ph idx="1" type="body"/>
          </p:nvPr>
        </p:nvSpPr>
        <p:spPr>
          <a:xfrm>
            <a:off x="311700" y="626250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Dissertação de mestrado: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0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 de Pesquisa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31" name="Google Shape;331;p50"/>
          <p:cNvSpPr txBox="1"/>
          <p:nvPr/>
        </p:nvSpPr>
        <p:spPr>
          <a:xfrm>
            <a:off x="4893000" y="1085475"/>
            <a:ext cx="40914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Coleta de dados em campo</a:t>
            </a:r>
            <a:r>
              <a:rPr lang="pt-BR" sz="1700">
                <a:solidFill>
                  <a:schemeClr val="dk2"/>
                </a:solidFill>
              </a:rPr>
              <a:t>: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16 Entrevistas com alunos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</a:t>
            </a:r>
            <a:r>
              <a:rPr lang="pt-BR">
                <a:solidFill>
                  <a:schemeClr val="dk2"/>
                </a:solidFill>
              </a:rPr>
              <a:t>6 Entrevista em Profundidades com Gestores e Professores da ONG.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05 Entrevistas com Responsáveis dos alunos</a:t>
            </a:r>
            <a:r>
              <a:rPr lang="pt-BR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07 Meses de</a:t>
            </a:r>
            <a:r>
              <a:rPr lang="pt-BR">
                <a:solidFill>
                  <a:schemeClr val="dk2"/>
                </a:solidFill>
              </a:rPr>
              <a:t> observações aos participantes.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32" name="Google Shape;332;p50"/>
          <p:cNvPicPr preferRelativeResize="0"/>
          <p:nvPr/>
        </p:nvPicPr>
        <p:blipFill rotWithShape="1">
          <a:blip r:embed="rId3">
            <a:alphaModFix/>
          </a:blip>
          <a:srcRect b="0" l="0" r="0" t="20792"/>
          <a:stretch/>
        </p:blipFill>
        <p:spPr>
          <a:xfrm>
            <a:off x="311700" y="1494687"/>
            <a:ext cx="4270176" cy="1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49388"/>
            <a:ext cx="5708525" cy="17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0"/>
          <p:cNvSpPr txBox="1"/>
          <p:nvPr/>
        </p:nvSpPr>
        <p:spPr>
          <a:xfrm>
            <a:off x="311700" y="1085475"/>
            <a:ext cx="36906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Coleta e Organização de Dados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340" name="Google Shape;34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25" y="911250"/>
            <a:ext cx="7749128" cy="41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1"/>
          <p:cNvSpPr txBox="1"/>
          <p:nvPr/>
        </p:nvSpPr>
        <p:spPr>
          <a:xfrm>
            <a:off x="0" y="583975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Pesquisa feita no Consensus (IA - acadêmico) sobre teses de pesquisa etnográfica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Teses de doutorado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347" name="Google Shape;34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99" y="991275"/>
            <a:ext cx="6566500" cy="415222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2"/>
          <p:cNvSpPr txBox="1"/>
          <p:nvPr/>
        </p:nvSpPr>
        <p:spPr>
          <a:xfrm>
            <a:off x="0" y="593000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Classificação de teses de pesquisa etnográfica</a:t>
            </a:r>
            <a:r>
              <a:rPr lang="pt-BR" sz="1600">
                <a:solidFill>
                  <a:schemeClr val="dk2"/>
                </a:solidFill>
              </a:rPr>
              <a:t> feita pelo Consensus (IA - acadêmico) </a:t>
            </a:r>
            <a:endParaRPr/>
          </a:p>
        </p:txBody>
      </p:sp>
      <p:sp>
        <p:nvSpPr>
          <p:cNvPr id="349" name="Google Shape;349;p52"/>
          <p:cNvSpPr txBox="1"/>
          <p:nvPr/>
        </p:nvSpPr>
        <p:spPr>
          <a:xfrm>
            <a:off x="6996000" y="3638525"/>
            <a:ext cx="205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Referências</a:t>
            </a:r>
            <a:r>
              <a:rPr lang="pt-BR" sz="1600">
                <a:solidFill>
                  <a:schemeClr val="dk2"/>
                </a:solidFill>
              </a:rPr>
              <a:t> disponibilizadas na lista de </a:t>
            </a:r>
            <a:r>
              <a:rPr lang="pt-BR" sz="1600">
                <a:solidFill>
                  <a:schemeClr val="dk2"/>
                </a:solidFill>
              </a:rPr>
              <a:t>referências recomendadas para aprofundamento.</a:t>
            </a:r>
            <a:r>
              <a:rPr lang="pt-BR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Aplicação no TCC - Mariana de Sá R. Silva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55" name="Google Shape;355;p53"/>
          <p:cNvSpPr txBox="1"/>
          <p:nvPr/>
        </p:nvSpPr>
        <p:spPr>
          <a:xfrm>
            <a:off x="175950" y="710550"/>
            <a:ext cx="8792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Temática:</a:t>
            </a:r>
            <a:r>
              <a:rPr lang="pt-BR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 inserção da Educação Ambiental como ferramenta de gestão para a sustentabilidade de condomínios de habitação de interesse social - HIS de baixa renda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Justificativa:</a:t>
            </a:r>
            <a:endParaRPr b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 educação ambiental é fundamental para que as pessoas compreendam a importância de uma ocupação humana com menos impactos ambientais; que contribua, a parte da sustentabilidade planetária, à sua própria sustentabilidade, em se tratando de HIS de baixa renda; além da formação cidadã e a luta pela garantia do direito à moradia digna.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Referencial Teórico: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Educação Ambiental Crítica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Sustentabilidade em HIS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Aplicação no TCC - Mariana de Sá R. Silva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61" name="Google Shape;361;p54"/>
          <p:cNvSpPr txBox="1"/>
          <p:nvPr/>
        </p:nvSpPr>
        <p:spPr>
          <a:xfrm>
            <a:off x="190500" y="602025"/>
            <a:ext cx="8763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Etnografia crítica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Objetivo: </a:t>
            </a:r>
            <a:r>
              <a:rPr lang="pt-BR" sz="1600">
                <a:solidFill>
                  <a:schemeClr val="dk2"/>
                </a:solidFill>
              </a:rPr>
              <a:t>Investigar como a Educação Ambiental se encontra inserida na Ocupação Mariguella (Palhoça-SC) 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Contexto: 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Ocupação Mariguella (a confirmar, pois o projeto terá que ser aceito pela comunidade e Comitê de Ética na Pesquisa)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Educação Ambiental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Coleta de dados: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Histórico da ocupação por meio de arquivo de documentos (contextualização e categorias de análise).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Observação participante em reuniões e eventos da comunidade durante o período de fevereiro (carnaval) à junho (festa junina) (análise de discursos - </a:t>
            </a:r>
            <a:r>
              <a:rPr lang="pt-BR" sz="1600">
                <a:solidFill>
                  <a:schemeClr val="dk2"/>
                </a:solidFill>
              </a:rPr>
              <a:t>busca</a:t>
            </a:r>
            <a:r>
              <a:rPr lang="pt-BR" sz="1600">
                <a:solidFill>
                  <a:schemeClr val="dk2"/>
                </a:solidFill>
              </a:rPr>
              <a:t> por categorias a definir com base no referencial teórico)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Entrevista com pessoas chaves (se necessário)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Observação da infraestrutura física de equipamentos e mobiliários e os usos correspondentes (análise de artefatos, buscar por categorias/ref. teórico) 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Aplicação no TCC - Francisco S. S. Castro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67" name="Google Shape;367;p55"/>
          <p:cNvSpPr txBox="1"/>
          <p:nvPr/>
        </p:nvSpPr>
        <p:spPr>
          <a:xfrm>
            <a:off x="175950" y="710550"/>
            <a:ext cx="87921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Temática: </a:t>
            </a:r>
            <a:endParaRPr b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 Pesquisa da Educação Ambiental como ferramenta de estudo em uma região atingida por um Acidente Ambiental.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Justificativa:</a:t>
            </a:r>
            <a:endParaRPr b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 educação ambiental a serviço de uma cidade ou de uma determinada região, visando entender quais comportamentos foram adotados pelas pessoas. Logo após uma </a:t>
            </a:r>
            <a:r>
              <a:rPr lang="pt-BR" sz="1600">
                <a:solidFill>
                  <a:schemeClr val="dk2"/>
                </a:solidFill>
              </a:rPr>
              <a:t>catástrofe</a:t>
            </a:r>
            <a:r>
              <a:rPr lang="pt-BR" sz="1600">
                <a:solidFill>
                  <a:schemeClr val="dk2"/>
                </a:solidFill>
              </a:rPr>
              <a:t> natural.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Na busca do que foi observado e pensado, visando a prevenção e </a:t>
            </a:r>
            <a:r>
              <a:rPr lang="pt-BR" sz="1600">
                <a:solidFill>
                  <a:schemeClr val="dk2"/>
                </a:solidFill>
              </a:rPr>
              <a:t>redução dos impactos em</a:t>
            </a:r>
            <a:r>
              <a:rPr lang="pt-BR" sz="1600">
                <a:solidFill>
                  <a:schemeClr val="dk2"/>
                </a:solidFill>
              </a:rPr>
              <a:t> </a:t>
            </a:r>
            <a:r>
              <a:rPr lang="pt-BR" sz="1600">
                <a:solidFill>
                  <a:schemeClr val="dk2"/>
                </a:solidFill>
              </a:rPr>
              <a:t>possíveis</a:t>
            </a:r>
            <a:r>
              <a:rPr lang="pt-BR" sz="1600">
                <a:solidFill>
                  <a:schemeClr val="dk2"/>
                </a:solidFill>
              </a:rPr>
              <a:t> eventos eventos futuros, tais como; grandes volumes de chuva, enchentes, </a:t>
            </a:r>
            <a:r>
              <a:rPr lang="pt-BR" sz="1600">
                <a:solidFill>
                  <a:schemeClr val="dk2"/>
                </a:solidFill>
              </a:rPr>
              <a:t>deslizamentos</a:t>
            </a:r>
            <a:r>
              <a:rPr lang="pt-BR" sz="1600">
                <a:solidFill>
                  <a:schemeClr val="dk2"/>
                </a:solidFill>
              </a:rPr>
              <a:t> de terra, tornados ciclones entre outros.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Analisar o que está sendo feio ou pensado para redução dos impactos ambientais em Eventos Naturais de uma nova realidade.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Referencial Teórico: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50">
                <a:solidFill>
                  <a:schemeClr val="dk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Educação Ambiental na Prevenção de Desastres Naturais</a:t>
            </a:r>
            <a:r>
              <a:rPr lang="pt-BR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6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Aplicação no TCC - </a:t>
            </a:r>
            <a:r>
              <a:rPr lang="pt-BR" sz="2020">
                <a:solidFill>
                  <a:srgbClr val="38761D"/>
                </a:solidFill>
              </a:rPr>
              <a:t>Francisco S. S. Castro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73" name="Google Shape;373;p56"/>
          <p:cNvSpPr txBox="1"/>
          <p:nvPr/>
        </p:nvSpPr>
        <p:spPr>
          <a:xfrm>
            <a:off x="190500" y="602025"/>
            <a:ext cx="8763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Etnografia 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Objetivo:</a:t>
            </a:r>
            <a:r>
              <a:rPr lang="pt-BR" sz="1600">
                <a:solidFill>
                  <a:schemeClr val="dk2"/>
                </a:solidFill>
              </a:rPr>
              <a:t> Pesquisa </a:t>
            </a:r>
            <a:r>
              <a:rPr lang="pt-BR" sz="1600">
                <a:solidFill>
                  <a:schemeClr val="dk2"/>
                </a:solidFill>
              </a:rPr>
              <a:t>científica</a:t>
            </a:r>
            <a:r>
              <a:rPr lang="pt-BR" sz="1600">
                <a:solidFill>
                  <a:schemeClr val="dk2"/>
                </a:solidFill>
              </a:rPr>
              <a:t> </a:t>
            </a:r>
            <a:r>
              <a:rPr lang="pt-BR" sz="1600">
                <a:solidFill>
                  <a:schemeClr val="dk2"/>
                </a:solidFill>
              </a:rPr>
              <a:t>Etnográfica</a:t>
            </a:r>
            <a:r>
              <a:rPr lang="pt-BR" sz="1600">
                <a:solidFill>
                  <a:schemeClr val="dk2"/>
                </a:solidFill>
              </a:rPr>
              <a:t> em uma cidade, região ou comunidade atingida por eventos de grande </a:t>
            </a:r>
            <a:r>
              <a:rPr lang="pt-BR" sz="1600">
                <a:solidFill>
                  <a:schemeClr val="dk2"/>
                </a:solidFill>
              </a:rPr>
              <a:t>magnitude, Ventos fortes, chuvas de grande volumes, enchentes ou deslizamentos de terra.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Contexto: 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A definir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Educação Ambiental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Coleta de dados:</a:t>
            </a:r>
            <a:endParaRPr b="1"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Pesquisas </a:t>
            </a:r>
            <a:r>
              <a:rPr lang="pt-BR" sz="1600">
                <a:solidFill>
                  <a:schemeClr val="dk2"/>
                </a:solidFill>
              </a:rPr>
              <a:t>Científicas de</a:t>
            </a:r>
            <a:r>
              <a:rPr lang="pt-BR" sz="1600">
                <a:solidFill>
                  <a:schemeClr val="dk2"/>
                </a:solidFill>
              </a:rPr>
              <a:t> histórico de grandes eventos naturais por meio de artigos, revistas e jornais. (categorias de análise).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Observação e mapeamento do dia a dia dos moradores que residem em possíveis </a:t>
            </a:r>
            <a:r>
              <a:rPr lang="pt-BR" sz="1600">
                <a:solidFill>
                  <a:schemeClr val="dk2"/>
                </a:solidFill>
              </a:rPr>
              <a:t>regiões</a:t>
            </a:r>
            <a:r>
              <a:rPr lang="pt-BR" sz="1600">
                <a:solidFill>
                  <a:schemeClr val="dk2"/>
                </a:solidFill>
              </a:rPr>
              <a:t> </a:t>
            </a:r>
            <a:r>
              <a:rPr lang="pt-BR" sz="1600">
                <a:solidFill>
                  <a:schemeClr val="dk2"/>
                </a:solidFill>
              </a:rPr>
              <a:t>vulneráveis</a:t>
            </a:r>
            <a:r>
              <a:rPr lang="pt-BR" sz="1600">
                <a:solidFill>
                  <a:schemeClr val="dk2"/>
                </a:solidFill>
              </a:rPr>
              <a:t> a esses eventos (local a definir).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Entrevista com pessoas da região (a definir)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pt-BR" sz="1600">
                <a:solidFill>
                  <a:schemeClr val="dk2"/>
                </a:solidFill>
              </a:rPr>
              <a:t>Observação e </a:t>
            </a:r>
            <a:r>
              <a:rPr lang="pt-BR" sz="1600">
                <a:solidFill>
                  <a:schemeClr val="dk2"/>
                </a:solidFill>
              </a:rPr>
              <a:t>catalogação</a:t>
            </a:r>
            <a:r>
              <a:rPr lang="pt-BR" sz="1600">
                <a:solidFill>
                  <a:schemeClr val="dk2"/>
                </a:solidFill>
              </a:rPr>
              <a:t> do que já foi feito visando a prevenção para redução dos impactos em novos eventos (análise de plano de contingência, ou de emergência). 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/>
          <p:nvPr>
            <p:ph idx="1" type="body"/>
          </p:nvPr>
        </p:nvSpPr>
        <p:spPr>
          <a:xfrm>
            <a:off x="2403700" y="718800"/>
            <a:ext cx="6428700" cy="3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/>
              <a:t>Artigo Revista Brasileira de Enfermagem - REBEn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7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Exemplos de Pesquisa Correlato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80" name="Google Shape;380;p57"/>
          <p:cNvSpPr txBox="1"/>
          <p:nvPr/>
        </p:nvSpPr>
        <p:spPr>
          <a:xfrm>
            <a:off x="2403700" y="3322350"/>
            <a:ext cx="63279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“Observação de Pessoas em Situação de Rua”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81" name="Google Shape;38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4914" y="1302900"/>
            <a:ext cx="6306273" cy="19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50" y="846950"/>
            <a:ext cx="2171244" cy="386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7"/>
          <p:cNvSpPr txBox="1"/>
          <p:nvPr/>
        </p:nvSpPr>
        <p:spPr>
          <a:xfrm>
            <a:off x="3205775" y="4000975"/>
            <a:ext cx="51018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https://www.scielo.br/j/reben/a/KWMynKfjZFGHqFDvjPJQqTz/?lang=pt&amp;format=pdf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8"/>
          <p:cNvSpPr txBox="1"/>
          <p:nvPr>
            <p:ph idx="1" type="body"/>
          </p:nvPr>
        </p:nvSpPr>
        <p:spPr>
          <a:xfrm>
            <a:off x="3560275" y="717450"/>
            <a:ext cx="5271900" cy="37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/>
              <a:t>Artigo Revista Brasileira de Enfermagem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8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Exemplos de pesquisa Correlato</a:t>
            </a:r>
            <a:endParaRPr sz="2020">
              <a:solidFill>
                <a:srgbClr val="38761D"/>
              </a:solidFill>
            </a:endParaRPr>
          </a:p>
        </p:txBody>
      </p:sp>
      <p:pic>
        <p:nvPicPr>
          <p:cNvPr id="390" name="Google Shape;39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50" y="767925"/>
            <a:ext cx="3389284" cy="370859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8"/>
          <p:cNvSpPr txBox="1"/>
          <p:nvPr/>
        </p:nvSpPr>
        <p:spPr>
          <a:xfrm>
            <a:off x="3594625" y="2250275"/>
            <a:ext cx="49890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Objetivo: analisar o viver das pessoas de rua em tempos de pandemia da COVID-19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2"/>
                </a:solidFill>
              </a:rPr>
              <a:t>Pesquisa etnográfica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Utilizaram-se três tipos de coletas de dados: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pt-BR" sz="1500">
                <a:solidFill>
                  <a:schemeClr val="dk2"/>
                </a:solidFill>
              </a:rPr>
              <a:t>Entrevistas</a:t>
            </a:r>
            <a:endParaRPr sz="3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pt-BR" sz="1500">
                <a:solidFill>
                  <a:schemeClr val="dk2"/>
                </a:solidFill>
              </a:rPr>
              <a:t>Observações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pt-BR" sz="1500">
                <a:solidFill>
                  <a:schemeClr val="dk2"/>
                </a:solidFill>
              </a:rPr>
              <a:t>Coleta de dados por meios de Revistas e Jornais de grande circulação.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92" name="Google Shape;39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7250" y="1131225"/>
            <a:ext cx="5137950" cy="102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9"/>
          <p:cNvSpPr txBox="1"/>
          <p:nvPr>
            <p:ph idx="1" type="body"/>
          </p:nvPr>
        </p:nvSpPr>
        <p:spPr>
          <a:xfrm>
            <a:off x="311700" y="626250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Artigo Revista Brasileira de Enfermagem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9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Exemplos de pesquisa Correlato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399" name="Google Shape;399;p59"/>
          <p:cNvSpPr txBox="1"/>
          <p:nvPr/>
        </p:nvSpPr>
        <p:spPr>
          <a:xfrm>
            <a:off x="3677950" y="2571750"/>
            <a:ext cx="5435700" cy="20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Instrumentos de :</a:t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Diário de Campo (Utilizado para anotações gerais das observações)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Notícia</a:t>
            </a:r>
            <a:r>
              <a:rPr lang="pt-BR" sz="1600">
                <a:solidFill>
                  <a:schemeClr val="dk2"/>
                </a:solidFill>
              </a:rPr>
              <a:t> de Jornal e Revistas (</a:t>
            </a:r>
            <a:r>
              <a:rPr lang="pt-BR" sz="1600">
                <a:solidFill>
                  <a:schemeClr val="dk2"/>
                </a:solidFill>
              </a:rPr>
              <a:t>Matérias</a:t>
            </a:r>
            <a:r>
              <a:rPr lang="pt-BR" sz="1600">
                <a:solidFill>
                  <a:schemeClr val="dk2"/>
                </a:solidFill>
              </a:rPr>
              <a:t> e entrevistas da </a:t>
            </a:r>
            <a:r>
              <a:rPr lang="pt-BR" sz="1600">
                <a:solidFill>
                  <a:schemeClr val="dk2"/>
                </a:solidFill>
              </a:rPr>
              <a:t>imprensa</a:t>
            </a:r>
            <a:r>
              <a:rPr lang="pt-BR" sz="1600">
                <a:solidFill>
                  <a:schemeClr val="dk2"/>
                </a:solidFill>
              </a:rPr>
              <a:t>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Roteiro de entrevista semiestruturada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400" name="Google Shape;40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1002"/>
            <a:ext cx="3057899" cy="396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950" y="1153700"/>
            <a:ext cx="4993250" cy="12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0"/>
          <p:cNvSpPr txBox="1"/>
          <p:nvPr>
            <p:ph idx="1" type="body"/>
          </p:nvPr>
        </p:nvSpPr>
        <p:spPr>
          <a:xfrm>
            <a:off x="311700" y="626250"/>
            <a:ext cx="8520600" cy="38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Artigo Revista Brasileira de Enfermagem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0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rPr lang="pt-BR" sz="2020">
                <a:solidFill>
                  <a:srgbClr val="38761D"/>
                </a:solidFill>
              </a:rPr>
              <a:t>Exemplos de Pesquisa Correlato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08" name="Google Shape;408;p60"/>
          <p:cNvSpPr txBox="1"/>
          <p:nvPr/>
        </p:nvSpPr>
        <p:spPr>
          <a:xfrm>
            <a:off x="3485950" y="2751775"/>
            <a:ext cx="54357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Tempo de Observação</a:t>
            </a:r>
            <a:r>
              <a:rPr lang="pt-BR" sz="1600">
                <a:solidFill>
                  <a:schemeClr val="dk2"/>
                </a:solidFill>
              </a:rPr>
              <a:t>: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pt-BR" sz="1600">
                <a:solidFill>
                  <a:schemeClr val="dk2"/>
                </a:solidFill>
              </a:rPr>
              <a:t>15 horas de observações</a:t>
            </a:r>
            <a:endParaRPr sz="16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Sendo que as observações foram feitas uma hora por dia durante 15 dias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Seguido de anotações e diário de campo.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Paralelo as observações; feitas as entrevistas com pessoas em situação de rua.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09" name="Google Shape;40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7100" y="1074550"/>
            <a:ext cx="4993425" cy="16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500" y="977900"/>
            <a:ext cx="3041475" cy="393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>
            <p:ph idx="1" type="body"/>
          </p:nvPr>
        </p:nvSpPr>
        <p:spPr>
          <a:xfrm>
            <a:off x="226975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pt-BR"/>
              <a:t>E</a:t>
            </a:r>
            <a:r>
              <a:rPr lang="pt-BR"/>
              <a:t>studo antropológico sobre a </a:t>
            </a:r>
            <a:r>
              <a:rPr b="1" lang="pt-BR"/>
              <a:t>realidade da periferia</a:t>
            </a:r>
            <a:r>
              <a:rPr lang="pt-BR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pt-BR"/>
              <a:t>A partir de meados déc. 60 (pós golpe militar) -   novos atores políticos - moradores e suas associações - </a:t>
            </a:r>
            <a:r>
              <a:rPr b="1" lang="pt-BR"/>
              <a:t>bairros de periferia</a:t>
            </a:r>
            <a:r>
              <a:rPr lang="pt-BR"/>
              <a:t> - cenário de </a:t>
            </a:r>
            <a:r>
              <a:rPr b="1" lang="pt-BR"/>
              <a:t>reivindicações por melhores condições de vida e equipamentos urbanos</a:t>
            </a:r>
            <a:r>
              <a:rPr lang="pt-BR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pt-BR"/>
              <a:t>Núcleo de Antropologia Urbana da Universidade de São Paulo (NAU)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pt-BR"/>
              <a:t>A cidade, mais do que um mero cenário onde transcorre a ação social, é o resultado das práticas, intervenções e modificações impostas pelos diferentes atores  - Análise sobre os atores sociais, o grupo e a prática que estão sendo estudados e sobre a paisagem em que essa prática se desenvolve, como parte constitutiva do recorte de estudo (Magnani, 2029).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/>
          </a:p>
        </p:txBody>
      </p:sp>
      <p:sp>
        <p:nvSpPr>
          <p:cNvPr id="416" name="Google Shape;416;p61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Problemas Correlatos</a:t>
            </a:r>
            <a:endParaRPr sz="202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2"/>
          <p:cNvSpPr txBox="1"/>
          <p:nvPr>
            <p:ph type="title"/>
          </p:nvPr>
        </p:nvSpPr>
        <p:spPr>
          <a:xfrm>
            <a:off x="0" y="-5010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Concluindo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22" name="Google Shape;422;p62"/>
          <p:cNvSpPr txBox="1"/>
          <p:nvPr/>
        </p:nvSpPr>
        <p:spPr>
          <a:xfrm>
            <a:off x="385050" y="782700"/>
            <a:ext cx="8373900" cy="3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 Pesquisa Etnográfica é importante para </a:t>
            </a:r>
            <a:r>
              <a:rPr b="1" lang="pt-BR" sz="1800">
                <a:solidFill>
                  <a:schemeClr val="dk2"/>
                </a:solidFill>
              </a:rPr>
              <a:t>compreender e retratar diferentes grupos</a:t>
            </a:r>
            <a:r>
              <a:rPr lang="pt-BR" sz="1800">
                <a:solidFill>
                  <a:schemeClr val="dk2"/>
                </a:solidFill>
              </a:rPr>
              <a:t>, pois passa-se a conhecer o grupo a partir de um determinado assunto selecionado.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Nos exemplos citados, foi </a:t>
            </a:r>
            <a:r>
              <a:rPr lang="pt-BR" sz="1800">
                <a:solidFill>
                  <a:schemeClr val="dk2"/>
                </a:solidFill>
              </a:rPr>
              <a:t>possível</a:t>
            </a:r>
            <a:r>
              <a:rPr lang="pt-BR" sz="1800">
                <a:solidFill>
                  <a:schemeClr val="dk2"/>
                </a:solidFill>
              </a:rPr>
              <a:t> observar que, </a:t>
            </a:r>
            <a:r>
              <a:rPr lang="pt-BR" sz="1800">
                <a:solidFill>
                  <a:schemeClr val="dk2"/>
                </a:solidFill>
              </a:rPr>
              <a:t>independente</a:t>
            </a:r>
            <a:r>
              <a:rPr lang="pt-BR" sz="1800">
                <a:solidFill>
                  <a:schemeClr val="dk2"/>
                </a:solidFill>
              </a:rPr>
              <a:t> do grupo que for se realizar uma p</a:t>
            </a:r>
            <a:r>
              <a:rPr lang="pt-BR" sz="1800">
                <a:solidFill>
                  <a:schemeClr val="dk2"/>
                </a:solidFill>
              </a:rPr>
              <a:t>esquisa etnográfica </a:t>
            </a:r>
            <a:r>
              <a:rPr lang="pt-BR" sz="1800">
                <a:solidFill>
                  <a:schemeClr val="dk2"/>
                </a:solidFill>
              </a:rPr>
              <a:t>e do assunto que seja abordado na pesquisa, os</a:t>
            </a:r>
            <a:r>
              <a:rPr lang="pt-BR" sz="1800">
                <a:solidFill>
                  <a:schemeClr val="dk2"/>
                </a:solidFill>
              </a:rPr>
              <a:t> métodos para compreender os comportamentos sob a perspectiva abordada são os mesmos</a:t>
            </a:r>
            <a:r>
              <a:rPr lang="pt-BR" sz="1800">
                <a:solidFill>
                  <a:schemeClr val="dk2"/>
                </a:solidFill>
              </a:rPr>
              <a:t>: </a:t>
            </a:r>
            <a:r>
              <a:rPr b="1" lang="pt-BR" sz="1800">
                <a:solidFill>
                  <a:schemeClr val="dk2"/>
                </a:solidFill>
              </a:rPr>
              <a:t>a imersão profunda na realidade dos sujeitos e a observação participante.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3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</a:t>
            </a:r>
            <a:r>
              <a:rPr lang="pt-BR" sz="2020">
                <a:solidFill>
                  <a:srgbClr val="38761D"/>
                </a:solidFill>
              </a:rPr>
              <a:t> Bibliográficas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28" name="Google Shape;428;p63"/>
          <p:cNvSpPr txBox="1"/>
          <p:nvPr/>
        </p:nvSpPr>
        <p:spPr>
          <a:xfrm>
            <a:off x="366450" y="791400"/>
            <a:ext cx="8411100" cy="3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ANDRÉ, Marli. </a:t>
            </a:r>
            <a:r>
              <a:rPr b="1" lang="pt-BR">
                <a:solidFill>
                  <a:schemeClr val="dk2"/>
                </a:solidFill>
              </a:rPr>
              <a:t>Etnografia da prática escolar</a:t>
            </a:r>
            <a:r>
              <a:rPr lang="pt-BR">
                <a:solidFill>
                  <a:schemeClr val="dk2"/>
                </a:solidFill>
              </a:rPr>
              <a:t>. Campinas, SP: Papirus, 2012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ANGROSINO, M. </a:t>
            </a:r>
            <a:r>
              <a:rPr b="1" lang="pt-BR">
                <a:solidFill>
                  <a:schemeClr val="dk2"/>
                </a:solidFill>
              </a:rPr>
              <a:t>Etnografia e observação participante</a:t>
            </a:r>
            <a:r>
              <a:rPr lang="pt-BR">
                <a:solidFill>
                  <a:schemeClr val="dk2"/>
                </a:solidFill>
              </a:rPr>
              <a:t>. Porto Alegre, RS: Artmed, 2009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ATAÍDES, Fernanda Barros; DE OLIVEIRA, Guilherme Saramago; DE FREITAS SILVA, Anair Araújo. A etnografia: uma perspectiva metodológica de investigação qualitativa. </a:t>
            </a:r>
            <a:r>
              <a:rPr b="1" lang="pt-BR">
                <a:solidFill>
                  <a:schemeClr val="dk2"/>
                </a:solidFill>
              </a:rPr>
              <a:t>Cadernos da FUCAMP</a:t>
            </a:r>
            <a:r>
              <a:rPr lang="pt-BR">
                <a:solidFill>
                  <a:schemeClr val="dk2"/>
                </a:solidFill>
              </a:rPr>
              <a:t>, v. 20, n. 48, 2021.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COELHO, Pedro Felipe da Costa. O deficiente visual e o ensino fundamental: um estudo etnográfico sob a perspectiva da pesquisa transformativa do consumidor. 2016. 127 f. Dissertação (Mestrado em Administração) - Universidade Federal da Paraíba, João Pessoa, 2016.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GUEROLA, Carlos Maroto et al. " Se nós não fosse guerreio nós não existia mais aqui": ensino-aprendizagem de línguas para fortalecimento da luta Guarani, Kaingang e Laklãnõ-Xokleng.  Tese submetida ao Programa de </a:t>
            </a:r>
            <a:r>
              <a:rPr lang="pt-BR">
                <a:solidFill>
                  <a:schemeClr val="dk2"/>
                </a:solidFill>
              </a:rPr>
              <a:t>Pós Graduação</a:t>
            </a:r>
            <a:r>
              <a:rPr lang="pt-BR">
                <a:solidFill>
                  <a:schemeClr val="dk2"/>
                </a:solidFill>
              </a:rPr>
              <a:t> em Linguística da Universidade Federal de Santa Catarina para a obtenção do Grau de Doutor em Linguística. Orientadora: Profa. Dra. Maria Inêz Probst Lucena.. 2017.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4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 Bibliográficas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34" name="Google Shape;434;p64"/>
          <p:cNvSpPr txBox="1"/>
          <p:nvPr/>
        </p:nvSpPr>
        <p:spPr>
          <a:xfrm>
            <a:off x="292900" y="718800"/>
            <a:ext cx="8411100" cy="4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MAGNANI, José Guilherme Cantor. Etnografia como prática e experiência. </a:t>
            </a:r>
            <a:r>
              <a:rPr b="1" lang="pt-BR">
                <a:solidFill>
                  <a:schemeClr val="dk2"/>
                </a:solidFill>
              </a:rPr>
              <a:t>Horizontes antropológicos</a:t>
            </a:r>
            <a:r>
              <a:rPr lang="pt-BR">
                <a:solidFill>
                  <a:schemeClr val="dk2"/>
                </a:solidFill>
              </a:rPr>
              <a:t>, v. 15, n. 32, p. 129-156, 2009.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MATTOS, Carmen Lúcia Guimarães. Estudos etnográficos da educação: uma revisão de tendências no Brasil. In MATTOS, Carmen Lúcia Guimarães; CASTRO, Paula Almeida. </a:t>
            </a:r>
            <a:r>
              <a:rPr b="1" lang="pt-BR">
                <a:solidFill>
                  <a:schemeClr val="dk2"/>
                </a:solidFill>
              </a:rPr>
              <a:t>Etnografia e educação: conceitos e usos</a:t>
            </a:r>
            <a:r>
              <a:rPr lang="pt-BR">
                <a:solidFill>
                  <a:schemeClr val="dk2"/>
                </a:solidFill>
              </a:rPr>
              <a:t>. Campina Grande, PB: EDUEPB, 2011.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_____, Carmen Lúcia Guimarães. A abordagem etnográfica na investigação científica. In MATTOS, Carmen Lúcia Guimarães; CASTRO, Paula Almeida. </a:t>
            </a:r>
            <a:r>
              <a:rPr b="1" lang="pt-BR">
                <a:solidFill>
                  <a:schemeClr val="dk2"/>
                </a:solidFill>
              </a:rPr>
              <a:t>Etnografia e educação: conceitos e usos</a:t>
            </a:r>
            <a:r>
              <a:rPr lang="pt-BR">
                <a:solidFill>
                  <a:schemeClr val="dk2"/>
                </a:solidFill>
              </a:rPr>
              <a:t>. Campina Grande, PB: EDUEPB, 2011b.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MINAYO, Maria Cecília de Souza. O Desafio do Conhecimento: Pesquisa Qualitativa em Saúde. 8ª ed. São Paulo: Hucitec, 2014.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chemeClr val="dk2"/>
                </a:solidFill>
              </a:rPr>
              <a:t>PAULA, Hermes Candido de et al. Sem isolamento: etnografia de pessoas em situação de rua na pandemia de COVID-19. </a:t>
            </a:r>
            <a:r>
              <a:rPr b="1" lang="pt-BR">
                <a:solidFill>
                  <a:schemeClr val="dk2"/>
                </a:solidFill>
              </a:rPr>
              <a:t>Revista Brasileira de Enfermagem</a:t>
            </a:r>
            <a:r>
              <a:rPr lang="pt-BR">
                <a:solidFill>
                  <a:schemeClr val="dk2"/>
                </a:solidFill>
              </a:rPr>
              <a:t>, v. 73, p. e20200489, 2020. Disponível em: </a:t>
            </a:r>
            <a:r>
              <a:rPr lang="pt-BR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https://www.scielo.br/j/reben/a/KWMynKfjZFGHqFDvjPJQqTz/?lang=pt&amp;format=pdf</a:t>
            </a:r>
            <a:r>
              <a:rPr lang="pt-BR">
                <a:solidFill>
                  <a:schemeClr val="dk2"/>
                </a:solidFill>
              </a:rPr>
              <a:t> Acesso em: 16/09/2026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5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 Bibliográficas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40" name="Google Shape;440;p65"/>
          <p:cNvSpPr txBox="1"/>
          <p:nvPr/>
        </p:nvSpPr>
        <p:spPr>
          <a:xfrm>
            <a:off x="305000" y="791400"/>
            <a:ext cx="8411100" cy="18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PEIRANO, Mariza. A favor da etnografia. </a:t>
            </a:r>
            <a:r>
              <a:rPr b="1" lang="pt-BR">
                <a:solidFill>
                  <a:schemeClr val="dk2"/>
                </a:solidFill>
              </a:rPr>
              <a:t>Série Antropologia 130 Universidade de Brasília</a:t>
            </a:r>
            <a:r>
              <a:rPr lang="pt-BR">
                <a:solidFill>
                  <a:schemeClr val="dk2"/>
                </a:solidFill>
              </a:rPr>
              <a:t>. Instituto de Ciências Humanas, Departamento de Antropologia, 1992.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_____, Mariza. Etnografia, ou a teoria vivida. Ponto Urbe. </a:t>
            </a:r>
            <a:r>
              <a:rPr b="1" lang="pt-BR">
                <a:solidFill>
                  <a:schemeClr val="dk2"/>
                </a:solidFill>
              </a:rPr>
              <a:t>Revista do núcleo de antropologia urbana da USP,</a:t>
            </a:r>
            <a:r>
              <a:rPr lang="pt-BR">
                <a:solidFill>
                  <a:schemeClr val="dk2"/>
                </a:solidFill>
              </a:rPr>
              <a:t> n. 2, 2008.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pt-BR">
                <a:solidFill>
                  <a:schemeClr val="dk2"/>
                </a:solidFill>
              </a:rPr>
              <a:t>PEREIRA, Alexandre Barbosa. Quando começa ou termina uma pesquisa? Em defesa de um antimanual de etnografia. </a:t>
            </a:r>
            <a:r>
              <a:rPr b="1" lang="pt-BR">
                <a:solidFill>
                  <a:schemeClr val="dk2"/>
                </a:solidFill>
              </a:rPr>
              <a:t>Revista Pós Ciências Sociais</a:t>
            </a:r>
            <a:r>
              <a:rPr lang="pt-BR">
                <a:solidFill>
                  <a:schemeClr val="dk2"/>
                </a:solidFill>
              </a:rPr>
              <a:t>, v. 19, n. 2, p. 307-328, 2022.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6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 recomendadas para aprofundamento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46" name="Google Shape;446;p66"/>
          <p:cNvSpPr txBox="1"/>
          <p:nvPr/>
        </p:nvSpPr>
        <p:spPr>
          <a:xfrm>
            <a:off x="232375" y="815700"/>
            <a:ext cx="8532300" cy="4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ANDREASSEN, Pernille; CHRISTENSEN, Mette K.; MØLLER, Jane E. Focused ethnography as an approach in medical education research. </a:t>
            </a:r>
            <a:r>
              <a:rPr b="1" lang="pt-BR">
                <a:solidFill>
                  <a:schemeClr val="dk2"/>
                </a:solidFill>
              </a:rPr>
              <a:t>Medical Education</a:t>
            </a:r>
            <a:r>
              <a:rPr lang="pt-BR">
                <a:solidFill>
                  <a:schemeClr val="dk2"/>
                </a:solidFill>
              </a:rPr>
              <a:t>, v. 54, n. 4, p. 296-302, 2020.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CLIFFORD, James. Sobre a autoridade etnográfica. In: CLIFFORD, J. </a:t>
            </a:r>
            <a:r>
              <a:rPr b="1" lang="pt-BR">
                <a:solidFill>
                  <a:schemeClr val="dk2"/>
                </a:solidFill>
              </a:rPr>
              <a:t>A experiência etnográfica: antropologia e literatura no século XX.</a:t>
            </a:r>
            <a:r>
              <a:rPr lang="pt-BR">
                <a:solidFill>
                  <a:schemeClr val="dk2"/>
                </a:solidFill>
              </a:rPr>
              <a:t> Rio de Janeiro: Editora UFRJ, 1998. p. 17-62.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CUNHA, J. A. C.; RIBEIRO, E. M. S. A Etnografia como estratégia de pesquisa interdisciplinar para estudos organizacionais. </a:t>
            </a:r>
            <a:r>
              <a:rPr b="1" lang="pt-BR">
                <a:solidFill>
                  <a:schemeClr val="dk2"/>
                </a:solidFill>
              </a:rPr>
              <a:t>Qualitas Revista Eletrônica</a:t>
            </a:r>
            <a:r>
              <a:rPr lang="pt-BR">
                <a:solidFill>
                  <a:schemeClr val="dk2"/>
                </a:solidFill>
              </a:rPr>
              <a:t>, Campina Grande, PB, v. 9, n. 2, p. 1-17, 2010.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DAMATTA, R. O ofício do etnólogo, ou como ter “anthropological blues”. In: DAMATTA, R. </a:t>
            </a:r>
            <a:r>
              <a:rPr b="1" lang="pt-BR">
                <a:solidFill>
                  <a:schemeClr val="dk2"/>
                </a:solidFill>
              </a:rPr>
              <a:t>Relativizando: uma introdução à antropologia social</a:t>
            </a:r>
            <a:r>
              <a:rPr lang="pt-BR">
                <a:solidFill>
                  <a:schemeClr val="dk2"/>
                </a:solidFill>
              </a:rPr>
              <a:t>. Petrópolis: Vozes, 1974. p. 150-173.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GODOY, A. S. Pesquisa qualitativa: tipos fundamentais. RAE - </a:t>
            </a:r>
            <a:r>
              <a:rPr b="1" lang="pt-BR">
                <a:solidFill>
                  <a:schemeClr val="dk2"/>
                </a:solidFill>
              </a:rPr>
              <a:t>Revista de Administração de Empresas</a:t>
            </a:r>
            <a:r>
              <a:rPr lang="pt-BR">
                <a:solidFill>
                  <a:schemeClr val="dk2"/>
                </a:solidFill>
              </a:rPr>
              <a:t>, São Paulo, SP, v. 35, n. 3, p. 20-29, mai./jun. 1995.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JENSEN, Lasse X. et al. Digital ethnography in higher education teaching and learning—a methodological review. </a:t>
            </a:r>
            <a:r>
              <a:rPr b="1" lang="pt-BR">
                <a:solidFill>
                  <a:schemeClr val="dk2"/>
                </a:solidFill>
              </a:rPr>
              <a:t>Higher Education</a:t>
            </a:r>
            <a:r>
              <a:rPr lang="pt-BR">
                <a:solidFill>
                  <a:schemeClr val="dk2"/>
                </a:solidFill>
              </a:rPr>
              <a:t>, v. 84, n. 5, p. 1143-1162, 2022.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LAKE, Jonathan. Autoethnography and reflective practice: Reconstructing the doctoral thesis experience. </a:t>
            </a:r>
            <a:r>
              <a:rPr b="1" lang="pt-BR">
                <a:solidFill>
                  <a:schemeClr val="dk2"/>
                </a:solidFill>
              </a:rPr>
              <a:t>Reflective Practice</a:t>
            </a:r>
            <a:r>
              <a:rPr lang="pt-BR">
                <a:solidFill>
                  <a:schemeClr val="dk2"/>
                </a:solidFill>
              </a:rPr>
              <a:t>, v. 16, n. 5, p. 677-687, 2015.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7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 recomendadas para aprofundamento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52" name="Google Shape;452;p67"/>
          <p:cNvSpPr txBox="1"/>
          <p:nvPr/>
        </p:nvSpPr>
        <p:spPr>
          <a:xfrm>
            <a:off x="220950" y="718800"/>
            <a:ext cx="8702100" cy="4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LARSSON, Staffan; BEACH, Dennis. On developments in ethnographic research. The case of two Swedish universities. In: </a:t>
            </a:r>
            <a:r>
              <a:rPr b="1" lang="pt-BR">
                <a:solidFill>
                  <a:schemeClr val="dk2"/>
                </a:solidFill>
              </a:rPr>
              <a:t>Nordic Educational Research Association Congress</a:t>
            </a:r>
            <a:r>
              <a:rPr lang="pt-BR">
                <a:solidFill>
                  <a:schemeClr val="dk2"/>
                </a:solidFill>
              </a:rPr>
              <a:t>, March 3-6, 2020, Turku, Finland. 2020.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LÓPEZ, G. L. O método etnográfico como um paradigma científico e sua aplicação na pesquisa. Textura - </a:t>
            </a:r>
            <a:r>
              <a:rPr b="1" lang="pt-BR">
                <a:solidFill>
                  <a:schemeClr val="dk2"/>
                </a:solidFill>
              </a:rPr>
              <a:t>Revista de Educação e Letras</a:t>
            </a:r>
            <a:r>
              <a:rPr lang="pt-BR">
                <a:solidFill>
                  <a:schemeClr val="dk2"/>
                </a:solidFill>
              </a:rPr>
              <a:t>, Canoas, RS, v.1, n. 1, p. 45-50, 2º sem. 1999.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</a:rPr>
              <a:t>MAGNANI, J. G. De perto e de dentro: notas para uma etnografia urbana. </a:t>
            </a:r>
            <a:r>
              <a:rPr b="1" lang="pt-BR">
                <a:solidFill>
                  <a:schemeClr val="dk2"/>
                </a:solidFill>
              </a:rPr>
              <a:t>Revista Brasileira de Ciências Sociais</a:t>
            </a:r>
            <a:r>
              <a:rPr lang="pt-BR">
                <a:solidFill>
                  <a:schemeClr val="dk2"/>
                </a:solidFill>
              </a:rPr>
              <a:t>, v. 17, n. 49, p. 11-29, 2002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PAUDEL, Tara; LUITEL, Bal Chandra; DAHAL, Niroj. Journey of realization and adaptation through auto/ethnography: A shift to transformative educational research. </a:t>
            </a:r>
            <a:r>
              <a:rPr b="1" lang="pt-BR">
                <a:solidFill>
                  <a:schemeClr val="dk2"/>
                </a:solidFill>
              </a:rPr>
              <a:t>The Qualitative Report</a:t>
            </a:r>
            <a:r>
              <a:rPr lang="pt-BR">
                <a:solidFill>
                  <a:schemeClr val="dk2"/>
                </a:solidFill>
              </a:rPr>
              <a:t>, v. 28, n. 4, p. 1017-1037, 2023.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POWELL, Darren. Critical ethnography in schools: Reflections on power, positionality, and privilege. </a:t>
            </a:r>
            <a:r>
              <a:rPr b="1" lang="pt-BR">
                <a:solidFill>
                  <a:schemeClr val="dk2"/>
                </a:solidFill>
              </a:rPr>
              <a:t>International Journal of Qualitative Studies in Education</a:t>
            </a:r>
            <a:r>
              <a:rPr lang="pt-BR">
                <a:solidFill>
                  <a:schemeClr val="dk2"/>
                </a:solidFill>
              </a:rPr>
              <a:t>, v. 35, n. 1, p. 18-31, 2022.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RASHID, Marghalara; HODGSON, Carol S.; LUIG, Thea. Ten tips for conducting focused ethnography in medical education research. </a:t>
            </a:r>
            <a:r>
              <a:rPr b="1" lang="pt-BR">
                <a:solidFill>
                  <a:schemeClr val="dk2"/>
                </a:solidFill>
              </a:rPr>
              <a:t>Medical education online</a:t>
            </a:r>
            <a:r>
              <a:rPr lang="pt-BR">
                <a:solidFill>
                  <a:schemeClr val="dk2"/>
                </a:solidFill>
              </a:rPr>
              <a:t>, v. 24, n. 1, p. 1624133, 2019.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8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pt-BR" sz="2020">
                <a:solidFill>
                  <a:srgbClr val="38761D"/>
                </a:solidFill>
              </a:rPr>
              <a:t>Referências recomendadas para aprofundamento</a:t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58" name="Google Shape;458;p68"/>
          <p:cNvSpPr txBox="1"/>
          <p:nvPr/>
        </p:nvSpPr>
        <p:spPr>
          <a:xfrm>
            <a:off x="220950" y="718800"/>
            <a:ext cx="87021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ROSA, M.; OREY, D. C. O campo de pesquisa em etnomodelagem: as abordagens êmica, ética e dialética. </a:t>
            </a:r>
            <a:r>
              <a:rPr b="1" lang="pt-BR">
                <a:solidFill>
                  <a:schemeClr val="dk2"/>
                </a:solidFill>
              </a:rPr>
              <a:t>Educação e Pesquisa</a:t>
            </a:r>
            <a:r>
              <a:rPr lang="pt-BR">
                <a:solidFill>
                  <a:schemeClr val="dk2"/>
                </a:solidFill>
              </a:rPr>
              <a:t>, Universidade Federal de Ouro Preto, MG, v. 38, n. 04, p. 865-879, out/dez., 2012.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SOUSA, L. B.; BARROSO, M. G. T. Pesquisa etnográfica: evolução e contribuição para a enfermagem. </a:t>
            </a:r>
            <a:r>
              <a:rPr b="1" lang="pt-BR">
                <a:solidFill>
                  <a:schemeClr val="dk2"/>
                </a:solidFill>
              </a:rPr>
              <a:t>Escola Anna Nery Revista de Enfermagem</a:t>
            </a:r>
            <a:r>
              <a:rPr lang="pt-BR">
                <a:solidFill>
                  <a:schemeClr val="dk2"/>
                </a:solidFill>
              </a:rPr>
              <a:t>, Universidade Federal do Rio de Janeiro, RJ, v. 12, n. 1, p. 150-155, mar., 2008.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VIGO-ARRAZOLA, Begoña; BEACH, Dennis. Promoting professional growth to build a socially just school through participation in ethnographic research.</a:t>
            </a:r>
            <a:r>
              <a:rPr b="1" lang="pt-BR">
                <a:solidFill>
                  <a:schemeClr val="dk2"/>
                </a:solidFill>
              </a:rPr>
              <a:t> Professional Development in Education</a:t>
            </a:r>
            <a:r>
              <a:rPr lang="pt-BR">
                <a:solidFill>
                  <a:schemeClr val="dk2"/>
                </a:solidFill>
              </a:rPr>
              <a:t>, v. 47, n. 1, p. 115-127, 2021.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“</a:t>
            </a:r>
            <a:r>
              <a:rPr b="1" lang="pt-BR"/>
              <a:t>Fazer etnografia </a:t>
            </a:r>
            <a:r>
              <a:rPr lang="pt-BR"/>
              <a:t>[...] </a:t>
            </a:r>
            <a:r>
              <a:rPr b="1" lang="pt-BR"/>
              <a:t>é dar voz a uma minoria silenciosa; </a:t>
            </a:r>
            <a:r>
              <a:rPr lang="pt-BR"/>
              <a:t>é caminhar em um mundo desconhecido; é abrir caminhos passando das contingências para a autodeterminação, para inclusão na escola, na vida social, no mundo da existência solidária e cidadã. Fazer etnografia é um pouco de doação de ciência, de dedicação e de alegria, de vigor e de mania, de estudo e de atenção.</a:t>
            </a:r>
            <a:r>
              <a:rPr b="1" lang="pt-BR"/>
              <a:t> Fazer etnografia é perceber o mundo estando presente no mundo do outro, que parece não existir mais</a:t>
            </a:r>
            <a:r>
              <a:rPr lang="pt-BR"/>
              <a:t>.” (Mattos, 2011, p.45)</a:t>
            </a:r>
            <a:endParaRPr/>
          </a:p>
        </p:txBody>
      </p:sp>
      <p:sp>
        <p:nvSpPr>
          <p:cNvPr id="464" name="Google Shape;464;p69"/>
          <p:cNvSpPr txBox="1"/>
          <p:nvPr>
            <p:ph type="title"/>
          </p:nvPr>
        </p:nvSpPr>
        <p:spPr>
          <a:xfrm>
            <a:off x="0" y="0"/>
            <a:ext cx="9144000" cy="7188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b="1" lang="pt-BR" sz="2020">
                <a:solidFill>
                  <a:srgbClr val="38761D"/>
                </a:solidFill>
              </a:rPr>
              <a:t>Pesquisa Etnográfica em Educação</a:t>
            </a:r>
            <a:endParaRPr b="1" sz="2020">
              <a:solidFill>
                <a:srgbClr val="38761D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10"/>
              <a:buFont typeface="Arial"/>
              <a:buNone/>
            </a:pPr>
            <a:r>
              <a:t/>
            </a:r>
            <a:endParaRPr sz="2020">
              <a:solidFill>
                <a:srgbClr val="38761D"/>
              </a:solidFill>
            </a:endParaRPr>
          </a:p>
        </p:txBody>
      </p:sp>
      <p:sp>
        <p:nvSpPr>
          <p:cNvPr id="465" name="Google Shape;465;p69"/>
          <p:cNvSpPr txBox="1"/>
          <p:nvPr/>
        </p:nvSpPr>
        <p:spPr>
          <a:xfrm>
            <a:off x="0" y="3896300"/>
            <a:ext cx="9144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</a:rPr>
              <a:t>Agradecida(o)</a:t>
            </a:r>
            <a:r>
              <a:rPr lang="pt-BR" sz="2000">
                <a:solidFill>
                  <a:schemeClr val="dk2"/>
                </a:solidFill>
              </a:rPr>
              <a:t>!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2"/>
                </a:solidFill>
              </a:rPr>
              <a:t>Boa Noite!</a:t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