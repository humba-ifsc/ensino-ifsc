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B26F514-C06C-492A-971C-1587E13DE2B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Apresentação voltada para alunos de graduação e pós-graduação.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Objetivo: Mostrar como construir um fluxo de pesquisa profissional para trabalhos acadêmicos (TCC/Artigos) na área de Educação Ambiental.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Foco nos três pilares: Descobrimento inteligente com IA, organização sistemática no Zotero e formatação rápida de citações e referências.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15B0E6-2CD2-4E1E-AC5F-3536D1C9F6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aos alunos que a IA Generativa (como o NotebookLM) não substitui a pesquisa nas bases de dados, mas atua como um assistente para construir a estratégia de busca ideal.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Mostre que combinar descritores conceituais (educação ambiental + reciclagem) com filtros metodológicos específicos (análise de conteúdo + Bardin) poupa tempo precioso e garante relevância acadêmica desde o primeiro dia de busca.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DB266D-053C-44DC-BA79-146C507F74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Foque em ensinar os formatos RIS e BibTeX para os estudantes.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Enfatize que o Zotero resolve o problema de perder links de referências, permitindo que os alunos arrastem os PDFs salvos para dentro do Zotero Desktop, o qual fará a leitura automática dos metadados bibliográficos.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Mencione que a Web Library permite visualizar e gerenciar, mas a instalação do aplicativo no PC é fundamental para escrever o trabalho.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B2C362-9881-4D5B-B85F-BA2B895A8BE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Ensine aos alunos como o Zotero resolve o problema de mudar o estilo. No Word, basta clicar em 'Document Preferences' e mudar de ABNT para APA para atualizar instantaneamente o documento todo.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instalar o estilo ABNT oficial no Zotero, os alunos devem clicar em 'Preferências' -&gt; 'Citar' -&gt; 'Obter estilos adicionais...' e buscar por 'Associação Brasileira de Normas Técnicas' (ABNT).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118C46-AC00-43B4-A92F-0F3B794A59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Faça um fechamento resumindo a sequência prática.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Lembre os alunos de que este processo elimina a procrastinação e a angústia da etapa de formatação manual das referências no final do semestre escolar.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Reforce que a combinação de IA (descoberta rápida e estruturação) + Zotero (gestão e formatação robusta) é o padrão ouro na escrita científica atual.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2AB60E-EFC2-46D2-81E2-D54DD457235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45D0EA-4B1E-4E03-9AB3-81700C91F7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65DB96-9E7E-4ECB-B755-C8F4D9456E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12A1E1-3D10-4AC1-9944-2257817429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CC82C4-0BC5-4DAC-BF79-6911451F1A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9CCCE8-B649-459D-ADC9-D54FB54D33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F4D21C-75E8-40FB-86DA-0B10680F64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866545-237A-4357-BF99-1E93B7A7B1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24B77B-C75F-4954-A3D3-12B876F9D3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A1E165-72EF-424A-A2EC-3218976A03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E0E0BF-C35E-41D7-AE4D-1F34B21F47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CFC463-6A46-4B62-9943-255C18EEDE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2011680"/>
            <a:ext cx="1080000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Roteir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o de 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Pesqui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sa 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Acadê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mica 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(Bases</a:t>
            </a:r>
            <a:r>
              <a:rPr lang="en-US" sz="40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657600"/>
            <a:ext cx="944820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Do Descritor à </a:t>
            </a: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Citação: </a:t>
            </a: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Estratégias em </a:t>
            </a: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Educação </a:t>
            </a: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Ambiental com </a:t>
            </a: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IA, Zotero e </a:t>
            </a:r>
            <a:r>
              <a:rPr lang="pt-BR" sz="1800" b="0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Normatização</a:t>
            </a:r>
            <a:endParaRPr lang="pt-BR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4723920" y="1737360"/>
            <a:ext cx="2742840" cy="5040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600000" y="5040000"/>
            <a:ext cx="55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pt-BR" sz="1600" b="1" u="none" strike="noStrike">
                <a:solidFill>
                  <a:srgbClr val="3465A4"/>
                </a:solidFill>
                <a:effectLst/>
                <a:uFillTx/>
                <a:latin typeface="Arial"/>
              </a:rPr>
              <a:t>Professores: Humberto, Joce &amp; Volmir</a:t>
            </a:r>
            <a:br>
              <a:rPr sz="1600"/>
            </a:br>
            <a:r>
              <a:rPr lang="pt-BR" sz="1600" b="1" u="none" strike="noStrike">
                <a:solidFill>
                  <a:srgbClr val="3465A4"/>
                </a:solidFill>
                <a:effectLst/>
                <a:uFillTx/>
                <a:latin typeface="Arial"/>
              </a:rPr>
              <a:t>UC: PSJ-0111 Metodologia de Pesquisa em Educação</a:t>
            </a:r>
            <a:endParaRPr lang="pt-BR" sz="160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346320" y="360000"/>
            <a:ext cx="4333680" cy="119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36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A IA ajuda a estruturar termos complexos para varrer as bases científicas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731520" y="1280160"/>
            <a:ext cx="10728360" cy="2520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ounded Rectangle 3"/>
          <p:cNvSpPr/>
          <p:nvPr/>
        </p:nvSpPr>
        <p:spPr>
          <a:xfrm>
            <a:off x="731520" y="1645920"/>
            <a:ext cx="5120280" cy="438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27432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2B2D42"/>
                </a:solidFill>
                <a:effectLst/>
                <a:uFillTx/>
                <a:latin typeface="Georgia"/>
              </a:rPr>
              <a:t>A Busca Comum (Baixa Precisão)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6C757D"/>
                </a:solidFill>
                <a:effectLst/>
                <a:uFillTx/>
                <a:latin typeface="Arial"/>
              </a:rPr>
              <a:t>Buscar apenas por termos soltos como "reciclagem" ou "educação ambiental" em bases de dados resulta em um volume impraticável de resultados barulhentos.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Sem cruzamento metodológico (ex: Bardin)</a:t>
            </a:r>
            <a:br>
              <a:rPr sz="1800"/>
            </a:br>
            <a:r>
              <a:rPr lang="en-US" sz="14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Dezenas de milhares de resultados irrelevantes</a:t>
            </a:r>
            <a:br>
              <a:rPr sz="1800"/>
            </a:br>
            <a:r>
              <a:rPr lang="en-US" sz="14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Desperdício de tempo na triagem inicial</a:t>
            </a:r>
            <a:br>
              <a:rPr sz="1800"/>
            </a:br>
            <a:r>
              <a:rPr lang="en-US" sz="14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Falha em mapear a legislação específica (ex: Lei 14.260)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63946"/>
                </a:solidFill>
                <a:effectLst/>
                <a:uFillTx/>
                <a:latin typeface="Arial"/>
              </a:rPr>
              <a:t>RESULTADO: Baixa precisão e excesso de ruído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6120000" y="1645920"/>
            <a:ext cx="5309640" cy="4474080"/>
          </a:xfrm>
          <a:prstGeom prst="roundRect">
            <a:avLst>
              <a:gd name="adj" fmla="val 16667"/>
            </a:avLst>
          </a:prstGeom>
          <a:solidFill>
            <a:srgbClr val="1D3557"/>
          </a:solidFill>
          <a:ln>
            <a:noFill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27432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Busca Inteligente Orientada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DFE2E6"/>
                </a:solidFill>
                <a:effectLst/>
                <a:uFillTx/>
                <a:latin typeface="Arial"/>
              </a:rPr>
              <a:t>Use a Inteligência Artificial para gerar strings avançadas que cruzam o seu Tema Central com o seu Recorte Metodológico preciso e a Legislação correspondente.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Uso estratégico de operadores booleanos (AND, OR, *)</a:t>
            </a:r>
            <a:br>
              <a:rPr sz="18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Restrição metodológica exata (ex: "content analysis" AND Bardin)</a:t>
            </a:r>
            <a:br>
              <a:rPr sz="18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Tradução para o inglês para aumentar o alcance internacional</a:t>
            </a:r>
            <a:br>
              <a:rPr sz="18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Busca otimizada direta nos campos de busca da WOS/Scopus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8DACD"/>
                </a:solidFill>
                <a:effectLst/>
                <a:uFillTx/>
                <a:latin typeface="Arial"/>
              </a:rPr>
              <a:t>RESULTADO: Alta precisão e foco científico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36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Zotero centraliza referências e automatiza a importação via arquivos RIS e BibTeX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731520" y="1280160"/>
            <a:ext cx="10728360" cy="2520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1737360"/>
            <a:ext cx="3291480" cy="75960"/>
          </a:xfrm>
          <a:prstGeom prst="rect">
            <a:avLst/>
          </a:prstGeom>
          <a:solidFill>
            <a:srgbClr val="457B9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731520" y="1813680"/>
            <a:ext cx="3291480" cy="40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7432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1. Exportar das Bases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Após realizar a busca nas bases científicas (WOS, Scopus, Google Scholar):</a:t>
            </a:r>
            <a:br>
              <a:rPr sz="1800"/>
            </a:b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Selecione os artigos mais relevantes.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Exporte-os em formatos padronizados de metadados como RIS ou BibTeX.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O arquivo conterá todos os detalhes necessários (autores, ano, volume, link).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hevron 5"/>
          <p:cNvSpPr/>
          <p:nvPr/>
        </p:nvSpPr>
        <p:spPr>
          <a:xfrm>
            <a:off x="4069080" y="3611880"/>
            <a:ext cx="273960" cy="365400"/>
          </a:xfrm>
          <a:prstGeom prst="chevron">
            <a:avLst>
              <a:gd name="adj" fmla="val 50000"/>
            </a:avLst>
          </a:prstGeom>
          <a:solidFill>
            <a:srgbClr val="6C75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4389120" y="1737360"/>
            <a:ext cx="3291480" cy="7596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7"/>
          <p:cNvSpPr/>
          <p:nvPr/>
        </p:nvSpPr>
        <p:spPr>
          <a:xfrm>
            <a:off x="4389120" y="1813680"/>
            <a:ext cx="3291480" cy="40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7432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2. Importar no Zotero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No Zotero Desktop (Aplicativo PC):</a:t>
            </a:r>
            <a:br>
              <a:rPr sz="1800"/>
            </a:b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Vá no menu: Arquivo -&gt; Importar.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Escolha o arquivo .ris ou .bib baixado.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O Zotero cria uma pasta e importa todos os artigos e metadados de uma única vez.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Arraste PDFs para ler e fazer anotações.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hevron 8"/>
          <p:cNvSpPr/>
          <p:nvPr/>
        </p:nvSpPr>
        <p:spPr>
          <a:xfrm>
            <a:off x="7726680" y="3611880"/>
            <a:ext cx="273960" cy="365400"/>
          </a:xfrm>
          <a:prstGeom prst="chevron">
            <a:avLst>
              <a:gd name="adj" fmla="val 50000"/>
            </a:avLst>
          </a:prstGeom>
          <a:solidFill>
            <a:srgbClr val="6C75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8046720" y="1737360"/>
            <a:ext cx="3291480" cy="75960"/>
          </a:xfrm>
          <a:prstGeom prst="rect">
            <a:avLst/>
          </a:prstGeom>
          <a:solidFill>
            <a:srgbClr val="457B9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1320" rIns="90000" bIns="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ounded Rectangle 10"/>
          <p:cNvSpPr/>
          <p:nvPr/>
        </p:nvSpPr>
        <p:spPr>
          <a:xfrm>
            <a:off x="8046720" y="1813680"/>
            <a:ext cx="3291480" cy="403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74320" rIns="228600" bIns="228600" anchor="ctr">
            <a:noAutofit/>
          </a:bodyPr>
          <a:p>
            <a:pPr algn="ctr"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3. Sincronizar na Nuvem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Para segurança e trabalho em grupo:</a:t>
            </a:r>
            <a:br>
              <a:rPr sz="1800"/>
            </a:b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Ative a sincronização no aplicativo Desktop.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Acesse sua Web Library em qualquer navegador.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Compartilhe pastas com colegas de grupo de pesquisa.</a:t>
            </a:r>
            <a:br>
              <a:rPr sz="1800"/>
            </a:br>
            <a:r>
              <a:rPr lang="en-US" sz="1300" b="0" u="none" strike="noStrike">
                <a:solidFill>
                  <a:srgbClr val="2B2D42"/>
                </a:solidFill>
                <a:effectLst/>
                <a:uFillTx/>
                <a:latin typeface="Arial"/>
              </a:rPr>
              <a:t>• Nota: Limite de exportação na Web é de 100 itens por vez; no PC é ilimitado.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36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A escolha do estilo de citação certo (ABNT vs. APA) garante a aprovação metodológica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731520" y="1280160"/>
            <a:ext cx="10728360" cy="2520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8" name="Table 3"/>
          <p:cNvGraphicFramePr/>
          <p:nvPr/>
        </p:nvGraphicFramePr>
        <p:xfrm>
          <a:off x="731520" y="1645920"/>
          <a:ext cx="10728360" cy="423756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419000"/>
              </a:tblGrid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Georgia"/>
                        </a:rPr>
                        <a:t>Dimensão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Georgia"/>
                        </a:rPr>
                        <a:t>ABNT (Normas NBR 6023 e 10520:2023)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Georgia"/>
                        </a:rPr>
                        <a:t>APA Style (American Psychological Association)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D3557"/>
                    </a:solidFill>
                  </a:tcPr>
                </a:tc>
              </a:tr>
              <a:tr h="822960"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D3557"/>
                          </a:solidFill>
                          <a:effectLst/>
                          <a:uFillTx/>
                          <a:latin typeface="Georgia"/>
                        </a:rPr>
                        <a:t>Chamada de Citação no Texto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Autor-data.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Ex: (BARDIN, 2011) ou (Bardin, 2011) conforme nova NBR 10520:2023.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Indicação de páginas: p. 12.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Autor-data, sempre com iniciais em minúsculas.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Ex: (Bardin, 2011).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Indicação de páginas: p. 12 ou pp. 12-15.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EEE9"/>
                    </a:solidFill>
                  </a:tcPr>
                </a:tc>
              </a:tr>
              <a:tr h="822960"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D3557"/>
                          </a:solidFill>
                          <a:effectLst/>
                          <a:uFillTx/>
                          <a:latin typeface="Georgia"/>
                        </a:rPr>
                        <a:t>Referência de Livro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SOBRENOME, Nome. Título do Livro em Negrito. Edição. Cidade: Editora, Ano.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Ex: BARDIN, L. Análise de conteúdo. Lisboa: Edições 70, 2011.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Sobrenome, N. (Ano). Título do Livro em Itálico. Editora.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Ex: Bardin, L. (2011). Análise de conteúdo. Edições 70.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</a:tr>
              <a:tr h="822960"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D3557"/>
                          </a:solidFill>
                          <a:effectLst/>
                          <a:uFillTx/>
                          <a:latin typeface="Georgia"/>
                        </a:rPr>
                        <a:t>Referência de Artigo Científico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SOBRENOME, N. Título do Artigo. Nome do Periódico em Negrito, v. X, n. Y, p. Z-W, Ano.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Sobrenome, N. (Ano). Título do Artigo. Nome do Periódico em Itálico, Volume(Número), Páginas.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EEE9"/>
                    </a:solidFill>
                  </a:tcPr>
                </a:tc>
              </a:tr>
              <a:tr h="822960"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D3557"/>
                          </a:solidFill>
                          <a:effectLst/>
                          <a:uFillTx/>
                          <a:latin typeface="Georgia"/>
                        </a:rPr>
                        <a:t>Recursos Eletrônicos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Elementos essenciais + informações sobre meio eletrônico.</a:t>
                      </a:r>
                      <a:br>
                        <a:rPr sz="1800"/>
                      </a:b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Requer: "Disponível em: [URL]. Acesso em: [Data]."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 lIns="137160" tIns="137160" rIns="137160" bIns="13716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B2D42"/>
                          </a:solidFill>
                          <a:effectLst/>
                          <a:uFillTx/>
                          <a:latin typeface="Arial"/>
                        </a:rPr>
                        <a:t>Requer apenas a URL direta ou preferencialmente o número DOI (sem indicação de data de acesso).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37160" marR="137160" marT="137160" marB="1371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F9F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36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Um fluxo contínuo economiza centenas de horas e evita erros manuais de formatação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731520" y="1280160"/>
            <a:ext cx="10728360" cy="25200"/>
          </a:xfrm>
          <a:prstGeom prst="rect">
            <a:avLst/>
          </a:prstGeom>
          <a:solidFill>
            <a:srgbClr val="E639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ounded Rectangle 3"/>
          <p:cNvSpPr/>
          <p:nvPr/>
        </p:nvSpPr>
        <p:spPr>
          <a:xfrm>
            <a:off x="731520" y="1828800"/>
            <a:ext cx="2468520" cy="393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228600" r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3600" b="1" u="none" strike="noStrike">
                <a:solidFill>
                  <a:srgbClr val="457B9D"/>
                </a:solidFill>
                <a:effectLst/>
                <a:uFillTx/>
                <a:latin typeface="Georgia"/>
              </a:rPr>
              <a:t>01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B2D42"/>
                </a:solidFill>
                <a:effectLst/>
                <a:uFillTx/>
                <a:latin typeface="Georgia"/>
              </a:rPr>
              <a:t>Planejamento com 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Construção de Descritores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C757D"/>
                </a:solidFill>
                <a:effectLst/>
                <a:uFillTx/>
                <a:latin typeface="Arial"/>
              </a:rPr>
              <a:t>Utilize o NotebookLM/Gemini para definir descritores baseados na literatura, unindo Educação Ambiental, Reciclagem e o método de Bardin.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4"/>
          <p:cNvSpPr/>
          <p:nvPr/>
        </p:nvSpPr>
        <p:spPr>
          <a:xfrm>
            <a:off x="3474720" y="1828800"/>
            <a:ext cx="2468520" cy="393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228600" r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3600" b="1" u="none" strike="noStrike">
                <a:solidFill>
                  <a:srgbClr val="1D3557"/>
                </a:solidFill>
                <a:effectLst/>
                <a:uFillTx/>
                <a:latin typeface="Georgia"/>
              </a:rPr>
              <a:t>02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B2D42"/>
                </a:solidFill>
                <a:effectLst/>
                <a:uFillTx/>
                <a:latin typeface="Georgia"/>
              </a:rPr>
              <a:t>Varredura Científica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1D3557"/>
                </a:solidFill>
                <a:effectLst/>
                <a:uFillTx/>
                <a:latin typeface="Arial"/>
              </a:rPr>
              <a:t>Busca &amp; Exportação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C757D"/>
                </a:solidFill>
                <a:effectLst/>
                <a:uFillTx/>
                <a:latin typeface="Arial"/>
              </a:rPr>
              <a:t>Execute as strings de busca na Web of Science ou Google Scholar. Filtre por relevância e exporte os arquivos em formato RIS.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6217920" y="1828800"/>
            <a:ext cx="2468520" cy="393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228600" r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3600" b="1" u="none" strike="noStrike">
                <a:solidFill>
                  <a:srgbClr val="457B9D"/>
                </a:solidFill>
                <a:effectLst/>
                <a:uFillTx/>
                <a:latin typeface="Georgia"/>
              </a:rPr>
              <a:t>03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B2D42"/>
                </a:solidFill>
                <a:effectLst/>
                <a:uFillTx/>
                <a:latin typeface="Georgia"/>
              </a:rPr>
              <a:t>Gerenciamento Único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457B9D"/>
                </a:solidFill>
                <a:effectLst/>
                <a:uFillTx/>
                <a:latin typeface="Arial"/>
              </a:rPr>
              <a:t>Organização Zotero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C757D"/>
                </a:solidFill>
                <a:effectLst/>
                <a:uFillTx/>
                <a:latin typeface="Arial"/>
              </a:rPr>
              <a:t>Importe o RIS no Zotero Desktop. Sincronize com a nuvem, organize em Coleções e anote diretamente os PDFs importados.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8961120" y="1828800"/>
            <a:ext cx="2468520" cy="3931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FD5"/>
            </a:solidFill>
            <a:round/>
          </a:ln>
          <a:effectLst>
            <a:outerShdw blurRad="15120" dir="5400000" dist="792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228600" r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3600" b="1" u="none" strike="noStrike">
                <a:solidFill>
                  <a:srgbClr val="E63946"/>
                </a:solidFill>
                <a:effectLst/>
                <a:uFillTx/>
                <a:latin typeface="Georgia"/>
              </a:rPr>
              <a:t>04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B2D42"/>
                </a:solidFill>
                <a:effectLst/>
                <a:uFillTx/>
                <a:latin typeface="Georgia"/>
              </a:rPr>
              <a:t>Redação Sem Estresse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E63946"/>
                </a:solidFill>
                <a:effectLst/>
                <a:uFillTx/>
                <a:latin typeface="Arial"/>
              </a:rPr>
              <a:t>Escrita &amp; Citação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C757D"/>
                </a:solidFill>
                <a:effectLst/>
                <a:uFillTx/>
                <a:latin typeface="Arial"/>
              </a:rPr>
              <a:t>Escreva seu TCC no Word ou Google Docs inserindo as citações e a bibliografia com o plugin do Zotero na norma de sua preferência.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2026-08-29T12:29:57Z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