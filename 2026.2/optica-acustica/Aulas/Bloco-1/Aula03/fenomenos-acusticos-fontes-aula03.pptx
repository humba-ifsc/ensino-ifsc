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26045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508360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Seja bem-vindo à Aula 03 da disciplina de Acústica e Óptica Geométrica [227]. Hoje abordaremos a continuação do Capítulo 19 (Acústica), focando nas propriedades ondulatórias do som (seção 19.3), fontes sonoras como cordas vibrantes e tubos (seção 19.4) e o Efeito Doppler (seção 19.5) [2, 35, 54, 90].</a:t>
            </a:r>
            <a:endParaRPr/>
          </a:p>
          <a:p>
            <a:pPr>
              <a:defRPr/>
            </a:pPr>
            <a:r>
              <a:rPr/>
              <a:t>Lembre os alunos que o som é uma onda mecânica longitudinal e que seu estudo é essencial em diversas áreas de telecomunicações e refrigeração [1, 227].</a:t>
            </a:r>
            <a:endParaRPr/>
          </a:p>
        </p:txBody>
      </p:sp>
      <p:sp>
        <p:nvSpPr>
          <p:cNvPr id="184745488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74011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4962110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Explique o conceito fundamental da PERSISTÊNCIA AUDITIVA humana, que é de 0,1 s (um décimo de segundo) [36]. Esse é o tempo que o cérebro leva para processar e extinguir a sensação de um estímulo sonoro antes de registrar o próximo [36].</a:t>
            </a:r>
            <a:endParaRPr/>
          </a:p>
          <a:p>
            <a:pPr>
              <a:defRPr/>
            </a:pPr>
            <a:r>
              <a:rPr/>
              <a:t>Com obstáculos muito próximos, o som refletido reforça a amplitude do som original (Reforço) [36]. A reverberação é o prolongamento do som. Nos auditórios, uma reverberação controlada auxilia na compreensão das falas [36]. O Eco só se manifesta se o som refletido chegar após 0,1 segundo da emissão do som direto [37].</a:t>
            </a:r>
            <a:endParaRPr/>
          </a:p>
        </p:txBody>
      </p:sp>
      <p:sp>
        <p:nvSpPr>
          <p:cNvPr id="88284908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4644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446673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Demonstre a dedução matemática no quadro [38]. A velocidade do som no ar é de aproximadamente 340 m/s [38]. Para que ocorra o eco, o som deve percorrer uma distância de ida e volta (Δs = 2x) em um tempo de pelo menos 0,1 s [38]. Isso resulta na famosa distância de 17 metros para o eco no ar [38].</a:t>
            </a:r>
            <a:endParaRPr/>
          </a:p>
          <a:p>
            <a:pPr>
              <a:defRPr/>
            </a:pPr>
            <a:r>
              <a:rPr/>
              <a:t>Apresente a comparação com a água: por ter maior velocidade (1.600 m/s), a distância mínima na água passa para 80 metros [44, 45]. Explique como golfinhos, morcegos e o Sonar utilizam esse princípio físico de ecolocalização para navegação e caça [11, 38, 126].</a:t>
            </a:r>
            <a:endParaRPr/>
          </a:p>
        </p:txBody>
      </p:sp>
      <p:sp>
        <p:nvSpPr>
          <p:cNvPr id="168319049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3553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680796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Aborde o conceito de ondas estacionárias, mostrando que elas se formam pela superposição de duas ondas periódicas de mesma frequência e amplitude propagando-se em sentidos opostos [53, 173]. As condições de contorno (extremidades fixas) obrigam que esses pontos sejam nós (amplitude zero) [53, 54].</a:t>
            </a:r>
            <a:endParaRPr/>
          </a:p>
          <a:p>
            <a:pPr>
              <a:defRPr/>
            </a:pPr>
            <a:r>
              <a:rPr/>
              <a:t>Comente que a superposição dos harmônicos com suas respectivas amplitudes é o que dá a cada instrumento sua forma de onda característica (o timbre) [27, 28, 57].</a:t>
            </a:r>
            <a:endParaRPr/>
          </a:p>
        </p:txBody>
      </p:sp>
      <p:sp>
        <p:nvSpPr>
          <p:cNvPr id="206792157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45132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270598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Apresente a Equação de Taylor [52]. Lembre de alertar os alunos sobre as unidades no SI: densidade linear (mu) deve estar em kg/m, e tração (T) em Newtons [52, 64]. Mostre como os músicos se aproveitam disso de forma intuitiva: ao pressionarem as cordas na metade de seu tamanho, reduzem o comprimento ativo à metade e dobram a frequência fundamental do som produzido (por exemplo, de 440 Hz para 880 Hz) [3].</a:t>
            </a:r>
            <a:endParaRPr/>
          </a:p>
          <a:p>
            <a:pPr>
              <a:defRPr/>
            </a:pPr>
            <a:r>
              <a:rPr/>
              <a:t>Isso permite produzir notas mais agudas sem alterar a tração na corda [3, 59].</a:t>
            </a:r>
            <a:endParaRPr/>
          </a:p>
        </p:txBody>
      </p:sp>
      <p:sp>
        <p:nvSpPr>
          <p:cNvPr id="206730063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12283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4738549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Defina RESSONÂNCIA: quando um corpo recebe estímulos mecânicos periódicos externos de frequência coincidente com uma de suas frequências naturais de oscilação, ele atinge elevadas amplitudes de vibração [58]. Isso ocorre devido à transferência progressiva de energia da fonte para o corpo excitado [58].</a:t>
            </a:r>
            <a:endParaRPr/>
          </a:p>
          <a:p>
            <a:pPr>
              <a:defRPr/>
            </a:pPr>
            <a:r>
              <a:rPr/>
              <a:t>Apresente os três exemplos práticos: a taça estilhaçada pelo violino [58], a caixa acústica de madeira de instrumentos de cordas que amplia a sensação sonora [60], e a tragédia da ponte de Tacoma Narrows, que serve como um aviso clássico em engenharia estrutural sobre as consequências catastróficas da ressonância [61].</a:t>
            </a:r>
            <a:endParaRPr/>
          </a:p>
        </p:txBody>
      </p:sp>
      <p:sp>
        <p:nvSpPr>
          <p:cNvPr id="125835381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4020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6850486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Explique cuidadosamente a geometria do tubo fechado [71]. O ar em contato com a barreira fechada (água ou tampa) não pode se movimentar, o que configura um nó de deslocamento [72]. Na boca aberta, as moléculas se deslocam livremente, gerando um ventre de oscilação [72, 76].</a:t>
            </a:r>
            <a:endParaRPr/>
          </a:p>
          <a:p>
            <a:pPr>
              <a:defRPr/>
            </a:pPr>
            <a:r>
              <a:rPr/>
              <a:t>Como a distância mais curta entre um nó e um ventre é lambda/4 [73], temos lambda1/4 = L no modo fundamental [71, 73]. Dedique tempo para explicar por que só existem harmônicos de ordem ímpar (n = 1, 3, 5...) [75]. Em instrumentos de sopro como a clarineta, essa característica de projeto acústico define o seu som característico [74, 76].</a:t>
            </a:r>
            <a:endParaRPr/>
          </a:p>
        </p:txBody>
      </p:sp>
      <p:sp>
        <p:nvSpPr>
          <p:cNvPr id="12412254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35283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6362506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Destaque que o comportamento matemático das frequências em tubos abertos é exatamente igual ao de uma corda vibrante fixada nas pontas (fn = n * v / 2L) [56, 77, 79], embora em tubos se formem ventres nas pontas, enquanto na corda se formam nós [53, 78].</a:t>
            </a:r>
            <a:endParaRPr/>
          </a:p>
          <a:p>
            <a:pPr>
              <a:defRPr/>
            </a:pPr>
            <a:r>
              <a:rPr/>
              <a:t>Comente que a flauta doce possui orifícios ao longo do corpo. Ao tapar ou destapar esses orifícios com os dedos, o flautista altera o comprimento ativo L da coluna de ar interno vibrando [3, 78], consequentemente gerando frequências e notas diferentes de forma precisa [3, 78].</a:t>
            </a:r>
            <a:endParaRPr/>
          </a:p>
        </p:txBody>
      </p:sp>
      <p:sp>
        <p:nvSpPr>
          <p:cNvPr id="13271278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33246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0714829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Esta tabela resume os três principais sistemas físicos estudados na seção 19.4 [54]. Aponte para a semelhança matemática estrita entre as cordas vibrantes e os tubos abertos [56, 77, 79]: ambos possuem a mesma fórmula para as frequências naturais e admitem todos os harmônicos [56, 77].</a:t>
            </a:r>
            <a:endParaRPr/>
          </a:p>
          <a:p>
            <a:pPr>
              <a:defRPr/>
            </a:pPr>
            <a:r>
              <a:rPr/>
              <a:t>Contraste com os tubos fechados: a presença de uma extremidade fechada obriga a formação de um nó, o que dobra o comprimento de onda do fundamental para lambda1 = 4L (deixando-o uma oitava mais grave) e exclui fisicamente todos os harmônicos pares da série [73, 75].</a:t>
            </a:r>
            <a:endParaRPr/>
          </a:p>
        </p:txBody>
      </p:sp>
      <p:sp>
        <p:nvSpPr>
          <p:cNvPr id="4762241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96319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22577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Introduza o Efeito Doppler de forma intuitiva, descrevendo a passagem de uma ambulância ou de um carro de corrida [88]. Apresente que esse fenômeno é comum a TODAS as ondas (tanto mecânicas como eletromagnéticas) [90, 91].</a:t>
            </a:r>
            <a:endParaRPr/>
          </a:p>
          <a:p>
            <a:pPr>
              <a:defRPr/>
            </a:pPr>
            <a:r>
              <a:rPr/>
              <a:t>Explique de forma qualitativa: à frente do emissor em movimento, as frentes de onda 'se amontoam', comprimindo o comprimento de onda (lambda_e &lt; lambda) [89, 90]. Atrás do emissor, as frentes ficam mais espaçadas (lambda_e &gt; lambda) [89]. Essa compressão espacial faz com que o observador perceba uma frequência aparente maior (mais cristas por segundo) na aproximação e menor no afastamento [90, 92].</a:t>
            </a:r>
            <a:endParaRPr/>
          </a:p>
        </p:txBody>
      </p:sp>
      <p:sp>
        <p:nvSpPr>
          <p:cNvPr id="162505787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42035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744425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Esta é a parte mais abstrata para os alunos: a escolha correta dos sinais [93]. Enfatize que o método do livro-base (Ramalho) orienta o eixo estritamente do OBSERVADOR para a FONTE (O -&gt; F) [93].</a:t>
            </a:r>
            <a:endParaRPr/>
          </a:p>
          <a:p>
            <a:pPr>
              <a:defRPr/>
            </a:pPr>
            <a:r>
              <a:rPr/>
              <a:t>Com isso, se o observador se move em direção à fonte, ele se move no sentido de O para F, portanto sua velocidade vO é positiva, gerando +vO no numerador, aumentando fe [92, 93, 95]. Se a fonte se move em direção ao observador, ela se move no sentido de F para O (contra o eixo positivo), portanto vF é negativa, o que resulta em -(-vF) no denominador, diminuindo-o e também elevando fe [87, 90, 93]. Treine com exemplos no quadro para sedimentar.</a:t>
            </a:r>
            <a:endParaRPr/>
          </a:p>
        </p:txBody>
      </p:sp>
      <p:sp>
        <p:nvSpPr>
          <p:cNvPr id="145370470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0257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140796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Comente como o Efeito Doppler se estende para fora da acústica, atingindo a óptica geométrica e a cosmologia [91]. Explique o conceito de Redshift (desvio para o vermelho): no espectro eletromagnético visível, a cor vermelha possui a menor frequência de oscilação [91]. Se um corpo estelar está se afastando de nós a altas velocidades, as ondas de luz recebidas se esticam espacialmente, apresentando uma frequência aparente menor, sofrendo desvio para o vermelho [91, 163].</a:t>
            </a:r>
            <a:endParaRPr/>
          </a:p>
          <a:p>
            <a:pPr>
              <a:defRPr/>
            </a:pPr>
            <a:r>
              <a:rPr/>
              <a:t>Contraste com a ultrassonografia Doppler médica, que utiliza transdutores acústicos para medir frentes de pressão refletidas nas hemácias [97, 124].</a:t>
            </a:r>
            <a:endParaRPr/>
          </a:p>
        </p:txBody>
      </p:sp>
      <p:sp>
        <p:nvSpPr>
          <p:cNvPr id="44451597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30430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3677349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Notas para o Instrutor:</a:t>
            </a:r>
            <a:endParaRPr/>
          </a:p>
          <a:p>
            <a:pPr>
              <a:defRPr/>
            </a:pPr>
            <a:r>
              <a:rPr/>
              <a:t>Este exercício (P.496 do Ramalho) exemplifica de forma prática a teoria apresentada nos slides 4 e 5 [66, 67]. Aponte que a velocidade v da onda na corda depende unicamente das características físicas do meio (tração T e densidade linear) [12, 52]. Como essas propriedades não mudaram, a velocidade se mantém constante em 500 m/s [12, 65, 66].</a:t>
            </a:r>
            <a:endParaRPr/>
          </a:p>
          <a:p>
            <a:pPr>
              <a:defRPr/>
            </a:pPr>
            <a:r>
              <a:rPr/>
              <a:t>Com isso, a frequência f e o comprimento ativo da corda L são estritamente inversamente proporcionais (f é proporcional a 1/L) [3]. Se reduzimos L pela metade, a frequência f necessariamente DOBRA, subindo para 1.000 Hz (uma oitava acima) [3, 67].</a:t>
            </a:r>
            <a:endParaRPr/>
          </a:p>
        </p:txBody>
      </p:sp>
      <p:sp>
        <p:nvSpPr>
          <p:cNvPr id="195891503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89996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25407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828634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45342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91671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6579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93539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62924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96163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8817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73944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73838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26437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4675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2819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238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21389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5909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01457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15090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024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864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09104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32154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289350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61289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67066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107443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7299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164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3584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860212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2204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57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70008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17603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05307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854706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489308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95557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977469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23368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86943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983428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537285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94119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66404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43686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682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14118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09535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580406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2377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0322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73784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59843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496973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12935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58951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294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52242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841325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92028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A2F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542247" name="TextBox 1"/>
          <p:cNvSpPr txBox="1"/>
          <p:nvPr/>
        </p:nvSpPr>
        <p:spPr bwMode="auto"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4400" b="1">
                <a:solidFill>
                  <a:srgbClr val="F4EFEB"/>
                </a:solidFill>
                <a:latin typeface="Georgia"/>
              </a:rPr>
              <a:t>Introdução às Ondas Sonoras</a:t>
            </a:r>
            <a:endParaRPr/>
          </a:p>
          <a:p>
            <a:pPr>
              <a:spcAft>
                <a:spcPts val="2400"/>
              </a:spcAft>
              <a:defRPr/>
            </a:pPr>
            <a:r>
              <a:rPr sz="2000">
                <a:solidFill>
                  <a:srgbClr val="B87333"/>
                </a:solidFill>
                <a:latin typeface="Arial"/>
              </a:rPr>
              <a:t>Aula 03 — Fenômenos Acústicos e Fontes Sonoras</a:t>
            </a:r>
            <a:endParaRPr/>
          </a:p>
          <a:p>
            <a:pPr>
              <a:defRPr/>
            </a:pPr>
            <a:r>
              <a:rPr sz="1400">
                <a:solidFill>
                  <a:srgbClr val="7A8275"/>
                </a:solidFill>
                <a:latin typeface="Arial"/>
              </a:rPr>
              <a:t>Seções 19.3, 19.4 e 19.5 • Capítulo 19 (Ramalho)</a:t>
            </a:r>
            <a:br>
              <a:rPr/>
            </a:br>
            <a:r>
              <a:rPr sz="1400">
                <a:solidFill>
                  <a:srgbClr val="7A8275"/>
                </a:solidFill>
                <a:latin typeface="Arial"/>
              </a:rPr>
              <a:t>Prof. Humberto L. Oliveira • IFSC / Câmpus São José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35831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O cérebro necessita de 0,1s para distinguir dois estímulos sonoros</a:t>
            </a:r>
            <a:endParaRPr/>
          </a:p>
        </p:txBody>
      </p:sp>
      <p:sp>
        <p:nvSpPr>
          <p:cNvPr id="440572577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630277" name="Rounded Rectangle 3"/>
          <p:cNvSpPr/>
          <p:nvPr/>
        </p:nvSpPr>
        <p:spPr bwMode="auto">
          <a:xfrm>
            <a:off x="457200" y="1828800"/>
            <a:ext cx="34747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/>
            </a:pPr>
            <a:r>
              <a:rPr sz="2200" b="1">
                <a:solidFill>
                  <a:srgbClr val="2A2F2D"/>
                </a:solidFill>
                <a:latin typeface="Georgia"/>
              </a:rPr>
              <a:t>Reforço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600" b="1">
                <a:solidFill>
                  <a:srgbClr val="B87333"/>
                </a:solidFill>
                <a:latin typeface="Arial"/>
              </a:rPr>
              <a:t>Δt ≈ 0 s</a:t>
            </a:r>
            <a:endParaRPr/>
          </a:p>
          <a:p>
            <a:pPr algn="l"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Ocorre quando o obstáculo refletor está extremamente próximo do emissor. O som refletido retorna quase no mesmo instante do som direto [36].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O ouvinte percebe um único som com amplitude reforçada, tornando-o mais forte e encorpado [36].</a:t>
            </a:r>
            <a:endParaRPr/>
          </a:p>
        </p:txBody>
      </p:sp>
      <p:sp>
        <p:nvSpPr>
          <p:cNvPr id="924951644" name="Rounded Rectangle 4"/>
          <p:cNvSpPr/>
          <p:nvPr/>
        </p:nvSpPr>
        <p:spPr bwMode="auto">
          <a:xfrm>
            <a:off x="4297680" y="1828800"/>
            <a:ext cx="34747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/>
            </a:pPr>
            <a:r>
              <a:rPr sz="2200" b="1">
                <a:solidFill>
                  <a:srgbClr val="2A2F2D"/>
                </a:solidFill>
                <a:latin typeface="Georgia"/>
              </a:rPr>
              <a:t>Reverberação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600" b="1">
                <a:solidFill>
                  <a:srgbClr val="B87333"/>
                </a:solidFill>
                <a:latin typeface="Arial"/>
              </a:rPr>
              <a:t>0 s &lt; Δt &lt; 0,1 s</a:t>
            </a:r>
            <a:endParaRPr/>
          </a:p>
          <a:p>
            <a:pPr algn="l"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Ocorre quando o obstáculo está a uma distância intermediária. O som refletido retorna antes que a sensação do som direto tenha se extinguido no ouvido [36].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Ocorre um prolongamento da sensação auditiva do som original, comum em catedrais e teatros [36].</a:t>
            </a:r>
            <a:endParaRPr/>
          </a:p>
        </p:txBody>
      </p:sp>
      <p:sp>
        <p:nvSpPr>
          <p:cNvPr id="607477037" name="Rounded Rectangle 5"/>
          <p:cNvSpPr/>
          <p:nvPr/>
        </p:nvSpPr>
        <p:spPr bwMode="auto">
          <a:xfrm>
            <a:off x="8138160" y="1828800"/>
            <a:ext cx="34747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/>
            </a:pPr>
            <a:r>
              <a:rPr sz="2200" b="1">
                <a:solidFill>
                  <a:srgbClr val="2A2F2D"/>
                </a:solidFill>
                <a:latin typeface="Georgia"/>
              </a:rPr>
              <a:t>Eco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600" b="1">
                <a:solidFill>
                  <a:srgbClr val="B87333"/>
                </a:solidFill>
                <a:latin typeface="Arial"/>
              </a:rPr>
              <a:t>Δt ≥ 0,1 s</a:t>
            </a:r>
            <a:endParaRPr/>
          </a:p>
          <a:p>
            <a:pPr algn="l"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Ocorre quando o obstáculo está afastado o suficiente para que o tempo de ida e volta do som supere a persistência auditiva humana [36, 37].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O som direto se extingue por completo antes que a reflexão retorne, permitindo distinguir nitidamente dois sons [37].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984712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A distância mínima de 17 metros no ar viabiliza a percepção do eco</a:t>
            </a:r>
            <a:endParaRPr/>
          </a:p>
        </p:txBody>
      </p:sp>
      <p:sp>
        <p:nvSpPr>
          <p:cNvPr id="430516784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809212" name="TextBox 3"/>
          <p:cNvSpPr txBox="1"/>
          <p:nvPr/>
        </p:nvSpPr>
        <p:spPr bwMode="auto">
          <a:xfrm>
            <a:off x="457200" y="18288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Cálculo da Distância Limite para o Eco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2200" b="1">
                <a:solidFill>
                  <a:srgbClr val="B87333"/>
                </a:solidFill>
                <a:latin typeface="Georgia"/>
              </a:rPr>
              <a:t>Δt = Δs / v ≥ 0,1 s</a:t>
            </a:r>
            <a:endParaRPr/>
          </a:p>
          <a:p>
            <a:pPr>
              <a:spcAft>
                <a:spcPts val="1400"/>
              </a:spcAft>
              <a:defRPr/>
            </a:pPr>
            <a:r>
              <a:rPr sz="1500">
                <a:solidFill>
                  <a:srgbClr val="2A2F2D"/>
                </a:solidFill>
                <a:latin typeface="Arial"/>
              </a:rPr>
              <a:t>Como o som deve ir e voltar, o caminho Δs = 2x, logo:</a:t>
            </a:r>
            <a:br>
              <a:rPr/>
            </a:br>
            <a:r>
              <a:rPr sz="1500">
                <a:solidFill>
                  <a:srgbClr val="2A2F2D"/>
                </a:solidFill>
                <a:latin typeface="Arial"/>
              </a:rPr>
              <a:t>2x / v ≥ 0,1  ⟹  x ≥ (v ⋅ 0,1) / 2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• Propagação no Ar (v = 340 m/s):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x ≥ (340 ⋅ 0,1) / 2  ⟹  x ≥ 17 m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O obstáculo deve estar a no mínimo 17 metros [38].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Propagação na Água (v ≈ 1.600 m/s):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x ≥ (1.600 ⋅ 0,1) / 2  ⟹  x ≥ 80 m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O obstáculo deve estar a pelo menos 80 metros [44, 45].</a:t>
            </a:r>
            <a:endParaRPr/>
          </a:p>
        </p:txBody>
      </p:sp>
      <p:sp>
        <p:nvSpPr>
          <p:cNvPr id="2116764714" name="Rounded Rectangle 4"/>
          <p:cNvSpPr/>
          <p:nvPr/>
        </p:nvSpPr>
        <p:spPr bwMode="auto">
          <a:xfrm>
            <a:off x="6217920" y="1828800"/>
            <a:ext cx="5486400" cy="3931920"/>
          </a:xfrm>
          <a:prstGeom prst="roundRect">
            <a:avLst>
              <a:gd name="adj" fmla="val 16667"/>
            </a:avLst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600"/>
              </a:spcAft>
              <a:defRPr/>
            </a:pPr>
            <a:r>
              <a:rPr sz="2200" b="1">
                <a:solidFill>
                  <a:srgbClr val="F4EFEB"/>
                </a:solidFill>
                <a:latin typeface="Georgia"/>
              </a:rPr>
              <a:t>Equipamento Sonar</a:t>
            </a:r>
            <a:endParaRPr/>
          </a:p>
          <a:p>
            <a:pPr>
              <a:spcAft>
                <a:spcPts val="1400"/>
              </a:spcAft>
              <a:defRPr/>
            </a:pPr>
            <a:r>
              <a:rPr sz="1400" b="1">
                <a:solidFill>
                  <a:srgbClr val="B87333"/>
                </a:solidFill>
                <a:latin typeface="Arial"/>
              </a:rPr>
              <a:t>Sound Navigation And Ranging</a:t>
            </a:r>
            <a:endParaRPr/>
          </a:p>
          <a:p>
            <a:pPr>
              <a:defRPr/>
            </a:pPr>
            <a:r>
              <a:rPr sz="1300">
                <a:solidFill>
                  <a:srgbClr val="F4EFEB"/>
                </a:solidFill>
                <a:latin typeface="Arial"/>
              </a:rPr>
              <a:t>Dispositivo inventado originalmente com propósitos militares durante a Segunda Guerra Mundial para detectar frotas e submarinos inimigos [38].</a:t>
            </a:r>
            <a:br>
              <a:rPr/>
            </a:b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Funcionamento: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Emite ondas de ultrassom direcionadas na água [49]. Ao colidirem com o fundo do oceano ou com um obstáculo (cardume, submarino), as ondas refletem-se (eco) [38, 49].</a:t>
            </a:r>
            <a:br>
              <a:rPr/>
            </a:b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Medindo-se o tempo total de resposta (Δt), calcula-se a profundidade exata através da relação d = (v ⋅ Δt) / 2 [49].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2800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Reflexões de ondas transversais em cordas fixas formam ondas estacionárias</a:t>
            </a:r>
            <a:endParaRPr/>
          </a:p>
        </p:txBody>
      </p:sp>
      <p:sp>
        <p:nvSpPr>
          <p:cNvPr id="918407847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4389950" name="TextBox 3"/>
          <p:cNvSpPr txBox="1"/>
          <p:nvPr/>
        </p:nvSpPr>
        <p:spPr bwMode="auto">
          <a:xfrm>
            <a:off x="457200" y="18288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Formação de Ondas Estacionárias em Cordas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• Origem das Vibrações: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Quando a corda de um instrumento é percutida ou pinçada, criam-se perturbações que se propagam [4, 52, 53].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Reflexão e Nós nas Extremidades: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Sendo fixas as pontas da corda, as ondas sofrem reflexão sucessiva nas extremidades com inversão de fase, estabelecendo ondas estacionárias com nós obrigatórios nos extremos [52, 53].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Produção do Som: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A corda oscilante empurra alternadamente o ar adjacente, originando ondas sonoras longitudinais de compressão e rarefação com idêntica frequência [53, 65].</a:t>
            </a:r>
            <a:endParaRPr/>
          </a:p>
        </p:txBody>
      </p:sp>
      <p:sp>
        <p:nvSpPr>
          <p:cNvPr id="1214945725" name="Rounded Rectangle 4"/>
          <p:cNvSpPr/>
          <p:nvPr/>
        </p:nvSpPr>
        <p:spPr bwMode="auto">
          <a:xfrm>
            <a:off x="6400800" y="1828800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Modos Vibratórios Permitidos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A geometria impõe que apenas comprimentos de onda que se 'encaixam' com nós nas pontas possam existir [54, 73].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Primeiro Harmônico (Som Fundamental):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A corda vibra com um único ventre central.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Comprimento de onda: λ1 = 2L [53].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Harmônicos Superiores (n = 2, 3, 4, ...):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Apresentam ventres e nós intermediários adicionais.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Comprimentos de onda: λn = 2L / n [53, 54].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352392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A tração e a densidade da corda determinam a velocidade de propagação</a:t>
            </a:r>
            <a:endParaRPr/>
          </a:p>
        </p:txBody>
      </p:sp>
      <p:sp>
        <p:nvSpPr>
          <p:cNvPr id="1527153829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966843" name="Rounded Rectangle 3"/>
          <p:cNvSpPr/>
          <p:nvPr/>
        </p:nvSpPr>
        <p:spPr bwMode="auto">
          <a:xfrm>
            <a:off x="457200" y="1828800"/>
            <a:ext cx="5486400" cy="3931920"/>
          </a:xfrm>
          <a:prstGeom prst="roundRect">
            <a:avLst>
              <a:gd name="adj" fmla="val 16667"/>
            </a:avLst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000"/>
              </a:spcAft>
              <a:defRPr/>
            </a:pPr>
            <a:r>
              <a:rPr sz="2000" b="1">
                <a:solidFill>
                  <a:srgbClr val="F4EFEB"/>
                </a:solidFill>
                <a:latin typeface="Georgia"/>
              </a:rPr>
              <a:t>Velocidade na Corda: Equação de Taylor</a:t>
            </a:r>
            <a:endParaRPr/>
          </a:p>
          <a:p>
            <a:pPr algn="ctr">
              <a:spcAft>
                <a:spcPts val="1000"/>
              </a:spcAft>
              <a:defRPr/>
            </a:pPr>
            <a:r>
              <a:rPr sz="2800" b="1">
                <a:solidFill>
                  <a:srgbClr val="B87333"/>
                </a:solidFill>
                <a:latin typeface="Georgia"/>
              </a:rPr>
              <a:t>v = √( T / μ )</a:t>
            </a:r>
            <a:endParaRPr/>
          </a:p>
          <a:p>
            <a:pPr>
              <a:defRPr/>
            </a:pPr>
            <a:r>
              <a:rPr sz="1300">
                <a:solidFill>
                  <a:srgbClr val="F4EFEB"/>
                </a:solidFill>
                <a:latin typeface="Arial"/>
              </a:rPr>
              <a:t>Onde: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• T = Força de tração/tensão na corda, expressa em Newton (N) [52, 63].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• μ = Densidade linear de massa da corda, expressa em kg/m (μ = m / L) [52, 64].</a:t>
            </a:r>
            <a:br>
              <a:rPr/>
            </a:b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Implicação Física: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Cordas mais tensionadas (maior T) ou mais leves/finas (menor μ) propagam perturbações com velocidades superiores, elevando a frequência do som produzido [52, 145, 146].</a:t>
            </a:r>
            <a:endParaRPr/>
          </a:p>
        </p:txBody>
      </p:sp>
      <p:sp>
        <p:nvSpPr>
          <p:cNvPr id="1321132073" name="TextBox 4"/>
          <p:cNvSpPr txBox="1"/>
          <p:nvPr/>
        </p:nvSpPr>
        <p:spPr bwMode="auto">
          <a:xfrm>
            <a:off x="6400800" y="18288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Frequências dos Harmônicos</a:t>
            </a:r>
            <a:endParaRPr/>
          </a:p>
          <a:p>
            <a:pPr algn="ctr">
              <a:spcAft>
                <a:spcPts val="1000"/>
              </a:spcAft>
              <a:defRPr/>
            </a:pPr>
            <a:r>
              <a:rPr sz="2200" b="1">
                <a:solidFill>
                  <a:srgbClr val="B87333"/>
                </a:solidFill>
                <a:latin typeface="Georgia"/>
              </a:rPr>
              <a:t>fn = n ⋅ f1 ⟹ fn = (n ⋅ v) / 2L</a:t>
            </a:r>
            <a:endParaRPr/>
          </a:p>
          <a:p>
            <a:pPr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• Frequência Fundamental (f1):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Obtida com n = 1, é a menor frequência natural de oscilação da corda [55, 56].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f1 = v / 2L [56].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Série Harmônica Completa: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As frequências permitidas são múltiplos inteiros da fundamental (n = 1, 2, 3, 4...) [56].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f2 = 2f1, f3 = 3f1, f4 = 4f1, etc. [56].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Controle de Afinação: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Músicos alteram as frequências variando o comprimento livre da corda (L) com os dedos ou regulando a tensão (T) nas tarraxas [3, 59, 143].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1113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Corpos vibram intensamente quando excitados em suas frequências naturais</a:t>
            </a:r>
            <a:endParaRPr/>
          </a:p>
        </p:txBody>
      </p:sp>
      <p:sp>
        <p:nvSpPr>
          <p:cNvPr id="1127286327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238545" name="Rectangle 3"/>
          <p:cNvSpPr/>
          <p:nvPr/>
        </p:nvSpPr>
        <p:spPr bwMode="auto">
          <a:xfrm>
            <a:off x="457200" y="1828800"/>
            <a:ext cx="3474720" cy="3931920"/>
          </a:xfrm>
          <a:prstGeom prst="rect">
            <a:avLst/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A Taça de Cristal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300" b="1">
                <a:solidFill>
                  <a:srgbClr val="B87333"/>
                </a:solidFill>
                <a:latin typeface="Arial"/>
              </a:rPr>
              <a:t>Efeito Físico Clássico</a:t>
            </a:r>
            <a:endParaRPr/>
          </a:p>
          <a:p>
            <a:pPr algn="l">
              <a:defRPr/>
            </a:pPr>
            <a:r>
              <a:rPr sz="1250">
                <a:solidFill>
                  <a:srgbClr val="2A2F2D"/>
                </a:solidFill>
                <a:latin typeface="Arial"/>
              </a:rPr>
              <a:t>Ao tocarmos um violino próximo de uma taça de cristal emitindo uma nota com frequência exatamente igual a uma das frequências naturais de vibração da taça, esta absorve energia progressivamente [58].</a:t>
            </a:r>
            <a:br>
              <a:rPr/>
            </a:b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A amplitude de vibração do cristal se eleva de tal maneira que supera as forças de coesão molecular, estilhaçando a taça [58].</a:t>
            </a:r>
            <a:endParaRPr/>
          </a:p>
        </p:txBody>
      </p:sp>
      <p:sp>
        <p:nvSpPr>
          <p:cNvPr id="1792137116" name="Rectangle 4"/>
          <p:cNvSpPr/>
          <p:nvPr/>
        </p:nvSpPr>
        <p:spPr bwMode="auto">
          <a:xfrm>
            <a:off x="4297680" y="1828800"/>
            <a:ext cx="3474720" cy="3931920"/>
          </a:xfrm>
          <a:prstGeom prst="rect">
            <a:avLst/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Caixa de Ressonância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300" b="1">
                <a:solidFill>
                  <a:srgbClr val="B87333"/>
                </a:solidFill>
                <a:latin typeface="Arial"/>
              </a:rPr>
              <a:t>Intensificação de Sons</a:t>
            </a:r>
            <a:endParaRPr/>
          </a:p>
          <a:p>
            <a:pPr algn="l">
              <a:defRPr/>
            </a:pPr>
            <a:r>
              <a:rPr sz="1250">
                <a:solidFill>
                  <a:srgbClr val="2A2F2D"/>
                </a:solidFill>
                <a:latin typeface="Arial"/>
              </a:rPr>
              <a:t>O som emitido por uma corda fina de violão ou violino isolada transporta baixíssima energia para o ar. Ao ser acoplada à caixa de madeira (caixa de ressonância), o ar em seu interior vibra em ressonância [60].</a:t>
            </a:r>
            <a:br>
              <a:rPr/>
            </a:b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Intensifica dramaticamente o som, projetando-o de forma eficiente para a plateia [60].</a:t>
            </a:r>
            <a:endParaRPr/>
          </a:p>
        </p:txBody>
      </p:sp>
      <p:sp>
        <p:nvSpPr>
          <p:cNvPr id="799918578" name="Rectangle 5"/>
          <p:cNvSpPr/>
          <p:nvPr/>
        </p:nvSpPr>
        <p:spPr bwMode="auto">
          <a:xfrm>
            <a:off x="8138160" y="1828800"/>
            <a:ext cx="3474720" cy="3931920"/>
          </a:xfrm>
          <a:prstGeom prst="rect">
            <a:avLst/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A Ponte de Tacoma</a:t>
            </a:r>
            <a:endParaRPr/>
          </a:p>
          <a:p>
            <a:pPr algn="ctr">
              <a:spcAft>
                <a:spcPts val="1400"/>
              </a:spcAft>
              <a:defRPr/>
            </a:pPr>
            <a:r>
              <a:rPr sz="1300" b="1">
                <a:solidFill>
                  <a:srgbClr val="B87333"/>
                </a:solidFill>
                <a:latin typeface="Arial"/>
              </a:rPr>
              <a:t>Aplicações de Engenharia</a:t>
            </a:r>
            <a:endParaRPr/>
          </a:p>
          <a:p>
            <a:pPr algn="l">
              <a:defRPr/>
            </a:pPr>
            <a:r>
              <a:rPr sz="1250">
                <a:solidFill>
                  <a:srgbClr val="2A2F2D"/>
                </a:solidFill>
                <a:latin typeface="Arial"/>
              </a:rPr>
              <a:t>A famosa ponte pênsil de Tacoma Narrows (EUA) colapsou em novembro de 1940 [61]. O vento soprando gerou vórtices periódicos com frequência de oscilação igual à frequência natural da estrutura [61].</a:t>
            </a:r>
            <a:br>
              <a:rPr/>
            </a:b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Consequência:</a:t>
            </a:r>
            <a:br>
              <a:rPr/>
            </a:br>
            <a:r>
              <a:rPr sz="1250">
                <a:solidFill>
                  <a:srgbClr val="2A2F2D"/>
                </a:solidFill>
                <a:latin typeface="Arial"/>
              </a:rPr>
              <a:t>A ponte entrou em ressonância mecânica violenta, oscilando até sua total destruição [61].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985516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Tubos fechados restringem a ressonância a harmônicos de ordens ímpares</a:t>
            </a:r>
            <a:endParaRPr/>
          </a:p>
        </p:txBody>
      </p:sp>
      <p:sp>
        <p:nvSpPr>
          <p:cNvPr id="822056378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95167" name="TextBox 3"/>
          <p:cNvSpPr txBox="1"/>
          <p:nvPr/>
        </p:nvSpPr>
        <p:spPr bwMode="auto">
          <a:xfrm>
            <a:off x="457200" y="18288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Física de Tubos Fechados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• Extremidades e Nós: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Nas extremidades de tubos fechados, as moléculas de ar encostadas no fundo fechado são impedidas de oscilar, caracterizando um NÓ obrigatório [72]. Na extremidade aberta (embocadura), o ar se move livremente, gerando um VENTRE [72, 76].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Comprimentos de Onda Permitidos: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Devido à restrição geométrica de conter um nó e um ventre, as ondas estacionárias só se adaptam para comprimentos de onda ímpares [73]: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λi = 4L / i   (com i = 1, 3, 5, 7...) [74].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Frequências de Ressonância: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fi = (i ⋅ v) / 4L   ou   fi = i ⋅ f1   (com i ímpar) [75].</a:t>
            </a:r>
            <a:endParaRPr/>
          </a:p>
        </p:txBody>
      </p:sp>
      <p:sp>
        <p:nvSpPr>
          <p:cNvPr id="142099658" name="Rounded Rectangle 4"/>
          <p:cNvSpPr/>
          <p:nvPr/>
        </p:nvSpPr>
        <p:spPr bwMode="auto">
          <a:xfrm>
            <a:off x="6400800" y="1828800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/>
            </a:pPr>
            <a:r>
              <a:rPr sz="2000" b="1">
                <a:solidFill>
                  <a:srgbClr val="F4EFEB"/>
                </a:solidFill>
                <a:latin typeface="Georgia"/>
              </a:rPr>
              <a:t>Exclusão dos Harmônicos Pares</a:t>
            </a:r>
            <a:endParaRPr/>
          </a:p>
          <a:p>
            <a:pPr>
              <a:defRPr/>
            </a:pPr>
            <a:r>
              <a:rPr sz="1400">
                <a:solidFill>
                  <a:srgbClr val="F4EFEB"/>
                </a:solidFill>
                <a:latin typeface="Arial"/>
              </a:rPr>
              <a:t>Em tubos fechados em uma das extremidades, não é fisicamente possível excitar harmônicos pares (como 2º e 4º) [75].</a:t>
            </a:r>
            <a:br>
              <a:rPr/>
            </a:b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Dessa forma, após a frequência fundamental f1 (1º harmônico) [74, 75]: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• O próximo harmônico excitável é o 3º (f3 = 3f1) [75].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• Seguido do 5º harmônico (f5 = 5f1) [75].</a:t>
            </a:r>
            <a:br>
              <a:rPr/>
            </a:b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Aplicação Prática: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A clarineta funciona de forma análoga a um tubo sonoro semi-fechado [74, 76]. A ausência de harmônicos pares confere ao instrumento o seu timbre encorpado e aveludado característico [28, 75].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340407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Tubos abertos ressoam em todas as frequências múltiplas da fundamental</a:t>
            </a:r>
            <a:endParaRPr/>
          </a:p>
        </p:txBody>
      </p:sp>
      <p:sp>
        <p:nvSpPr>
          <p:cNvPr id="1252664538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334088" name="TextBox 3"/>
          <p:cNvSpPr txBox="1"/>
          <p:nvPr/>
        </p:nvSpPr>
        <p:spPr bwMode="auto">
          <a:xfrm>
            <a:off x="457200" y="18288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Física de Tubos Abertos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• Extremidades e Ventres: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Em tubos abertos em ambas as extremidades, o ar em contato com o ambiente em ambas as pontas desloca-se livremente, exigindo a formação de VENTRES em ambas as bocas [78].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Comprimentos de Onda Permitidos: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Para manter ventres nas duas saídas, os comprimentos de onda permitidos obedecem à mesma relação das cordas vibrantes [77]: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λn = 2L / n   (com n = 1, 2, 3, 4...) [77].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Frequências de Ressonância: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fn = (n ⋅ v) / 2L   ou   fn = n ⋅ f1   (com n inteiro) [77, 79].</a:t>
            </a:r>
            <a:endParaRPr/>
          </a:p>
        </p:txBody>
      </p:sp>
      <p:sp>
        <p:nvSpPr>
          <p:cNvPr id="308126564" name="Rounded Rectangle 4"/>
          <p:cNvSpPr/>
          <p:nvPr/>
        </p:nvSpPr>
        <p:spPr bwMode="auto">
          <a:xfrm>
            <a:off x="6400800" y="1828800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Série Harmônica Completa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Diferente dos tubos fechados, os tubos abertos são capazes de emitir a sucessão completa de harmônicos (tanto os pares quanto os ímpares) [77].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Sucessão de harmônicos de ressonância: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Som Fundamental f1 [77].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2º Harmônico f2 = 2f1 [77].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3º Harmônico f3 = 3f1 [77].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4º Harmônico f4 = 4f1 [77], e assim sucessivamente.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Aplicação Prática: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A flauta doce convencional, a flauta transversal e os tubos de órgão abertos utilizam esse princípio [78, 84]. A presença de toda a série de harmônicos cria um som brilhante, límpido e rico [28, 77].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519191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Ondas estacionárias obedecem a condições de contorno geométricas rigorosas</a:t>
            </a:r>
            <a:endParaRPr/>
          </a:p>
        </p:txBody>
      </p:sp>
      <p:sp>
        <p:nvSpPr>
          <p:cNvPr id="2004717804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805846385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828800"/>
          <a:ext cx="11277295" cy="3931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11680"/>
                <a:gridCol w="2743200"/>
                <a:gridCol w="2560320"/>
                <a:gridCol w="2194560"/>
                <a:gridCol w="1767535"/>
              </a:tblGrid>
              <a:tr h="98298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>
                          <a:solidFill>
                            <a:srgbClr val="F4EFEB"/>
                          </a:solidFill>
                          <a:latin typeface="Georgia"/>
                        </a:rPr>
                        <a:t>Fonte Sonora</a:t>
                      </a:r>
                      <a:endParaRPr/>
                    </a:p>
                  </a:txBody>
                  <a:tcPr>
                    <a:solidFill>
                      <a:srgbClr val="2A2F2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>
                          <a:solidFill>
                            <a:srgbClr val="F4EFEB"/>
                          </a:solidFill>
                          <a:latin typeface="Georgia"/>
                        </a:rPr>
                        <a:t>Extremidades</a:t>
                      </a:r>
                      <a:endParaRPr/>
                    </a:p>
                  </a:txBody>
                  <a:tcPr>
                    <a:solidFill>
                      <a:srgbClr val="2A2F2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>
                          <a:solidFill>
                            <a:srgbClr val="F4EFEB"/>
                          </a:solidFill>
                          <a:latin typeface="Georgia"/>
                        </a:rPr>
                        <a:t>Modo Vibratório</a:t>
                      </a:r>
                      <a:endParaRPr/>
                    </a:p>
                  </a:txBody>
                  <a:tcPr>
                    <a:solidFill>
                      <a:srgbClr val="2A2F2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>
                          <a:solidFill>
                            <a:srgbClr val="F4EFEB"/>
                          </a:solidFill>
                          <a:latin typeface="Georgia"/>
                        </a:rPr>
                        <a:t>Frequência Fundamental (f1)</a:t>
                      </a:r>
                      <a:endParaRPr/>
                    </a:p>
                  </a:txBody>
                  <a:tcPr>
                    <a:solidFill>
                      <a:srgbClr val="2A2F2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>
                          <a:solidFill>
                            <a:srgbClr val="F4EFEB"/>
                          </a:solidFill>
                          <a:latin typeface="Georgia"/>
                        </a:rPr>
                        <a:t>Harmônicos Permitidos</a:t>
                      </a:r>
                      <a:endParaRPr/>
                    </a:p>
                  </a:txBody>
                  <a:tcPr>
                    <a:solidFill>
                      <a:srgbClr val="2A2F2D"/>
                    </a:solidFill>
                  </a:tcPr>
                </a:tc>
              </a:tr>
              <a:tr h="9829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Cordas Vibrantes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Ambas as extremidades fixas (Nós) [52, 53]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Transversal na corda, longitudinal no ar [7, 52]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f1 = v / 2L [56]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Todos os inteiros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(n = 1, 2, 3, 4...) [56]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</a:tr>
              <a:tr h="9829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Tubos Abertos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FAF8F5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Ambas as extremidades abertas (Ventres) [78]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FAF8F5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Longitudinal de pressão [6, 78]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FAF8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f1 = v / 2L [77]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FAF8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Todos os inteiros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(n = 1, 2, 3, 4...) [77, 79]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FAF8F5"/>
                    </a:solidFill>
                  </a:tcPr>
                </a:tc>
              </a:tr>
              <a:tr h="9829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Tubos Fechados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Uma fechada (Nó) e uma aberta (Ventre) [72, 73]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Longitudinal de pressão [6, 72]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f1 = v / 4L [75]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Apenas os ímpares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sz="1300">
                          <a:solidFill>
                            <a:srgbClr val="2A2F2D"/>
                          </a:solidFill>
                          <a:latin typeface="Arial"/>
                        </a:rPr>
                        <a:t>(i = 1, 3, 5, 7...) [75]</a:t>
                      </a:r>
                      <a:endParaRPr/>
                    </a:p>
                  </a:txBody>
                  <a:tcPr marL="101600" marR="101600" marT="101600" marB="101600">
                    <a:solidFill>
                      <a:srgbClr val="E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89317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A aproximação relativa comprime frentes de onda e eleva a frequência percebida</a:t>
            </a:r>
            <a:endParaRPr/>
          </a:p>
        </p:txBody>
      </p:sp>
      <p:sp>
        <p:nvSpPr>
          <p:cNvPr id="492348466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303860" name="TextBox 3"/>
          <p:cNvSpPr txBox="1"/>
          <p:nvPr/>
        </p:nvSpPr>
        <p:spPr bwMode="auto">
          <a:xfrm>
            <a:off x="457200" y="18288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Fenômeno Acústico de Doppler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• Definição Geral: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Consiste na alteração aparente na frequência de uma onda devido ao movimento relativo de aproximação ou afastamento entre uma fonte emissora e um observador [2, 88].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Aproximação Relativa: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Como a fonte persegue as frentes de onda emitidas anteriormente, a distância entre as frentes diminui à frente do emissor (λe &lt; λ) [89, 90]. O observador capta mais cristas de onda por segundo, resultando em uma frequência aparente superior (som mais agudo) [90].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• Afastamento Relativo: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   As frentes de onda se esticam atrás da fonte em movimento (λe &gt; λ) [89]. O observador registra menos cristas por segundo, percebendo uma frequência inferior (som mais grave) [92].</a:t>
            </a:r>
            <a:endParaRPr/>
          </a:p>
        </p:txBody>
      </p:sp>
      <p:sp>
        <p:nvSpPr>
          <p:cNvPr id="1489468897" name="Rounded Rectangle 4"/>
          <p:cNvSpPr/>
          <p:nvPr/>
        </p:nvSpPr>
        <p:spPr bwMode="auto">
          <a:xfrm>
            <a:off x="6400800" y="2045276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/>
            </a:pPr>
            <a:r>
              <a:rPr sz="2000" b="1">
                <a:solidFill>
                  <a:srgbClr val="F4EFEB"/>
                </a:solidFill>
                <a:latin typeface="Georgia"/>
              </a:rPr>
              <a:t>O Exemplo Clássico</a:t>
            </a:r>
            <a:endParaRPr/>
          </a:p>
          <a:p>
            <a:pPr>
              <a:defRPr/>
            </a:pPr>
            <a:r>
              <a:rPr sz="1400">
                <a:solidFill>
                  <a:srgbClr val="F4EFEB"/>
                </a:solidFill>
                <a:latin typeface="Arial"/>
              </a:rPr>
              <a:t>Imagine uma ambulância em alta velocidade com a sirene ligada aproximando-se de um observador parado na calçada [88, 89].</a:t>
            </a:r>
            <a:br>
              <a:rPr/>
            </a:b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• Fase 1: Aproximação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   O som é agudo, estridente e de alta frequência percebida [88].</a:t>
            </a:r>
            <a:br>
              <a:rPr/>
            </a:b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• Fase 2: Cruzamento e Afastamento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   No instante em que a ambulância passa pelo observador, há uma queda brusca e repentina na altura sonora, tornando-se nitidamente mais grave e de menor frequência [88].</a:t>
            </a:r>
            <a:br>
              <a:rPr/>
            </a:b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• Origem Real:</a:t>
            </a:r>
            <a:br>
              <a:rPr/>
            </a:br>
            <a:r>
              <a:rPr sz="1400">
                <a:solidFill>
                  <a:srgbClr val="F4EFEB"/>
                </a:solidFill>
                <a:latin typeface="Arial"/>
              </a:rPr>
              <a:t>   A frequência real da fonte é perfeitamente CONSTANTE. A alteração de altura sonora é uma illusions biológica provocada puramente pela velocidade relativa entre o veículo e as ondas mecânicas propagadas no ar [12, 88].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5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A equação geral calcula a frequência aparente para qualquer movimento relativo</a:t>
            </a:r>
            <a:endParaRPr/>
          </a:p>
        </p:txBody>
      </p:sp>
      <p:sp>
        <p:nvSpPr>
          <p:cNvPr id="360036688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8469774" name="TextBox 3"/>
          <p:cNvSpPr txBox="1"/>
          <p:nvPr/>
        </p:nvSpPr>
        <p:spPr bwMode="auto">
          <a:xfrm>
            <a:off x="457200" y="18288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/>
            </a:pPr>
            <a:r>
              <a:rPr sz="3600" b="1">
                <a:solidFill>
                  <a:srgbClr val="B87333"/>
                </a:solidFill>
                <a:latin typeface="Georgia"/>
              </a:rPr>
              <a:t>fe = f ⋅ [ ( v ± vO ) / ( v ∓ vF ) ]</a:t>
            </a:r>
            <a:endParaRPr/>
          </a:p>
          <a:p>
            <a:pPr algn="ctr">
              <a:defRPr/>
            </a:pPr>
            <a:r>
              <a:rPr sz="1500" b="1">
                <a:solidFill>
                  <a:srgbClr val="2A2F2D"/>
                </a:solidFill>
                <a:latin typeface="Arial"/>
              </a:rPr>
              <a:t>Convenção Crítica: O referencial positivo do eixo orienta-se do OBSERVADOR para a FONTE ( O → F )</a:t>
            </a:r>
            <a:endParaRPr/>
          </a:p>
        </p:txBody>
      </p:sp>
      <p:sp>
        <p:nvSpPr>
          <p:cNvPr id="741468074" name="Rectangle 4"/>
          <p:cNvSpPr/>
          <p:nvPr/>
        </p:nvSpPr>
        <p:spPr bwMode="auto">
          <a:xfrm>
            <a:off x="1371600" y="3474720"/>
            <a:ext cx="9448494" cy="25400"/>
          </a:xfrm>
          <a:prstGeom prst="rect">
            <a:avLst/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86585" name="TextBox 5"/>
          <p:cNvSpPr txBox="1"/>
          <p:nvPr/>
        </p:nvSpPr>
        <p:spPr bwMode="auto">
          <a:xfrm>
            <a:off x="457200" y="3749039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A2F2D"/>
                </a:solidFill>
                <a:latin typeface="Georgia"/>
              </a:rPr>
              <a:t>Significado dos Termos</a:t>
            </a:r>
            <a:endParaRPr/>
          </a:p>
          <a:p>
            <a:pPr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• fe = Frequência aparente percebida pelo observador (Hz) [92].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f = Frequência real emitida pela fonte sonora (Hz) [92].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v = Velocidade de propagação do som no meio (m/s) [93].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vO = Velocidade escalar do observador em relação ao meio (m/s) [93].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vF = Velocidade escalar da fonte em relação ao meio (m/s) [93].</a:t>
            </a:r>
            <a:endParaRPr/>
          </a:p>
        </p:txBody>
      </p:sp>
      <p:sp>
        <p:nvSpPr>
          <p:cNvPr id="832555435" name="TextBox 6"/>
          <p:cNvSpPr txBox="1"/>
          <p:nvPr/>
        </p:nvSpPr>
        <p:spPr bwMode="auto">
          <a:xfrm>
            <a:off x="6217920" y="3749039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800" b="1">
                <a:solidFill>
                  <a:srgbClr val="2A2F2D"/>
                </a:solidFill>
                <a:latin typeface="Georgia"/>
              </a:rPr>
              <a:t>Regra de Sinais (Referencial O → F)</a:t>
            </a:r>
            <a:endParaRPr/>
          </a:p>
          <a:p>
            <a:pPr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1. Desenhe uma linha reta unindo o Observador e a Fonte [93].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2. Oriente a seta no sentido de O para F (este é o sentido POSITIVO) [93].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3. Se o movimento do corpo (O ou F) estiver a favor da seta: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 Atribua sinal POSITIVO (+) na equação para a velocidade correspondente.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4. Se estiver contra a seta: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 Atribua sinal NEGATIVO (-) na equação.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39371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Do Doppler acústico ao desvio cosmológico para o vermelho</a:t>
            </a:r>
            <a:endParaRPr/>
          </a:p>
        </p:txBody>
      </p:sp>
      <p:sp>
        <p:nvSpPr>
          <p:cNvPr id="1114589602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043789" name="Rounded Rectangle 3"/>
          <p:cNvSpPr/>
          <p:nvPr/>
        </p:nvSpPr>
        <p:spPr bwMode="auto">
          <a:xfrm>
            <a:off x="457200" y="1828800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4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Aplicações Médicas</a:t>
            </a:r>
            <a:endParaRPr/>
          </a:p>
          <a:p>
            <a:pPr>
              <a:spcAft>
                <a:spcPts val="1400"/>
              </a:spcAft>
              <a:defRPr/>
            </a:pPr>
            <a:r>
              <a:rPr sz="1400" b="1">
                <a:solidFill>
                  <a:srgbClr val="B87333"/>
                </a:solidFill>
                <a:latin typeface="Arial"/>
              </a:rPr>
              <a:t>Exame de Ultrassonografia Doppler</a:t>
            </a:r>
            <a:endParaRPr/>
          </a:p>
          <a:p>
            <a:pPr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Os aparelhos de ultrassom médicos de alta tecnologia captam frentes de onda sonoras refletidas pelas hemácias (glóbulos vermelhos) em movimento nos vasos sanguíneos [97, 124].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Medição do Fluxo Sanguíneo: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Calculando o desvio Doppler na frequência do sinal recebido de volta, o computador estima a velocidade precisa do sangue na artéria carótida, detectando estreitamentos e riscos de AVC [124].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Monitoramento de Fetos: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   Permite ouvir os batimentos cardíacos fetais e mapear o fluxo na placenta durante a gestação [97].</a:t>
            </a:r>
            <a:endParaRPr/>
          </a:p>
        </p:txBody>
      </p:sp>
      <p:sp>
        <p:nvSpPr>
          <p:cNvPr id="1860392872" name="Rounded Rectangle 4"/>
          <p:cNvSpPr/>
          <p:nvPr/>
        </p:nvSpPr>
        <p:spPr bwMode="auto">
          <a:xfrm>
            <a:off x="6400800" y="1828800"/>
            <a:ext cx="5303520" cy="3931920"/>
          </a:xfrm>
          <a:prstGeom prst="roundRect">
            <a:avLst>
              <a:gd name="adj" fmla="val 16667"/>
            </a:avLst>
          </a:prstGeom>
          <a:solidFill>
            <a:srgbClr val="7A8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400"/>
              </a:spcAft>
              <a:defRPr/>
            </a:pPr>
            <a:r>
              <a:rPr sz="2000" b="1">
                <a:solidFill>
                  <a:srgbClr val="F4EFEB"/>
                </a:solidFill>
                <a:latin typeface="Georgia"/>
              </a:rPr>
              <a:t>Aplicações na Astrofísica</a:t>
            </a:r>
            <a:endParaRPr/>
          </a:p>
          <a:p>
            <a:pPr>
              <a:spcAft>
                <a:spcPts val="1400"/>
              </a:spcAft>
              <a:defRPr/>
            </a:pPr>
            <a:r>
              <a:rPr sz="1400" b="1">
                <a:solidFill>
                  <a:srgbClr val="B87333"/>
                </a:solidFill>
                <a:latin typeface="Arial"/>
              </a:rPr>
              <a:t>O Desvio para o Vermelho (Redshift)</a:t>
            </a:r>
            <a:endParaRPr/>
          </a:p>
          <a:p>
            <a:pPr>
              <a:defRPr/>
            </a:pPr>
            <a:r>
              <a:rPr sz="1300">
                <a:solidFill>
                  <a:srgbClr val="F4EFEB"/>
                </a:solidFill>
                <a:latin typeface="Arial"/>
              </a:rPr>
              <a:t>O Efeito Doppler é válido para todas as frentes de onda, incluindo a LUZ [91]. Porém, por ser sua velocidade de 300.000 km/s, as alterações só são mensuráveis para velocidades astronômicas gigantescas [91, 163, 164].</a:t>
            </a:r>
            <a:br>
              <a:rPr/>
            </a:b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• Distanciamento de Estrelas e Galáxias: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   Quando estrelas e galáxias se afastam da Terra, a luz emitida sofre um desvio aparente para frequências mais baixas (luz vermelha) [91, 163].</a:t>
            </a:r>
            <a:br>
              <a:rPr/>
            </a:b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• Lei de Hubble:</a:t>
            </a:r>
            <a:br>
              <a:rPr/>
            </a:br>
            <a:r>
              <a:rPr sz="1300">
                <a:solidFill>
                  <a:srgbClr val="F4EFEB"/>
                </a:solidFill>
                <a:latin typeface="Arial"/>
              </a:rPr>
              <a:t>   Edwin Hubble mapeou que quase todas as galáxias distantes sofrem Redshift, comprovando matematicamente que o Universo está em franca expansão.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EF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510473" name="TextBox 1"/>
          <p:cNvSpPr txBox="1"/>
          <p:nvPr/>
        </p:nvSpPr>
        <p:spPr bwMode="auto">
          <a:xfrm>
            <a:off x="457200" y="320040"/>
            <a:ext cx="11277295" cy="1051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2A2F2D"/>
                </a:solidFill>
                <a:latin typeface="Georgia"/>
              </a:rPr>
              <a:t>Aplicações práticas consolidam a síntese matemática da acústica</a:t>
            </a:r>
            <a:endParaRPr/>
          </a:p>
        </p:txBody>
      </p:sp>
      <p:sp>
        <p:nvSpPr>
          <p:cNvPr id="1114693770" name="Rectangle 2"/>
          <p:cNvSpPr/>
          <p:nvPr/>
        </p:nvSpPr>
        <p:spPr bwMode="auto">
          <a:xfrm>
            <a:off x="457200" y="1463040"/>
            <a:ext cx="11277295" cy="254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34172" name="TextBox 3"/>
          <p:cNvSpPr txBox="1"/>
          <p:nvPr/>
        </p:nvSpPr>
        <p:spPr bwMode="auto">
          <a:xfrm>
            <a:off x="457200" y="18288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Exercício Resolvido (FUVEST/Adap.)</a:t>
            </a:r>
            <a:endParaRPr/>
          </a:p>
          <a:p>
            <a:pPr>
              <a:defRPr/>
            </a:pPr>
            <a:r>
              <a:rPr sz="1400">
                <a:solidFill>
                  <a:srgbClr val="2A2F2D"/>
                </a:solidFill>
                <a:latin typeface="Arial"/>
              </a:rPr>
              <a:t>Enunciado:</a:t>
            </a: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Considere uma corda de violão de comprimento L = 50 cm (0,50 metros) que está devidamente afinada para vibrar com uma frequência fundamental de f1 = 500 Hz [66].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a) Determine a velocidade de propagação (v) da onda transversal nessa corda [66].</a:t>
            </a:r>
            <a:br>
              <a:rPr/>
            </a:br>
            <a:br>
              <a:rPr/>
            </a:br>
            <a:r>
              <a:rPr sz="1400">
                <a:solidFill>
                  <a:srgbClr val="2A2F2D"/>
                </a:solidFill>
                <a:latin typeface="Arial"/>
              </a:rPr>
              <a:t>b) Se o comprimento da corda ativa for reduzido exatamente à metade (L' = 25 cm) mantendo-se a mesma tensão e densidade, qual será a nova frequência fundamental do som emitido [66, 67]?</a:t>
            </a:r>
            <a:endParaRPr/>
          </a:p>
        </p:txBody>
      </p:sp>
      <p:sp>
        <p:nvSpPr>
          <p:cNvPr id="1862341636" name="Rounded Rectangle 4"/>
          <p:cNvSpPr/>
          <p:nvPr/>
        </p:nvSpPr>
        <p:spPr bwMode="auto">
          <a:xfrm>
            <a:off x="6217920" y="1828800"/>
            <a:ext cx="5486400" cy="3931920"/>
          </a:xfrm>
          <a:prstGeom prst="roundRect">
            <a:avLst>
              <a:gd name="adj" fmla="val 16667"/>
            </a:avLst>
          </a:prstGeom>
          <a:solidFill>
            <a:srgbClr val="FAF8F5"/>
          </a:solidFill>
          <a:ln w="19050">
            <a:solidFill>
              <a:srgbClr val="7A8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/>
            </a:pPr>
            <a:r>
              <a:rPr sz="2000" b="1">
                <a:solidFill>
                  <a:srgbClr val="2A2F2D"/>
                </a:solidFill>
                <a:latin typeface="Georgia"/>
              </a:rPr>
              <a:t>Resolução Passo a Passo</a:t>
            </a:r>
            <a:endParaRPr/>
          </a:p>
          <a:p>
            <a:pPr>
              <a:defRPr/>
            </a:pPr>
            <a:r>
              <a:rPr sz="1300">
                <a:solidFill>
                  <a:srgbClr val="2A2F2D"/>
                </a:solidFill>
                <a:latin typeface="Arial"/>
              </a:rPr>
              <a:t>Item a: Velocidade de Propagação (v)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No modo fundamental de uma corda, f1 = v / 2L [56, 65].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Isolando a velocidade:</a:t>
            </a:r>
            <a:br>
              <a:rPr/>
            </a:br>
            <a:r>
              <a:rPr sz="1300" b="1">
                <a:solidFill>
                  <a:srgbClr val="B87333"/>
                </a:solidFill>
                <a:latin typeface="Arial"/>
              </a:rPr>
              <a:t>   v = f1 ⋅ 2L = 500 Hz ⋅ 2 ⋅ 0,50 m = 500 m/s [65, 66].</a:t>
            </a:r>
            <a:br>
              <a:rPr/>
            </a:br>
            <a:r>
              <a:rPr sz="1300" b="1">
                <a:solidFill>
                  <a:srgbClr val="B87333"/>
                </a:solidFill>
                <a:latin typeface="Arial"/>
              </a:rPr>
              <a:t>   Resposta: A velocidade de propagação é 500 m/s [66].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Item b: Redução do Comprimento à Metade (L')</a:t>
            </a:r>
            <a:br>
              <a:rPr/>
            </a:br>
            <a:r>
              <a:rPr sz="1300" b="1">
                <a:solidFill>
                  <a:srgbClr val="B87333"/>
                </a:solidFill>
                <a:latin typeface="Arial"/>
              </a:rPr>
              <a:t>• Sendo a tração e a densidade constantes, a velocidade v permanece inalterada em 500 m/s [12, 65].</a:t>
            </a: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• Com L' = 25 cm = 0,25 m, calculamos a nova fundamental:</a:t>
            </a:r>
            <a:br>
              <a:rPr/>
            </a:br>
            <a:r>
              <a:rPr sz="1300" b="1">
                <a:solidFill>
                  <a:srgbClr val="B87333"/>
                </a:solidFill>
                <a:latin typeface="Arial"/>
              </a:rPr>
              <a:t>   f'1 = v / 2L' = 500 m/s / (2 ⋅ 0,25 m) = 1.000 Hz [65, 67].</a:t>
            </a:r>
            <a:br>
              <a:rPr/>
            </a:br>
            <a:br>
              <a:rPr/>
            </a:br>
            <a:r>
              <a:rPr sz="1300">
                <a:solidFill>
                  <a:srgbClr val="2A2F2D"/>
                </a:solidFill>
                <a:latin typeface="Arial"/>
              </a:rPr>
              <a:t>Fórmula de Síntese:</a:t>
            </a:r>
            <a:br>
              <a:rPr/>
            </a:br>
            <a:r>
              <a:rPr sz="1300" b="1">
                <a:solidFill>
                  <a:srgbClr val="B87333"/>
                </a:solidFill>
                <a:latin typeface="Arial"/>
              </a:rPr>
              <a:t>f'1 = f1 ⋅ (L / L') = 500 ⋅ (50 / 25) = 1.000 Hz [3].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2026-08-04T01:20:25Z</dcterms:modified>
  <cp:category/>
</cp:coreProperties>
</file>