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Clique para mover o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t-BR" sz="2000" b="0" u="none" strike="noStrike">
                <a:solidFill>
                  <a:srgbClr val="000000"/>
                </a:solidFill>
                <a:effectLst/>
                <a:uFillTx/>
                <a:latin typeface="Arial"/>
              </a:rPr>
              <a:t>Clique para editar o formato de notas</a:t>
            </a:r>
            <a:endParaRPr lang="pt-BR"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t-BR" sz="1400" b="0" u="none" strike="noStrike">
                <a:solidFill>
                  <a:srgbClr val="000000"/>
                </a:solidFill>
                <a:effectLst/>
                <a:uFillTx/>
                <a:latin typeface="Times New Roman"/>
              </a:rPr>
              <a:t>&lt;cabeçalho&gt;</a:t>
            </a:r>
            <a:endParaRPr lang="pt-BR"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pt-BR" sz="1400" b="0" u="none" strike="noStrike">
                <a:solidFill>
                  <a:srgbClr val="000000"/>
                </a:solidFill>
                <a:effectLst/>
                <a:uFillTx/>
                <a:latin typeface="Times New Roman"/>
              </a:defRPr>
            </a:lvl1pPr>
          </a:lstStyle>
          <a:p>
            <a:pPr indent="0" algn="r">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u="none" strike="noStrike">
                <a:solidFill>
                  <a:srgbClr val="000000"/>
                </a:solidFill>
                <a:effectLst/>
                <a:uFillTx/>
                <a:latin typeface="Times New Roman"/>
              </a:defRPr>
            </a:lvl1pPr>
          </a:lstStyle>
          <a:p>
            <a:pPr indent="0" algn="r">
              <a:buNone/>
            </a:pPr>
            <a:fld id="{08168ACD-3D90-4A67-A970-B2FE0E7F1527}" type="slidenum">
              <a:rPr lang="pt-BR" sz="1400" b="0" u="none" strike="noStrike">
                <a:solidFill>
                  <a:srgbClr val="000000"/>
                </a:solidFill>
                <a:effectLst/>
                <a:uFillTx/>
                <a:latin typeface="Times New Roman"/>
              </a:rPr>
              <a:t>&lt;número&gt;</a:t>
            </a:fld>
            <a:endParaRPr lang="pt-B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1143000" y="685800"/>
            <a:ext cx="4571640" cy="3428640"/>
          </a:xfrm>
          <a:prstGeom prst="rect">
            <a:avLst/>
          </a:prstGeom>
          <a:ln w="0">
            <a:noFill/>
          </a:ln>
        </p:spPr>
      </p:sp>
      <p:sp>
        <p:nvSpPr>
          <p:cNvPr id="1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Apresentação da Aula 02 de Acústica e Óptica Geométrica. Foco nos fundamentos físicos descritos no livro 'Fundamentos da Física' de Ramalho, Nicolau e Toledo (Vol. 2, Cap. 19).</a:t>
            </a:r>
            <a:endParaRPr lang="pt-BR" sz="2000" b="0" u="none" strike="noStrike">
              <a:solidFill>
                <a:srgbClr val="000000"/>
              </a:solidFill>
              <a:effectLst/>
              <a:uFillTx/>
              <a:latin typeface="Arial"/>
            </a:endParaRPr>
          </a:p>
        </p:txBody>
      </p:sp>
      <p:sp>
        <p:nvSpPr>
          <p:cNvPr id="136"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C401FE-7C61-476F-8012-3658AD2C2690}"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1143000" y="685800"/>
            <a:ext cx="4571640" cy="3428640"/>
          </a:xfrm>
          <a:prstGeom prst="rect">
            <a:avLst/>
          </a:prstGeom>
          <a:ln w="0">
            <a:noFill/>
          </a:ln>
        </p:spPr>
      </p:sp>
      <p:sp>
        <p:nvSpPr>
          <p:cNvPr id="1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Ondas mecânicas dependem da elasticidade do meio. A impossibilidade de propagação no vácuo é um clássico exemplo físico [1]. Exemplo de aplicação: o vácuo espacial silencia qualquer explosão, contrariando filmes de ficção científica [25].</a:t>
            </a:r>
            <a:endParaRPr lang="pt-BR" sz="2000" b="0" u="none" strike="noStrike">
              <a:solidFill>
                <a:srgbClr val="000000"/>
              </a:solidFill>
              <a:effectLst/>
              <a:uFillTx/>
              <a:latin typeface="Arial"/>
            </a:endParaRPr>
          </a:p>
        </p:txBody>
      </p:sp>
      <p:sp>
        <p:nvSpPr>
          <p:cNvPr id="139"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D55B591-FB1F-4750-BCF7-C0551F40D715}"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1143000" y="685800"/>
            <a:ext cx="4571640" cy="3428640"/>
          </a:xfrm>
          <a:prstGeom prst="rect">
            <a:avLst/>
          </a:prstGeom>
          <a:ln w="0">
            <a:noFill/>
          </a:ln>
        </p:spPr>
      </p:sp>
      <p:sp>
        <p:nvSpPr>
          <p:cNvPr id="1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Os limites de 20 Hz a 20.000 Hz são uma convenção biológica para seres humanos jovens [4]. Frequências ultrassônicas de até 1.5 MHz são utilizadas em testes de placas plásticas e medicina [34].</a:t>
            </a:r>
            <a:endParaRPr lang="pt-BR" sz="2000" b="0" u="none" strike="noStrike">
              <a:solidFill>
                <a:srgbClr val="000000"/>
              </a:solidFill>
              <a:effectLst/>
              <a:uFillTx/>
              <a:latin typeface="Arial"/>
            </a:endParaRPr>
          </a:p>
        </p:txBody>
      </p:sp>
      <p:sp>
        <p:nvSpPr>
          <p:cNvPr id="142"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1432D49-4893-4670-93E3-C22BF5D1B882}"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1143000" y="685800"/>
            <a:ext cx="4571640" cy="3428640"/>
          </a:xfrm>
          <a:prstGeom prst="rect">
            <a:avLst/>
          </a:prstGeom>
          <a:ln w="0">
            <a:noFill/>
          </a:ln>
        </p:spPr>
      </p:sp>
      <p:sp>
        <p:nvSpPr>
          <p:cNvPr id="1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 velocidade do som no ar é da ordem de 340 m/s a 15 °C [5]. A variação de velocidades de propagação serve para medição de misturas gasosas [26] e identificação de camadas do solo por sismologia [43].</a:t>
            </a:r>
            <a:endParaRPr lang="pt-BR" sz="2000" b="0" u="none" strike="noStrike">
              <a:solidFill>
                <a:srgbClr val="000000"/>
              </a:solidFill>
              <a:effectLst/>
              <a:uFillTx/>
              <a:latin typeface="Arial"/>
            </a:endParaRPr>
          </a:p>
        </p:txBody>
      </p:sp>
      <p:sp>
        <p:nvSpPr>
          <p:cNvPr id="145"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E42F023-8AA3-44F4-BC2E-5172FAC0226A}"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1143000" y="685800"/>
            <a:ext cx="4571640" cy="3428640"/>
          </a:xfrm>
          <a:prstGeom prst="rect">
            <a:avLst/>
          </a:prstGeom>
          <a:ln w="0">
            <a:noFill/>
          </a:ln>
        </p:spPr>
      </p:sp>
      <p:sp>
        <p:nvSpPr>
          <p:cNvPr id="1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 velocidade varia com a raiz quadrada da temperatura absoluta em gases ideais. A velocidade do som no ar seco aumenta cerca de 0.6 m/s para cada grau Celsius adicionado.</a:t>
            </a:r>
            <a:endParaRPr lang="pt-BR" sz="2000" b="0" u="none" strike="noStrike">
              <a:solidFill>
                <a:srgbClr val="000000"/>
              </a:solidFill>
              <a:effectLst/>
              <a:uFillTx/>
              <a:latin typeface="Arial"/>
            </a:endParaRPr>
          </a:p>
        </p:txBody>
      </p:sp>
      <p:sp>
        <p:nvSpPr>
          <p:cNvPr id="148"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D82181-17B1-439E-A117-15D2508A48B2}"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1143000" y="685800"/>
            <a:ext cx="4571640" cy="3428640"/>
          </a:xfrm>
          <a:prstGeom prst="rect">
            <a:avLst/>
          </a:prstGeom>
          <a:ln w="0">
            <a:noFill/>
          </a:ln>
        </p:spPr>
      </p:sp>
      <p:sp>
        <p:nvSpPr>
          <p:cNvPr id="1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 altura diferencia graves e agudos pela frequência [7]. A voz masculina média vibra a 100 Hz; a feminina, a 200 Hz ou mais. Definição matemática de oitava (i=2) e tom maior (9/8) [7], sustenido (25/24) [14].</a:t>
            </a:r>
            <a:endParaRPr lang="pt-BR" sz="2000" b="0" u="none" strike="noStrike">
              <a:solidFill>
                <a:srgbClr val="000000"/>
              </a:solidFill>
              <a:effectLst/>
              <a:uFillTx/>
              <a:latin typeface="Arial"/>
            </a:endParaRPr>
          </a:p>
        </p:txBody>
      </p:sp>
      <p:sp>
        <p:nvSpPr>
          <p:cNvPr id="151"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B5A17F2-6F7E-4A3C-AAC9-A760F9B786B5}"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1143000" y="685800"/>
            <a:ext cx="4571640" cy="3428640"/>
          </a:xfrm>
          <a:prstGeom prst="rect">
            <a:avLst/>
          </a:prstGeom>
          <a:ln w="0">
            <a:noFill/>
          </a:ln>
        </p:spPr>
      </p:sp>
      <p:sp>
        <p:nvSpPr>
          <p:cNvPr id="15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Definição matemática de intensidade física como quociente entre energia, área e tempo [8, 9]. Diferenciação de sons fracos e fortes por amplitude. Limiares físicos cruciais: audição (10^-12 W/m²) e dor (1 W/m²) [10, 13].</a:t>
            </a:r>
            <a:endParaRPr lang="pt-BR" sz="2000" b="0" u="none" strike="noStrike">
              <a:solidFill>
                <a:srgbClr val="000000"/>
              </a:solidFill>
              <a:effectLst/>
              <a:uFillTx/>
              <a:latin typeface="Arial"/>
            </a:endParaRPr>
          </a:p>
        </p:txBody>
      </p:sp>
      <p:sp>
        <p:nvSpPr>
          <p:cNvPr id="154"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954F34-FEB5-4E3B-89D1-024C5665BBAF}"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1143000" y="685800"/>
            <a:ext cx="4571640" cy="3428640"/>
          </a:xfrm>
          <a:prstGeom prst="rect">
            <a:avLst/>
          </a:prstGeom>
          <a:ln w="0">
            <a:noFill/>
          </a:ln>
        </p:spPr>
      </p:sp>
      <p:sp>
        <p:nvSpPr>
          <p:cNvPr id="1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Cálculo matemático do nível sonoro em decibéis [11]. Aumento de 20 dB corresponde a uma intensidade física 100 vezes maior (exemplo proposed P.485/T.458) [14, 41]. Exposição máxima de segurança (85 dB) e amplificadores de shows de rock alcançando até 125 dB [10, 61].</a:t>
            </a:r>
            <a:endParaRPr lang="pt-BR" sz="2000" b="0" u="none" strike="noStrike">
              <a:solidFill>
                <a:srgbClr val="000000"/>
              </a:solidFill>
              <a:effectLst/>
              <a:uFillTx/>
              <a:latin typeface="Arial"/>
            </a:endParaRPr>
          </a:p>
        </p:txBody>
      </p:sp>
      <p:sp>
        <p:nvSpPr>
          <p:cNvPr id="157"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043C76F-9330-45E4-BE6A-2BDEF3EDF88B}"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1143000" y="685800"/>
            <a:ext cx="4571640" cy="3428640"/>
          </a:xfrm>
          <a:prstGeom prst="rect">
            <a:avLst/>
          </a:prstGeom>
          <a:ln w="0">
            <a:noFill/>
          </a:ln>
        </p:spPr>
      </p:sp>
      <p:sp>
        <p:nvSpPr>
          <p:cNvPr id="15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Definição conceitual de timbre [37]. Análise de harmônicos e forma de onda: flauta e violino tocando a mesma nota em intensidades diferentes [38]. A figura complexa resultante (S) da composição do som fundamental (H0) e de harmônicos adicionais [39].</a:t>
            </a:r>
            <a:endParaRPr lang="pt-BR" sz="2000" b="0" u="none" strike="noStrike">
              <a:solidFill>
                <a:srgbClr val="000000"/>
              </a:solidFill>
              <a:effectLst/>
              <a:uFillTx/>
              <a:latin typeface="Arial"/>
            </a:endParaRPr>
          </a:p>
        </p:txBody>
      </p:sp>
      <p:sp>
        <p:nvSpPr>
          <p:cNvPr id="160"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28A4A0-E6A3-4583-870F-C547ADAC2031}"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1143000" y="685800"/>
            <a:ext cx="4571640" cy="3428640"/>
          </a:xfrm>
          <a:prstGeom prst="rect">
            <a:avLst/>
          </a:prstGeom>
          <a:ln w="0">
            <a:noFill/>
          </a:ln>
        </p:spPr>
      </p:sp>
      <p:sp>
        <p:nvSpPr>
          <p:cNvPr id="16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As ondas sonoras por serem longitudinais não podem ser polarizadas [2]. A compreensão dessas propriedades é fundamental para o estudo da acústica de salas e cancelamento acústico.</a:t>
            </a:r>
            <a:endParaRPr lang="pt-BR" sz="2000" b="0" u="none" strike="noStrike">
              <a:solidFill>
                <a:srgbClr val="000000"/>
              </a:solidFill>
              <a:effectLst/>
              <a:uFillTx/>
              <a:latin typeface="Arial"/>
            </a:endParaRPr>
          </a:p>
        </p:txBody>
      </p:sp>
      <p:sp>
        <p:nvSpPr>
          <p:cNvPr id="163"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F79929-BC58-4F1F-93E8-01220D954D44}"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1143000" y="685800"/>
            <a:ext cx="4571640" cy="3428640"/>
          </a:xfrm>
          <a:prstGeom prst="rect">
            <a:avLst/>
          </a:prstGeom>
          <a:ln w="0">
            <a:noFill/>
          </a:ln>
        </p:spPr>
      </p:sp>
      <p:sp>
        <p:nvSpPr>
          <p:cNvPr id="16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 persistência auditiva humana média é de 0,10 s [17]. Cálculo de eco em terreno plano: distância mínima no ar é x = 340 * 0.10 / 2 = 17 m (exemplo proposed P.488) [17]. Sonar e ecolocalização são exemplos de aplicação tecnológica [15].</a:t>
            </a:r>
            <a:endParaRPr lang="pt-BR" sz="2000" b="0" u="none" strike="noStrike">
              <a:solidFill>
                <a:srgbClr val="000000"/>
              </a:solidFill>
              <a:effectLst/>
              <a:uFillTx/>
              <a:latin typeface="Arial"/>
            </a:endParaRPr>
          </a:p>
        </p:txBody>
      </p:sp>
      <p:sp>
        <p:nvSpPr>
          <p:cNvPr id="166"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707A8B0-2285-4C18-BA10-CC5892421CA5}"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1143000" y="685800"/>
            <a:ext cx="4571640" cy="3428640"/>
          </a:xfrm>
          <a:prstGeom prst="rect">
            <a:avLst/>
          </a:prstGeom>
          <a:ln w="0">
            <a:noFill/>
          </a:ln>
        </p:spPr>
      </p:sp>
      <p:sp>
        <p:nvSpPr>
          <p:cNvPr id="16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Diferença entre refração (frequência inalterada, velocidade e comprimento mudam) [42]. Exemplo clássico da refração do som do ar para a água do lago (Proposed P.491/T.463) [18, 42]. A difração explica por que o som se propaga por aberturas ordinárias.</a:t>
            </a:r>
            <a:endParaRPr lang="pt-BR" sz="2000" b="0" u="none" strike="noStrike">
              <a:solidFill>
                <a:srgbClr val="000000"/>
              </a:solidFill>
              <a:effectLst/>
              <a:uFillTx/>
              <a:latin typeface="Arial"/>
            </a:endParaRPr>
          </a:p>
        </p:txBody>
      </p:sp>
      <p:sp>
        <p:nvSpPr>
          <p:cNvPr id="169"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016848-7AD3-4AB0-A99D-D846BABB14AD}"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1143000" y="685800"/>
            <a:ext cx="4571640" cy="3428640"/>
          </a:xfrm>
          <a:prstGeom prst="rect">
            <a:avLst/>
          </a:prstGeom>
          <a:ln w="0">
            <a:noFill/>
          </a:ln>
        </p:spPr>
      </p:sp>
      <p:sp>
        <p:nvSpPr>
          <p:cNvPr id="17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BR" sz="2000" b="0" u="none" strike="noStrike">
                <a:solidFill>
                  <a:srgbClr val="000000"/>
                </a:solidFill>
                <a:effectLst/>
                <a:uFillTx/>
                <a:latin typeface="Arial"/>
              </a:rPr>
              <a:t>A interferência de ondas de frequências ligeiramente diferentes causa batimentos [16]. A frequência de batimento é igual à diferença entre as frequências [16]. Fórmula do batimento mostrada em exercícios (Proposed T.471) [48].</a:t>
            </a:r>
            <a:endParaRPr lang="pt-BR" sz="2000" b="0" u="none" strike="noStrike">
              <a:solidFill>
                <a:srgbClr val="000000"/>
              </a:solidFill>
              <a:effectLst/>
              <a:uFillTx/>
              <a:latin typeface="Arial"/>
            </a:endParaRPr>
          </a:p>
        </p:txBody>
      </p:sp>
      <p:sp>
        <p:nvSpPr>
          <p:cNvPr id="172"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31A8A1-93D5-470F-B1F4-A7596610A65A}" type="slidenum">
              <a:rPr lang="en-US" sz="1200" b="0" u="none" strike="noStrike">
                <a:solidFill>
                  <a:srgbClr val="000000"/>
                </a:solidFill>
                <a:effectLst/>
                <a:uFillTx/>
                <a:latin typeface="Times New Roman"/>
              </a:rPr>
              <a:t>&lt;número&gt;</a:t>
            </a:fld>
            <a:endParaRPr lang="pt-B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DB991DF-DA48-4E0D-859C-9C342411723A}"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296372-BE1D-42EB-B1BB-1390E6F024A3}"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537FDEF-9FEE-412C-BDC4-FD9BFAE14F80}"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5A385C7-D435-43E6-A335-8CE2421557D5}"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7C83234-BC8F-478E-BF4E-2A657A8879BE}"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2347CE2-0E54-4F37-9643-30B0C706DEE3}"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D006E10-1626-4C41-9028-61C2F0183351}"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E4436F5-E200-41F5-8149-916EBE139225}"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7DC3594-49BB-43F3-B8BC-3376688FEFAC}"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Clique para editar o formato do texto do título</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Clique para editar o formato de texto dos tópicos</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2.º nível de tópicos</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3.º nível de tópicos</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4.º nível de tópicos</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5.º nível de tópicos</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6.º nível de tópicos</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7.º nível de tópicos</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2706938-16A7-4D31-A722-83BDEBC0145C}"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Clique para editar o formato de texto dos tópicos</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2.º nível de tópicos</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3.º nível de tópicos</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4.º nível de tópicos</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5.º nível de tópicos</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6.º nível de tópicos</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7.º nível de tópicos</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pt-BR"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0E01014-E0E6-49E2-9F60-CB48E78A99A3}" type="slidenum">
              <a:rPr lang="en-US" sz="1200" b="0" u="none" strike="noStrike">
                <a:solidFill>
                  <a:schemeClr val="dk1">
                    <a:tint val="75000"/>
                  </a:schemeClr>
                </a:solidFill>
                <a:effectLst/>
                <a:uFillTx/>
                <a:latin typeface="Calibri"/>
              </a:rPr>
              <a:t>&lt;número&gt;</a:t>
            </a:fld>
            <a:endParaRPr lang="pt-BR"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226"/>
        </a:solidFill>
      </p:bgPr>
    </p:bg>
    <p:spTree>
      <p:nvGrpSpPr>
        <p:cNvPr id="1" name=""/>
        <p:cNvGrpSpPr/>
        <p:nvPr/>
      </p:nvGrpSpPr>
      <p:grpSpPr>
        <a:xfrm>
          <a:off x="0" y="0"/>
          <a:ext cx="0" cy="0"/>
          <a:chOff x="0" y="0"/>
          <a:chExt cx="0" cy="0"/>
        </a:xfrm>
      </p:grpSpPr>
      <p:sp>
        <p:nvSpPr>
          <p:cNvPr id="67" name="TextBox 1"/>
          <p:cNvSpPr/>
          <p:nvPr/>
        </p:nvSpPr>
        <p:spPr>
          <a:xfrm>
            <a:off x="914400" y="2011680"/>
            <a:ext cx="10332360" cy="16455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4200" b="1" u="none" strike="noStrike">
                <a:solidFill>
                  <a:srgbClr val="FFFFFF"/>
                </a:solidFill>
                <a:effectLst/>
                <a:uFillTx/>
                <a:latin typeface="Georgia"/>
              </a:rPr>
              <a:t>Introdução às Ondas Sonoras</a:t>
            </a:r>
            <a:endParaRPr lang="pt-BR" sz="4200" b="0" u="none" strike="noStrike">
              <a:solidFill>
                <a:srgbClr val="FFFFFF"/>
              </a:solidFill>
              <a:effectLst/>
              <a:uFillTx/>
              <a:latin typeface="Arial"/>
            </a:endParaRPr>
          </a:p>
          <a:p>
            <a:pPr defTabSz="457200">
              <a:lnSpc>
                <a:spcPct val="100000"/>
              </a:lnSpc>
            </a:pPr>
            <a:r>
              <a:rPr lang="en-US" sz="2200" b="0" u="none" strike="noStrike">
                <a:solidFill>
                  <a:srgbClr val="C09341"/>
                </a:solidFill>
                <a:effectLst/>
                <a:uFillTx/>
                <a:latin typeface="Georgia"/>
              </a:rPr>
              <a:t>Fundamentos da Acústica — Aula 02</a:t>
            </a:r>
            <a:endParaRPr lang="pt-BR" sz="2200" b="0" u="none" strike="noStrike">
              <a:solidFill>
                <a:srgbClr val="FFFFFF"/>
              </a:solidFill>
              <a:effectLst/>
              <a:uFillTx/>
              <a:latin typeface="Arial"/>
            </a:endParaRPr>
          </a:p>
        </p:txBody>
      </p:sp>
      <p:sp>
        <p:nvSpPr>
          <p:cNvPr id="68" name="Rectangle 2"/>
          <p:cNvSpPr/>
          <p:nvPr/>
        </p:nvSpPr>
        <p:spPr>
          <a:xfrm>
            <a:off x="914400" y="3931920"/>
            <a:ext cx="3657240" cy="2520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69" name="TextBox 3"/>
          <p:cNvSpPr/>
          <p:nvPr/>
        </p:nvSpPr>
        <p:spPr>
          <a:xfrm>
            <a:off x="914400" y="4297680"/>
            <a:ext cx="10332360" cy="1645560"/>
          </a:xfrm>
          <a:prstGeom prst="rect">
            <a:avLst/>
          </a:prstGeom>
          <a:noFill/>
          <a:ln w="0">
            <a:noFill/>
          </a:ln>
        </p:spPr>
        <p:style>
          <a:lnRef idx="0"/>
          <a:fillRef idx="0"/>
          <a:effectRef idx="0"/>
          <a:fontRef idx="minor"/>
        </p:style>
        <p:txBody>
          <a:bodyPr lIns="0" tIns="0" rIns="0" bIns="0" anchor="t">
            <a:spAutoFit/>
          </a:bodyPr>
          <a:p>
            <a:r>
              <a:rPr lang="en-US" sz="1400" b="0" i="1" u="none" strike="noStrike">
                <a:solidFill>
                  <a:srgbClr val="F4EFEB"/>
                </a:solidFill>
                <a:effectLst/>
                <a:uFillTx/>
                <a:latin typeface="Arial"/>
              </a:rPr>
              <a:t>Seções 19.1, 19.2, 19.3 — Cap. 19 / Ramalho</a:t>
            </a:r>
            <a:endParaRPr lang="pt-BR" sz="1400" b="0" u="none" strike="noStrike">
              <a:solidFill>
                <a:srgbClr val="FFFFFF"/>
              </a:solidFill>
              <a:effectLst/>
              <a:uFillTx/>
              <a:latin typeface="Arial"/>
            </a:endParaRPr>
          </a:p>
          <a:p>
            <a:pPr defTabSz="457200">
              <a:lnSpc>
                <a:spcPct val="100000"/>
              </a:lnSpc>
            </a:pPr>
            <a:endParaRPr lang="pt-BR" sz="1400" b="0" u="none" strike="noStrike">
              <a:solidFill>
                <a:srgbClr val="FFFFFF"/>
              </a:solidFill>
              <a:effectLst/>
              <a:uFillTx/>
              <a:latin typeface="Arial"/>
            </a:endParaRPr>
          </a:p>
          <a:p>
            <a:pPr defTabSz="457200">
              <a:lnSpc>
                <a:spcPct val="100000"/>
              </a:lnSpc>
            </a:pPr>
            <a:r>
              <a:rPr lang="en-US" sz="1400" b="1" u="none" strike="noStrike">
                <a:solidFill>
                  <a:srgbClr val="F4EFEB"/>
                </a:solidFill>
                <a:effectLst/>
                <a:uFillTx/>
                <a:latin typeface="Arial"/>
              </a:rPr>
              <a:t>Prof. Humberto L. Oliveira — IFSC/Câmpus São José</a:t>
            </a:r>
            <a:endParaRPr lang="pt-BR" sz="1400" b="0" u="none" strike="noStrike">
              <a:solidFill>
                <a:srgbClr val="FFFFFF"/>
              </a:solidFill>
              <a:effectLst/>
              <a:uFillTx/>
              <a:latin typeface="Arial"/>
            </a:endParaRPr>
          </a:p>
        </p:txBody>
      </p:sp>
      <p:pic>
        <p:nvPicPr>
          <p:cNvPr id="70" name=""/>
          <p:cNvPicPr/>
          <p:nvPr/>
        </p:nvPicPr>
        <p:blipFill>
          <a:blip r:embed="rId1"/>
          <a:stretch/>
        </p:blipFill>
        <p:spPr>
          <a:xfrm>
            <a:off x="7365600" y="0"/>
            <a:ext cx="4838400" cy="16282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71"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72"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Origem e Natureza das Ondas Sonoras</a:t>
            </a:r>
            <a:endParaRPr lang="pt-BR" sz="2400" b="0" u="none" strike="noStrike">
              <a:solidFill>
                <a:srgbClr val="000000"/>
              </a:solidFill>
              <a:effectLst/>
              <a:uFillTx/>
              <a:latin typeface="Arial"/>
            </a:endParaRPr>
          </a:p>
        </p:txBody>
      </p:sp>
      <p:sp>
        <p:nvSpPr>
          <p:cNvPr id="73"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74" name="Rounded Rectangle 4"/>
          <p:cNvSpPr/>
          <p:nvPr/>
        </p:nvSpPr>
        <p:spPr>
          <a:xfrm>
            <a:off x="731520" y="1645920"/>
            <a:ext cx="5028840" cy="4388760"/>
          </a:xfrm>
          <a:prstGeom prst="roundRect">
            <a:avLst>
              <a:gd name="adj" fmla="val 16667"/>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5760" tIns="365760" rIns="365760" bIns="365760" anchor="ctr">
            <a:noAutofit/>
          </a:bodyPr>
          <a:p>
            <a:pPr algn="ctr" defTabSz="457200">
              <a:lnSpc>
                <a:spcPct val="100000"/>
              </a:lnSpc>
              <a:spcAft>
                <a:spcPts val="1400"/>
              </a:spcAft>
            </a:pPr>
            <a:r>
              <a:rPr lang="en-US" sz="2000" b="1" u="none" strike="noStrike">
                <a:solidFill>
                  <a:srgbClr val="FFFFFF"/>
                </a:solidFill>
                <a:effectLst/>
                <a:uFillTx/>
                <a:latin typeface="Georgia"/>
              </a:rPr>
              <a:t>Definição Fundamental</a:t>
            </a:r>
            <a:endParaRPr lang="pt-BR" sz="2000" b="0" u="none" strike="noStrike">
              <a:solidFill>
                <a:srgbClr val="FFFFFF"/>
              </a:solidFill>
              <a:effectLst/>
              <a:uFillTx/>
              <a:latin typeface="Arial"/>
            </a:endParaRPr>
          </a:p>
          <a:p>
            <a:pPr algn="ctr" defTabSz="457200">
              <a:lnSpc>
                <a:spcPct val="100000"/>
              </a:lnSpc>
              <a:spcAft>
                <a:spcPts val="1400"/>
              </a:spcAft>
            </a:pPr>
            <a:r>
              <a:rPr lang="en-US" sz="1500" b="0" u="none" strike="noStrike">
                <a:solidFill>
                  <a:srgbClr val="FFFFFF"/>
                </a:solidFill>
                <a:effectLst/>
                <a:uFillTx/>
                <a:latin typeface="Arial"/>
              </a:rPr>
              <a:t>As ondas sonoras são ondas mecânicas longitudinais que necessitam de um meio elástico (sólido, líquido ou gasoso) para se propagarem. </a:t>
            </a:r>
            <a:endParaRPr lang="pt-BR" sz="1500" b="0" u="none" strike="noStrike">
              <a:solidFill>
                <a:srgbClr val="FFFFFF"/>
              </a:solidFill>
              <a:effectLst/>
              <a:uFillTx/>
              <a:latin typeface="Arial"/>
            </a:endParaRPr>
          </a:p>
          <a:p>
            <a:pPr algn="ctr" defTabSz="457200">
              <a:lnSpc>
                <a:spcPct val="100000"/>
              </a:lnSpc>
              <a:spcAft>
                <a:spcPts val="1400"/>
              </a:spcAft>
            </a:pPr>
            <a:endParaRPr lang="pt-BR" sz="1500" b="0" u="none" strike="noStrike">
              <a:solidFill>
                <a:srgbClr val="FFFFFF"/>
              </a:solidFill>
              <a:effectLst/>
              <a:uFillTx/>
              <a:latin typeface="Arial"/>
            </a:endParaRPr>
          </a:p>
          <a:p>
            <a:pPr defTabSz="457200">
              <a:lnSpc>
                <a:spcPct val="100000"/>
              </a:lnSpc>
            </a:pPr>
            <a:r>
              <a:rPr lang="en-US" sz="1500" b="0" u="none" strike="noStrike">
                <a:solidFill>
                  <a:srgbClr val="FFFFFF"/>
                </a:solidFill>
                <a:effectLst/>
                <a:uFillTx/>
                <a:latin typeface="Arial"/>
              </a:rPr>
              <a:t>Como se trata de um processo puramente mecânico de transferência de energia através de colisões moleculares, o som não pode se propagar no vácuo.</a:t>
            </a:r>
            <a:endParaRPr lang="pt-BR" sz="1500" b="0" u="none" strike="noStrike">
              <a:solidFill>
                <a:srgbClr val="FFFFFF"/>
              </a:solidFill>
              <a:effectLst/>
              <a:uFillTx/>
              <a:latin typeface="Arial"/>
            </a:endParaRPr>
          </a:p>
        </p:txBody>
      </p:sp>
      <p:sp>
        <p:nvSpPr>
          <p:cNvPr id="75" name="TextBox 5"/>
          <p:cNvSpPr/>
          <p:nvPr/>
        </p:nvSpPr>
        <p:spPr>
          <a:xfrm>
            <a:off x="6217920" y="1645920"/>
            <a:ext cx="52117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O Mecanismo de Propagação</a:t>
            </a:r>
            <a:endParaRPr lang="pt-BR" sz="200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Fontes Vibrantes: </a:t>
            </a:r>
            <a:r>
              <a:rPr lang="en-US" sz="1400" b="0" u="none" strike="noStrike">
                <a:solidFill>
                  <a:srgbClr val="252C32"/>
                </a:solidFill>
                <a:effectLst/>
                <a:uFillTx/>
                <a:latin typeface="Arial"/>
              </a:rPr>
              <a:t>Qualquer corpo que vibre (como as cordas de um violão ou a membrana de um alto-falante) empurra as moléculas de ar adjacentes.</a:t>
            </a:r>
            <a:endParaRPr lang="pt-BR" sz="140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Compressão: </a:t>
            </a:r>
            <a:r>
              <a:rPr lang="en-US" sz="1400" b="0" u="none" strike="noStrike">
                <a:solidFill>
                  <a:srgbClr val="252C32"/>
                </a:solidFill>
                <a:effectLst/>
                <a:uFillTx/>
                <a:latin typeface="Arial"/>
              </a:rPr>
              <a:t>Regiões onde há acúmulo temporário de moléculas de ar, resultando em maior densidade e pressão.</a:t>
            </a:r>
            <a:endParaRPr lang="pt-BR" sz="140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Rarefação: </a:t>
            </a:r>
            <a:r>
              <a:rPr lang="en-US" sz="1400" b="0" u="none" strike="noStrike">
                <a:solidFill>
                  <a:srgbClr val="252C32"/>
                </a:solidFill>
                <a:effectLst/>
                <a:uFillTx/>
                <a:latin typeface="Arial"/>
              </a:rPr>
              <a:t>Regiões onde as moléculas se afastam, resultando em menor densidade e pressão local.</a:t>
            </a:r>
            <a:endParaRPr lang="pt-BR" sz="140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Perturbação Periódica: </a:t>
            </a:r>
            <a:r>
              <a:rPr lang="en-US" sz="1400" b="0" u="none" strike="noStrike">
                <a:solidFill>
                  <a:srgbClr val="252C32"/>
                </a:solidFill>
                <a:effectLst/>
                <a:uFillTx/>
                <a:latin typeface="Arial"/>
              </a:rPr>
              <a:t>A alternância contínua entre zonas de compressão e rarefação se desloca pelo meio material como uma onda de pressão.</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76"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77"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Espectro e Limites das Frequências Sonoras</a:t>
            </a:r>
            <a:endParaRPr lang="pt-BR" sz="2400" b="0" u="none" strike="noStrike">
              <a:solidFill>
                <a:srgbClr val="000000"/>
              </a:solidFill>
              <a:effectLst/>
              <a:uFillTx/>
              <a:latin typeface="Arial"/>
            </a:endParaRPr>
          </a:p>
        </p:txBody>
      </p:sp>
      <p:sp>
        <p:nvSpPr>
          <p:cNvPr id="78"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79" name="Rounded Rectangle 4"/>
          <p:cNvSpPr/>
          <p:nvPr/>
        </p:nvSpPr>
        <p:spPr>
          <a:xfrm>
            <a:off x="731520" y="1828800"/>
            <a:ext cx="3291480" cy="411444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274320" rIns="274320" bIns="274320" anchor="ctr">
            <a:noAutofit/>
          </a:bodyPr>
          <a:p>
            <a:pPr algn="ctr" defTabSz="457200">
              <a:lnSpc>
                <a:spcPct val="100000"/>
              </a:lnSpc>
            </a:pPr>
            <a:r>
              <a:rPr lang="en-US" sz="1200" b="1" u="none" strike="noStrike">
                <a:solidFill>
                  <a:srgbClr val="6E767D"/>
                </a:solidFill>
                <a:effectLst/>
                <a:uFillTx/>
                <a:latin typeface="Arial"/>
              </a:rPr>
              <a:t>INFRASSOM</a:t>
            </a:r>
            <a:endParaRPr lang="pt-BR" sz="1200" b="0" u="none" strike="noStrike">
              <a:solidFill>
                <a:srgbClr val="000000"/>
              </a:solidFill>
              <a:effectLst/>
              <a:uFillTx/>
              <a:latin typeface="Arial"/>
            </a:endParaRPr>
          </a:p>
          <a:p>
            <a:pPr algn="ctr" defTabSz="457200">
              <a:lnSpc>
                <a:spcPct val="100000"/>
              </a:lnSpc>
              <a:spcAft>
                <a:spcPts val="1199"/>
              </a:spcAft>
            </a:pPr>
            <a:r>
              <a:rPr lang="en-US" sz="2400" b="1" u="none" strike="noStrike">
                <a:solidFill>
                  <a:srgbClr val="C09341"/>
                </a:solidFill>
                <a:effectLst/>
                <a:uFillTx/>
                <a:latin typeface="Georgia"/>
              </a:rPr>
              <a:t>&lt; 20 Hz</a:t>
            </a:r>
            <a:endParaRPr lang="pt-BR" sz="24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Frequências abaixo do limite inferior da audibilidade humana. Produzidas por grandes massas físicas.</a:t>
            </a:r>
            <a:endParaRPr lang="pt-BR" sz="1200" b="0" u="none" strike="noStrike">
              <a:solidFill>
                <a:srgbClr val="000000"/>
              </a:solidFill>
              <a:effectLst/>
              <a:uFillTx/>
              <a:latin typeface="Arial"/>
            </a:endParaRPr>
          </a:p>
          <a:p>
            <a:pPr algn="ctr" defTabSz="457200">
              <a:lnSpc>
                <a:spcPct val="100000"/>
              </a:lnSpc>
              <a:spcAft>
                <a:spcPts val="1199"/>
              </a:spcAft>
            </a:pPr>
            <a:endParaRPr lang="pt-BR" sz="12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 Fontes: Abalos sísmicos, vulcões, ventos.</a:t>
            </a:r>
            <a:endParaRPr lang="pt-BR" sz="1200" b="0" u="none" strike="noStrike">
              <a:solidFill>
                <a:srgbClr val="000000"/>
              </a:solidFill>
              <a:effectLst/>
              <a:uFillTx/>
              <a:latin typeface="Arial"/>
            </a:endParaRPr>
          </a:p>
          <a:p>
            <a:pPr defTabSz="457200">
              <a:lnSpc>
                <a:spcPct val="100000"/>
              </a:lnSpc>
            </a:pPr>
            <a:r>
              <a:rPr lang="en-US" sz="1200" b="0" u="none" strike="noStrike">
                <a:solidFill>
                  <a:srgbClr val="252C32"/>
                </a:solidFill>
                <a:effectLst/>
                <a:uFillTx/>
                <a:latin typeface="Arial"/>
              </a:rPr>
              <a:t>• Percepção: Elefantes, cavalos e cães conseguem detectar essas ondas.</a:t>
            </a:r>
            <a:endParaRPr lang="pt-BR" sz="1200" b="0" u="none" strike="noStrike">
              <a:solidFill>
                <a:srgbClr val="000000"/>
              </a:solidFill>
              <a:effectLst/>
              <a:uFillTx/>
              <a:latin typeface="Arial"/>
            </a:endParaRPr>
          </a:p>
        </p:txBody>
      </p:sp>
      <p:sp>
        <p:nvSpPr>
          <p:cNvPr id="80" name="Rounded Rectangle 5"/>
          <p:cNvSpPr/>
          <p:nvPr/>
        </p:nvSpPr>
        <p:spPr>
          <a:xfrm>
            <a:off x="4389120" y="1828800"/>
            <a:ext cx="3291480" cy="411444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274320" rIns="274320" bIns="274320" anchor="ctr">
            <a:noAutofit/>
          </a:bodyPr>
          <a:p>
            <a:pPr algn="ctr" defTabSz="457200">
              <a:lnSpc>
                <a:spcPct val="100000"/>
              </a:lnSpc>
            </a:pPr>
            <a:r>
              <a:rPr lang="en-US" sz="1200" b="1" u="none" strike="noStrike">
                <a:solidFill>
                  <a:srgbClr val="6E767D"/>
                </a:solidFill>
                <a:effectLst/>
                <a:uFillTx/>
                <a:latin typeface="Arial"/>
              </a:rPr>
              <a:t>SOM AUDÍVEL</a:t>
            </a:r>
            <a:endParaRPr lang="pt-BR" sz="1200" b="0" u="none" strike="noStrike">
              <a:solidFill>
                <a:srgbClr val="000000"/>
              </a:solidFill>
              <a:effectLst/>
              <a:uFillTx/>
              <a:latin typeface="Arial"/>
            </a:endParaRPr>
          </a:p>
          <a:p>
            <a:pPr algn="ctr" defTabSz="457200">
              <a:lnSpc>
                <a:spcPct val="100000"/>
              </a:lnSpc>
              <a:spcAft>
                <a:spcPts val="1199"/>
              </a:spcAft>
            </a:pPr>
            <a:r>
              <a:rPr lang="en-US" sz="2400" b="1" u="none" strike="noStrike">
                <a:solidFill>
                  <a:srgbClr val="C09341"/>
                </a:solidFill>
                <a:effectLst/>
                <a:uFillTx/>
                <a:latin typeface="Georgia"/>
              </a:rPr>
              <a:t>20 Hz – 20 kHz</a:t>
            </a:r>
            <a:endParaRPr lang="pt-BR" sz="24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Faixa de frequências capaz de sensibilizar o sistema auditivo humano de um indivíduo normal.</a:t>
            </a:r>
            <a:endParaRPr lang="pt-BR" sz="1200" b="0" u="none" strike="noStrike">
              <a:solidFill>
                <a:srgbClr val="000000"/>
              </a:solidFill>
              <a:effectLst/>
              <a:uFillTx/>
              <a:latin typeface="Arial"/>
            </a:endParaRPr>
          </a:p>
          <a:p>
            <a:pPr algn="ctr" defTabSz="457200">
              <a:lnSpc>
                <a:spcPct val="100000"/>
              </a:lnSpc>
              <a:spcAft>
                <a:spcPts val="1199"/>
              </a:spcAft>
            </a:pPr>
            <a:endParaRPr lang="pt-BR" sz="12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 Limites convencionais que variam de acordo com a idade e saúde auditiva.</a:t>
            </a:r>
            <a:endParaRPr lang="pt-BR" sz="1200" b="0" u="none" strike="noStrike">
              <a:solidFill>
                <a:srgbClr val="000000"/>
              </a:solidFill>
              <a:effectLst/>
              <a:uFillTx/>
              <a:latin typeface="Arial"/>
            </a:endParaRPr>
          </a:p>
          <a:p>
            <a:pPr defTabSz="457200">
              <a:lnSpc>
                <a:spcPct val="100000"/>
              </a:lnSpc>
            </a:pPr>
            <a:r>
              <a:rPr lang="en-US" sz="1200" b="0" u="none" strike="noStrike">
                <a:solidFill>
                  <a:srgbClr val="252C32"/>
                </a:solidFill>
                <a:effectLst/>
                <a:uFillTx/>
                <a:latin typeface="Arial"/>
              </a:rPr>
              <a:t>• Principal espectro da comunicação humana e da música.</a:t>
            </a:r>
            <a:endParaRPr lang="pt-BR" sz="1200" b="0" u="none" strike="noStrike">
              <a:solidFill>
                <a:srgbClr val="000000"/>
              </a:solidFill>
              <a:effectLst/>
              <a:uFillTx/>
              <a:latin typeface="Arial"/>
            </a:endParaRPr>
          </a:p>
        </p:txBody>
      </p:sp>
      <p:sp>
        <p:nvSpPr>
          <p:cNvPr id="81" name="Rounded Rectangle 6"/>
          <p:cNvSpPr/>
          <p:nvPr/>
        </p:nvSpPr>
        <p:spPr>
          <a:xfrm>
            <a:off x="8046720" y="1828800"/>
            <a:ext cx="3291480" cy="411444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274320" rIns="274320" bIns="274320" anchor="ctr">
            <a:noAutofit/>
          </a:bodyPr>
          <a:p>
            <a:pPr algn="ctr" defTabSz="457200">
              <a:lnSpc>
                <a:spcPct val="100000"/>
              </a:lnSpc>
            </a:pPr>
            <a:r>
              <a:rPr lang="en-US" sz="1200" b="1" u="none" strike="noStrike">
                <a:solidFill>
                  <a:srgbClr val="6E767D"/>
                </a:solidFill>
                <a:effectLst/>
                <a:uFillTx/>
                <a:latin typeface="Arial"/>
              </a:rPr>
              <a:t>ULTRASSOM</a:t>
            </a:r>
            <a:endParaRPr lang="pt-BR" sz="1200" b="0" u="none" strike="noStrike">
              <a:solidFill>
                <a:srgbClr val="000000"/>
              </a:solidFill>
              <a:effectLst/>
              <a:uFillTx/>
              <a:latin typeface="Arial"/>
            </a:endParaRPr>
          </a:p>
          <a:p>
            <a:pPr algn="ctr" defTabSz="457200">
              <a:lnSpc>
                <a:spcPct val="100000"/>
              </a:lnSpc>
              <a:spcAft>
                <a:spcPts val="1199"/>
              </a:spcAft>
            </a:pPr>
            <a:r>
              <a:rPr lang="en-US" sz="2400" b="1" u="none" strike="noStrike">
                <a:solidFill>
                  <a:srgbClr val="C09341"/>
                </a:solidFill>
                <a:effectLst/>
                <a:uFillTx/>
                <a:latin typeface="Georgia"/>
              </a:rPr>
              <a:t>&gt; 20.000 Hz</a:t>
            </a:r>
            <a:endParaRPr lang="pt-BR" sz="24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Frequências acima do limite superior audível humano. Comprimentos de onda curtíssimos.</a:t>
            </a:r>
            <a:endParaRPr lang="pt-BR" sz="1200" b="0" u="none" strike="noStrike">
              <a:solidFill>
                <a:srgbClr val="000000"/>
              </a:solidFill>
              <a:effectLst/>
              <a:uFillTx/>
              <a:latin typeface="Arial"/>
            </a:endParaRPr>
          </a:p>
          <a:p>
            <a:pPr algn="ctr" defTabSz="457200">
              <a:lnSpc>
                <a:spcPct val="100000"/>
              </a:lnSpc>
              <a:spcAft>
                <a:spcPts val="1199"/>
              </a:spcAft>
            </a:pPr>
            <a:endParaRPr lang="pt-BR" sz="12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 Percepção: Morcegos (ecolocalização), cães, gatos.</a:t>
            </a:r>
            <a:endParaRPr lang="pt-BR" sz="1200" b="0" u="none" strike="noStrike">
              <a:solidFill>
                <a:srgbClr val="000000"/>
              </a:solidFill>
              <a:effectLst/>
              <a:uFillTx/>
              <a:latin typeface="Arial"/>
            </a:endParaRPr>
          </a:p>
          <a:p>
            <a:pPr defTabSz="457200">
              <a:lnSpc>
                <a:spcPct val="100000"/>
              </a:lnSpc>
            </a:pPr>
            <a:r>
              <a:rPr lang="en-US" sz="1200" b="0" u="none" strike="noStrike">
                <a:solidFill>
                  <a:srgbClr val="252C32"/>
                </a:solidFill>
                <a:effectLst/>
                <a:uFillTx/>
                <a:latin typeface="Arial"/>
              </a:rPr>
              <a:t>• Aplicação: Ultrassonografia diagnóstica e testes industriais.</a:t>
            </a:r>
            <a:endParaRPr lang="pt-B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82"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83"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A Velocidade do Som nos Diferentes Meios</a:t>
            </a:r>
            <a:endParaRPr lang="pt-BR" sz="2400" b="0" u="none" strike="noStrike">
              <a:solidFill>
                <a:srgbClr val="000000"/>
              </a:solidFill>
              <a:effectLst/>
              <a:uFillTx/>
              <a:latin typeface="Arial"/>
            </a:endParaRPr>
          </a:p>
        </p:txBody>
      </p:sp>
      <p:sp>
        <p:nvSpPr>
          <p:cNvPr id="84"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85"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Por que a velocidade varia?</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Como o som se propaga por choques entre moléculas, a velocidade depende fundamentalmente da densidade e da elasticidade do meio.</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Meios Sólidos: As moléculas estão muito próximas, permitindo uma transmissão de pressão quase instantânea.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Meios Gasosos: Moléculas afastadas exigem colisões mais demoradas para transferir a energia ondulatória.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Regra de Ouro da Acústica:</a:t>
            </a:r>
            <a:endParaRPr lang="pt-BR" sz="1400" b="0" u="none" strike="noStrike">
              <a:solidFill>
                <a:srgbClr val="000000"/>
              </a:solidFill>
              <a:effectLst/>
              <a:uFillTx/>
              <a:latin typeface="Arial"/>
            </a:endParaRPr>
          </a:p>
          <a:p>
            <a:pPr defTabSz="457200">
              <a:lnSpc>
                <a:spcPct val="100000"/>
              </a:lnSpc>
              <a:spcAft>
                <a:spcPts val="799"/>
              </a:spcAft>
            </a:pPr>
            <a:endParaRPr lang="pt-BR" sz="1400" b="0" u="none" strike="noStrike">
              <a:solidFill>
                <a:srgbClr val="000000"/>
              </a:solidFill>
              <a:effectLst/>
              <a:uFillTx/>
              <a:latin typeface="Arial"/>
            </a:endParaRPr>
          </a:p>
          <a:p>
            <a:pPr defTabSz="457200">
              <a:lnSpc>
                <a:spcPct val="100000"/>
              </a:lnSpc>
            </a:pPr>
            <a:r>
              <a:rPr lang="en-US" sz="1800" b="1" u="none" strike="noStrike">
                <a:solidFill>
                  <a:srgbClr val="C09341"/>
                </a:solidFill>
                <a:effectLst/>
                <a:uFillTx/>
                <a:latin typeface="Georgia"/>
              </a:rPr>
              <a:t>v_sólidos  &gt;  v_líquidos  &gt;  v_gases</a:t>
            </a:r>
            <a:endParaRPr lang="pt-BR" sz="1800" b="0" u="none" strike="noStrike">
              <a:solidFill>
                <a:srgbClr val="000000"/>
              </a:solidFill>
              <a:effectLst/>
              <a:uFillTx/>
              <a:latin typeface="Arial"/>
            </a:endParaRPr>
          </a:p>
        </p:txBody>
      </p:sp>
      <p:graphicFrame>
        <p:nvGraphicFramePr>
          <p:cNvPr id="86" name="Table 5"/>
          <p:cNvGraphicFramePr/>
          <p:nvPr/>
        </p:nvGraphicFramePr>
        <p:xfrm>
          <a:off x="6217920" y="2011680"/>
          <a:ext cx="5211720" cy="3200040"/>
        </p:xfrm>
        <a:graphic>
          <a:graphicData uri="http://schemas.openxmlformats.org/drawingml/2006/table">
            <a:tbl>
              <a:tblPr/>
              <a:tblGrid>
                <a:gridCol w="1920240"/>
                <a:gridCol w="1645920"/>
                <a:gridCol w="1645920"/>
              </a:tblGrid>
              <a:tr h="799920">
                <a:tc>
                  <a:txBody>
                    <a:bodyPr anchor="t">
                      <a:noAutofit/>
                    </a:bodyPr>
                    <a:p>
                      <a:pPr algn="ctr" defTabSz="457200">
                        <a:lnSpc>
                          <a:spcPct val="100000"/>
                        </a:lnSpc>
                      </a:pPr>
                      <a:r>
                        <a:rPr lang="en-US" sz="1400" b="1" u="none" strike="noStrike">
                          <a:solidFill>
                            <a:srgbClr val="FFFFFF"/>
                          </a:solidFill>
                          <a:effectLst/>
                          <a:uFillTx/>
                          <a:latin typeface="Arial"/>
                        </a:rPr>
                        <a:t>Meio</a:t>
                      </a:r>
                      <a:endParaRPr lang="pt-BR"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A8D75"/>
                    </a:solidFill>
                  </a:tcPr>
                </a:tc>
                <a:tc>
                  <a:txBody>
                    <a:bodyPr anchor="t">
                      <a:noAutofit/>
                    </a:bodyPr>
                    <a:p>
                      <a:pPr algn="ctr" defTabSz="457200">
                        <a:lnSpc>
                          <a:spcPct val="100000"/>
                        </a:lnSpc>
                      </a:pPr>
                      <a:r>
                        <a:rPr lang="en-US" sz="1400" b="1" u="none" strike="noStrike">
                          <a:solidFill>
                            <a:srgbClr val="FFFFFF"/>
                          </a:solidFill>
                          <a:effectLst/>
                          <a:uFillTx/>
                          <a:latin typeface="Arial"/>
                        </a:rPr>
                        <a:t>Estado Físico</a:t>
                      </a:r>
                      <a:endParaRPr lang="pt-BR"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A8D75"/>
                    </a:solidFill>
                  </a:tcPr>
                </a:tc>
                <a:tc>
                  <a:txBody>
                    <a:bodyPr anchor="t">
                      <a:noAutofit/>
                    </a:bodyPr>
                    <a:p>
                      <a:pPr algn="ctr" defTabSz="457200">
                        <a:lnSpc>
                          <a:spcPct val="100000"/>
                        </a:lnSpc>
                      </a:pPr>
                      <a:r>
                        <a:rPr lang="en-US" sz="1400" b="1" u="none" strike="noStrike">
                          <a:solidFill>
                            <a:srgbClr val="FFFFFF"/>
                          </a:solidFill>
                          <a:effectLst/>
                          <a:uFillTx/>
                          <a:latin typeface="Arial"/>
                        </a:rPr>
                        <a:t>Velocidade</a:t>
                      </a:r>
                      <a:endParaRPr lang="pt-BR"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A8D75"/>
                    </a:solidFill>
                  </a:tcPr>
                </a:tc>
              </a:tr>
              <a:tr h="799920">
                <a:tc>
                  <a:txBody>
                    <a:bodyPr anchor="t">
                      <a:noAutofit/>
                    </a:bodyPr>
                    <a:p>
                      <a:pPr algn="ctr" defTabSz="457200">
                        <a:lnSpc>
                          <a:spcPct val="100000"/>
                        </a:lnSpc>
                      </a:pPr>
                      <a:r>
                        <a:rPr lang="en-US" sz="1300" b="0" u="none" strike="noStrike">
                          <a:solidFill>
                            <a:srgbClr val="252C32"/>
                          </a:solidFill>
                          <a:effectLst/>
                          <a:uFillTx/>
                          <a:latin typeface="Arial"/>
                        </a:rPr>
                        <a:t>Ar (a 15 °C)</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c>
                  <a:txBody>
                    <a:bodyPr anchor="t">
                      <a:noAutofit/>
                    </a:bodyPr>
                    <a:p>
                      <a:pPr algn="ctr" defTabSz="457200">
                        <a:lnSpc>
                          <a:spcPct val="100000"/>
                        </a:lnSpc>
                      </a:pPr>
                      <a:r>
                        <a:rPr lang="en-US" sz="1300" b="0" u="none" strike="noStrike">
                          <a:solidFill>
                            <a:srgbClr val="252C32"/>
                          </a:solidFill>
                          <a:effectLst/>
                          <a:uFillTx/>
                          <a:latin typeface="Arial"/>
                        </a:rPr>
                        <a:t>Gasoso</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c>
                  <a:txBody>
                    <a:bodyPr anchor="t">
                      <a:noAutofit/>
                    </a:bodyPr>
                    <a:p>
                      <a:pPr algn="ctr" defTabSz="457200">
                        <a:lnSpc>
                          <a:spcPct val="100000"/>
                        </a:lnSpc>
                      </a:pPr>
                      <a:r>
                        <a:rPr lang="en-US" sz="1300" b="0" u="none" strike="noStrike">
                          <a:solidFill>
                            <a:srgbClr val="252C32"/>
                          </a:solidFill>
                          <a:effectLst/>
                          <a:uFillTx/>
                          <a:latin typeface="Arial"/>
                        </a:rPr>
                        <a:t>340 m/s</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r>
              <a:tr h="799920">
                <a:tc>
                  <a:txBody>
                    <a:bodyPr anchor="t">
                      <a:noAutofit/>
                    </a:bodyPr>
                    <a:p>
                      <a:pPr algn="ctr" defTabSz="457200">
                        <a:lnSpc>
                          <a:spcPct val="100000"/>
                        </a:lnSpc>
                      </a:pPr>
                      <a:r>
                        <a:rPr lang="en-US" sz="1300" b="0" u="none" strike="noStrike">
                          <a:solidFill>
                            <a:srgbClr val="252C32"/>
                          </a:solidFill>
                          <a:effectLst/>
                          <a:uFillTx/>
                          <a:latin typeface="Arial"/>
                        </a:rPr>
                        <a:t>Água (a 15 °C)</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algn="ctr" defTabSz="457200">
                        <a:lnSpc>
                          <a:spcPct val="100000"/>
                        </a:lnSpc>
                      </a:pPr>
                      <a:r>
                        <a:rPr lang="en-US" sz="1300" b="0" u="none" strike="noStrike">
                          <a:solidFill>
                            <a:srgbClr val="252C32"/>
                          </a:solidFill>
                          <a:effectLst/>
                          <a:uFillTx/>
                          <a:latin typeface="Arial"/>
                        </a:rPr>
                        <a:t>Líquido</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algn="ctr" defTabSz="457200">
                        <a:lnSpc>
                          <a:spcPct val="100000"/>
                        </a:lnSpc>
                      </a:pPr>
                      <a:r>
                        <a:rPr lang="en-US" sz="1300" b="0" u="none" strike="noStrike">
                          <a:solidFill>
                            <a:srgbClr val="252C32"/>
                          </a:solidFill>
                          <a:effectLst/>
                          <a:uFillTx/>
                          <a:latin typeface="Arial"/>
                        </a:rPr>
                        <a:t>1.450 m/s</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99920">
                <a:tc>
                  <a:txBody>
                    <a:bodyPr anchor="t">
                      <a:noAutofit/>
                    </a:bodyPr>
                    <a:p>
                      <a:pPr algn="ctr" defTabSz="457200">
                        <a:lnSpc>
                          <a:spcPct val="100000"/>
                        </a:lnSpc>
                      </a:pPr>
                      <a:r>
                        <a:rPr lang="en-US" sz="1300" b="0" u="none" strike="noStrike">
                          <a:solidFill>
                            <a:srgbClr val="252C32"/>
                          </a:solidFill>
                          <a:effectLst/>
                          <a:uFillTx/>
                          <a:latin typeface="Arial"/>
                        </a:rPr>
                        <a:t>Ferro (a 15 °C)</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c>
                  <a:txBody>
                    <a:bodyPr anchor="t">
                      <a:noAutofit/>
                    </a:bodyPr>
                    <a:p>
                      <a:pPr algn="ctr" defTabSz="457200">
                        <a:lnSpc>
                          <a:spcPct val="100000"/>
                        </a:lnSpc>
                      </a:pPr>
                      <a:r>
                        <a:rPr lang="en-US" sz="1300" b="0" u="none" strike="noStrike">
                          <a:solidFill>
                            <a:srgbClr val="252C32"/>
                          </a:solidFill>
                          <a:effectLst/>
                          <a:uFillTx/>
                          <a:latin typeface="Arial"/>
                        </a:rPr>
                        <a:t>Sólido</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c>
                  <a:txBody>
                    <a:bodyPr anchor="t">
                      <a:noAutofit/>
                    </a:bodyPr>
                    <a:p>
                      <a:pPr algn="ctr" defTabSz="457200">
                        <a:lnSpc>
                          <a:spcPct val="100000"/>
                        </a:lnSpc>
                      </a:pPr>
                      <a:r>
                        <a:rPr lang="en-US" sz="1300" b="0" u="none" strike="noStrike">
                          <a:solidFill>
                            <a:srgbClr val="252C32"/>
                          </a:solidFill>
                          <a:effectLst/>
                          <a:uFillTx/>
                          <a:latin typeface="Arial"/>
                        </a:rPr>
                        <a:t>4.480 m/s</a:t>
                      </a:r>
                      <a:endParaRPr lang="pt-BR"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87"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88"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Temperatura, Velocidade e a Barreira do Som</a:t>
            </a:r>
            <a:endParaRPr lang="pt-BR" sz="2400" b="0" u="none" strike="noStrike">
              <a:solidFill>
                <a:srgbClr val="000000"/>
              </a:solidFill>
              <a:effectLst/>
              <a:uFillTx/>
              <a:latin typeface="Arial"/>
            </a:endParaRPr>
          </a:p>
        </p:txBody>
      </p:sp>
      <p:sp>
        <p:nvSpPr>
          <p:cNvPr id="89"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90"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Efeito Térmico nos Fluidos</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 aumento de temperatura em gases e líquidos aumenta diretamente a agitação térmica de suas moléculas. Como consequência, as colisões mecânicas ocorrem mais rapidamente, elevando a velocidade de propagação do som.</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No ar a 0 °C: v_som ≈ 331 m/s.</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No ar a 15 °C: v_som ≈ 340 m/s (padrão de referência).</a:t>
            </a: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No ar a 20 °C: v_som ≈ 343 m/s.</a:t>
            </a:r>
            <a:endParaRPr lang="pt-BR" sz="1400" b="0" u="none" strike="noStrike">
              <a:solidFill>
                <a:srgbClr val="000000"/>
              </a:solidFill>
              <a:effectLst/>
              <a:uFillTx/>
              <a:latin typeface="Arial"/>
            </a:endParaRPr>
          </a:p>
        </p:txBody>
      </p:sp>
      <p:sp>
        <p:nvSpPr>
          <p:cNvPr id="91" name="TextBox 5"/>
          <p:cNvSpPr/>
          <p:nvPr/>
        </p:nvSpPr>
        <p:spPr>
          <a:xfrm>
            <a:off x="6217920" y="1645920"/>
            <a:ext cx="52117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O Número de Mach e Ondas de Choque</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Número de Mach: Relação adimensional entre a velocidade de um objeto (v) e a velocidade do som no meio (v_som).</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Mach = v / v_som</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Barreira do Som: Ao atingir Mach 1, as frentes de onda de pressão emitidas pela aeronave se acumulam em seu nariz, criando uma muralha de ar comprimido extremamente densa.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Estrondo Sônico (Sonic Boom): Ao ultrapassar Mach 1, as frentes de onda se sobrepõem formando um cone de onda de choque, percebido no solo como uma forte explosão.</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92"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93"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Qualidades Fisiológicas: Altura</a:t>
            </a:r>
            <a:endParaRPr lang="pt-BR" sz="2400" b="0" u="none" strike="noStrike">
              <a:solidFill>
                <a:srgbClr val="000000"/>
              </a:solidFill>
              <a:effectLst/>
              <a:uFillTx/>
              <a:latin typeface="Arial"/>
            </a:endParaRPr>
          </a:p>
        </p:txBody>
      </p:sp>
      <p:sp>
        <p:nvSpPr>
          <p:cNvPr id="94"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95" name="Rounded Rectangle 4"/>
          <p:cNvSpPr/>
          <p:nvPr/>
        </p:nvSpPr>
        <p:spPr>
          <a:xfrm>
            <a:off x="731520" y="1645920"/>
            <a:ext cx="5028840" cy="438876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5760" tIns="365760" rIns="365760" bIns="365760" anchor="ctr">
            <a:noAutofit/>
          </a:bodyPr>
          <a:p>
            <a:pPr algn="ctr" defTabSz="457200">
              <a:lnSpc>
                <a:spcPct val="100000"/>
              </a:lnSpc>
              <a:spcAft>
                <a:spcPts val="1400"/>
              </a:spcAft>
            </a:pPr>
            <a:r>
              <a:rPr lang="en-US" sz="2000" b="1" u="none" strike="noStrike">
                <a:solidFill>
                  <a:srgbClr val="252C32"/>
                </a:solidFill>
                <a:effectLst/>
                <a:uFillTx/>
                <a:latin typeface="Georgia"/>
              </a:rPr>
              <a:t>O que é Altura?</a:t>
            </a:r>
            <a:endParaRPr lang="pt-BR" sz="2000" b="0" u="none" strike="noStrike">
              <a:solidFill>
                <a:srgbClr val="000000"/>
              </a:solidFill>
              <a:effectLst/>
              <a:uFillTx/>
              <a:latin typeface="Arial"/>
            </a:endParaRPr>
          </a:p>
          <a:p>
            <a:pPr algn="ctr" defTabSz="457200">
              <a:lnSpc>
                <a:spcPct val="100000"/>
              </a:lnSpc>
              <a:spcAft>
                <a:spcPts val="1400"/>
              </a:spcAft>
            </a:pPr>
            <a:r>
              <a:rPr lang="en-US" sz="1400" b="0" u="none" strike="noStrike">
                <a:solidFill>
                  <a:srgbClr val="252C32"/>
                </a:solidFill>
                <a:effectLst/>
                <a:uFillTx/>
                <a:latin typeface="Arial"/>
              </a:rPr>
              <a:t>É a qualidade fisiológica que nos permite diferenciar sons graves (baixos) de sons agudos (altos). Ela depende unicamente da frequência da onda sonora.</a:t>
            </a:r>
            <a:endParaRPr lang="pt-BR" sz="1400" b="0" u="none" strike="noStrike">
              <a:solidFill>
                <a:srgbClr val="000000"/>
              </a:solidFill>
              <a:effectLst/>
              <a:uFillTx/>
              <a:latin typeface="Arial"/>
            </a:endParaRPr>
          </a:p>
          <a:p>
            <a:pPr algn="ctr" defTabSz="457200">
              <a:lnSpc>
                <a:spcPct val="100000"/>
              </a:lnSpc>
              <a:spcAft>
                <a:spcPts val="1400"/>
              </a:spcAft>
            </a:pPr>
            <a:endParaRPr lang="pt-BR" sz="1400" b="0" u="none" strike="noStrike">
              <a:solidFill>
                <a:srgbClr val="000000"/>
              </a:solidFill>
              <a:effectLst/>
              <a:uFillTx/>
              <a:latin typeface="Arial"/>
            </a:endParaRPr>
          </a:p>
          <a:p>
            <a:pPr algn="ctr" defTabSz="457200">
              <a:lnSpc>
                <a:spcPct val="100000"/>
              </a:lnSpc>
              <a:spcAft>
                <a:spcPts val="1400"/>
              </a:spcAft>
            </a:pPr>
            <a:r>
              <a:rPr lang="en-US" sz="1400" b="0" u="none" strike="noStrike">
                <a:solidFill>
                  <a:srgbClr val="252C32"/>
                </a:solidFill>
                <a:effectLst/>
                <a:uFillTx/>
                <a:latin typeface="Arial"/>
              </a:rPr>
              <a:t>• Sons Graves: Frequências baixas (ex: contrabaixo, voz masculina grossa, trovão).</a:t>
            </a:r>
            <a:endParaRPr lang="pt-BR" sz="1400" b="0" u="none" strike="noStrike">
              <a:solidFill>
                <a:srgbClr val="000000"/>
              </a:solidFill>
              <a:effectLst/>
              <a:uFillTx/>
              <a:latin typeface="Arial"/>
            </a:endParaRPr>
          </a:p>
          <a:p>
            <a:pPr algn="ct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Sons Agudos: Frequências altas (ex: flauta, voz feminina fina, apito).</a:t>
            </a:r>
            <a:endParaRPr lang="pt-BR" sz="1400" b="0" u="none" strike="noStrike">
              <a:solidFill>
                <a:srgbClr val="000000"/>
              </a:solidFill>
              <a:effectLst/>
              <a:uFillTx/>
              <a:latin typeface="Arial"/>
            </a:endParaRPr>
          </a:p>
        </p:txBody>
      </p:sp>
      <p:sp>
        <p:nvSpPr>
          <p:cNvPr id="96" name="TextBox 5"/>
          <p:cNvSpPr/>
          <p:nvPr/>
        </p:nvSpPr>
        <p:spPr>
          <a:xfrm>
            <a:off x="6217920" y="1645920"/>
            <a:ext cx="52117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Intervalos Musicais</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 intervalo musical entre duas frequências f_1 e f_2 é definido pelo quociente:</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i = f_2 / f_1</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Uníssono: i = 1 (f_2 = f_1). Sons têm a mesma altura.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Oitava: i = 2 (f_2 = 2 * f_1). Relação fundamental na escala.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Tonalidades Naturais: O tom maior (i = 9/8), tom menor (i = 10/9), semitom (i = 16/15) e o sustenido (i = 25/24) definem a escala diatônica de dó maior.</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97"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98"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Qualidades Fisiológicas: Intensidade Física</a:t>
            </a:r>
            <a:endParaRPr lang="pt-BR" sz="2400" b="0" u="none" strike="noStrike">
              <a:solidFill>
                <a:srgbClr val="000000"/>
              </a:solidFill>
              <a:effectLst/>
              <a:uFillTx/>
              <a:latin typeface="Arial"/>
            </a:endParaRPr>
          </a:p>
        </p:txBody>
      </p:sp>
      <p:sp>
        <p:nvSpPr>
          <p:cNvPr id="99"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00"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Intensidade e Energia</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A intensidade auditiva (ou sonoridade) diferencia sons fracos de sons fortes. Ela está diretamente ligada à energia transportada pela onda e à sua amplitude de vibração.</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Som Forte: Alta amplitude, alta energia.</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Som Fraco: Baixa amplitude, baixa energia.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A intensidade física I é a potência (Pot) que atravessa uma área perpendicular (A):</a:t>
            </a:r>
            <a:endParaRPr lang="pt-BR" sz="1400" b="0" u="none" strike="noStrike">
              <a:solidFill>
                <a:srgbClr val="000000"/>
              </a:solidFill>
              <a:effectLst/>
              <a:uFillTx/>
              <a:latin typeface="Arial"/>
            </a:endParaRPr>
          </a:p>
          <a:p>
            <a:pPr defTabSz="457200">
              <a:lnSpc>
                <a:spcPct val="100000"/>
              </a:lnSpc>
              <a:spcAft>
                <a:spcPts val="799"/>
              </a:spcAft>
            </a:pPr>
            <a:endParaRPr lang="pt-BR" sz="1400" b="0" u="none" strike="noStrike">
              <a:solidFill>
                <a:srgbClr val="000000"/>
              </a:solidFill>
              <a:effectLst/>
              <a:uFillTx/>
              <a:latin typeface="Arial"/>
            </a:endParaRPr>
          </a:p>
          <a:p>
            <a:pPr defTabSz="457200">
              <a:lnSpc>
                <a:spcPct val="100000"/>
              </a:lnSpc>
            </a:pPr>
            <a:r>
              <a:rPr lang="en-US" sz="2000" b="1" u="none" strike="noStrike">
                <a:solidFill>
                  <a:srgbClr val="C09341"/>
                </a:solidFill>
                <a:effectLst/>
                <a:uFillTx/>
                <a:latin typeface="Georgia"/>
              </a:rPr>
              <a:t>I = Pot / A  (W/m²)</a:t>
            </a:r>
            <a:endParaRPr lang="pt-BR" sz="2000" b="0" u="none" strike="noStrike">
              <a:solidFill>
                <a:srgbClr val="000000"/>
              </a:solidFill>
              <a:effectLst/>
              <a:uFillTx/>
              <a:latin typeface="Arial"/>
            </a:endParaRPr>
          </a:p>
        </p:txBody>
      </p:sp>
      <p:sp>
        <p:nvSpPr>
          <p:cNvPr id="101" name="TextBox 5"/>
          <p:cNvSpPr/>
          <p:nvPr/>
        </p:nvSpPr>
        <p:spPr>
          <a:xfrm>
            <a:off x="6217920" y="1645920"/>
            <a:ext cx="52117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Limiares de Percepção Humana</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 ouvido humano responde a uma faixa colossal de intensidades, cobrindo 12 ordens de magnitude.</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Limiar de Audição (I_0):</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A menor intensidade física que sensibiliza um ouvido humano saudável:</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I_0 = 10^-12 W/m² (ou 10^-16 W/cm²)</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Limiar da Dor (I_max):</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A máxima intensidade suportável sem causar danos físicos imediatos:</a:t>
            </a: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I_max = 1 W/m² (ou 10^-4 W/cm²)</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102"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103"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Nível Sonoro (dB) e Saúde Auditiva</a:t>
            </a:r>
            <a:endParaRPr lang="pt-BR" sz="2400" b="0" u="none" strike="noStrike">
              <a:solidFill>
                <a:srgbClr val="000000"/>
              </a:solidFill>
              <a:effectLst/>
              <a:uFillTx/>
              <a:latin typeface="Arial"/>
            </a:endParaRPr>
          </a:p>
        </p:txBody>
      </p:sp>
      <p:sp>
        <p:nvSpPr>
          <p:cNvPr id="104"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05"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2000" b="1" u="none" strike="noStrike">
                <a:solidFill>
                  <a:srgbClr val="252C32"/>
                </a:solidFill>
                <a:effectLst/>
                <a:uFillTx/>
                <a:latin typeface="Georgia"/>
              </a:rPr>
              <a:t>Escala Logarítmica de Percepção</a:t>
            </a:r>
            <a:endParaRPr lang="pt-BR" sz="2000" b="0" u="none" strike="noStrike">
              <a:solidFill>
                <a:srgbClr val="000000"/>
              </a:solidFill>
              <a:effectLst/>
              <a:uFillTx/>
              <a:latin typeface="Arial"/>
            </a:endParaRPr>
          </a:p>
          <a:p>
            <a:pPr defTabSz="457200">
              <a:lnSpc>
                <a:spcPct val="100000"/>
              </a:lnSpc>
              <a:spcAft>
                <a:spcPts val="1001"/>
              </a:spcAft>
            </a:pPr>
            <a:r>
              <a:rPr lang="en-US" sz="1400" b="0" u="none" strike="noStrike">
                <a:solidFill>
                  <a:srgbClr val="252C32"/>
                </a:solidFill>
                <a:effectLst/>
                <a:uFillTx/>
                <a:latin typeface="Arial"/>
              </a:rPr>
              <a:t>A resposta auditiva humana não é linear, mas sim aproximadamente logarítmica. Por isso, o nível sonoro (d) é expresso em decibéis (dB):</a:t>
            </a:r>
            <a:endParaRPr lang="pt-BR" sz="1400" b="0" u="none" strike="noStrike">
              <a:solidFill>
                <a:srgbClr val="000000"/>
              </a:solidFill>
              <a:effectLst/>
              <a:uFillTx/>
              <a:latin typeface="Arial"/>
            </a:endParaRPr>
          </a:p>
          <a:p>
            <a:pPr defTabSz="457200">
              <a:lnSpc>
                <a:spcPct val="100000"/>
              </a:lnSpc>
              <a:spcAft>
                <a:spcPts val="799"/>
              </a:spcAft>
            </a:pPr>
            <a:endParaRPr lang="pt-BR" sz="14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C09341"/>
                </a:solidFill>
                <a:effectLst/>
                <a:uFillTx/>
                <a:latin typeface="Georgia"/>
              </a:rPr>
              <a:t>d = 10 * log_10( I / I_0 )</a:t>
            </a:r>
            <a:endParaRPr lang="pt-BR" sz="2000" b="0" u="none" strike="noStrike">
              <a:solidFill>
                <a:srgbClr val="000000"/>
              </a:solidFill>
              <a:effectLst/>
              <a:uFillTx/>
              <a:latin typeface="Arial"/>
            </a:endParaRPr>
          </a:p>
        </p:txBody>
      </p:sp>
      <p:sp>
        <p:nvSpPr>
          <p:cNvPr id="106" name="Rounded Rectangle 5"/>
          <p:cNvSpPr/>
          <p:nvPr/>
        </p:nvSpPr>
        <p:spPr>
          <a:xfrm>
            <a:off x="731520" y="4023360"/>
            <a:ext cx="5028840" cy="2011320"/>
          </a:xfrm>
          <a:prstGeom prst="roundRect">
            <a:avLst>
              <a:gd name="adj" fmla="val 16667"/>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tIns="182880" rIns="182880" bIns="182880" anchor="ctr">
            <a:noAutofit/>
          </a:bodyPr>
          <a:p>
            <a:r>
              <a:rPr lang="en-US" sz="1400" b="1" u="none" strike="noStrike">
                <a:solidFill>
                  <a:srgbClr val="FFFFFF"/>
                </a:solidFill>
                <a:effectLst/>
                <a:uFillTx/>
                <a:latin typeface="Arial"/>
              </a:rPr>
              <a:t>Prevenção de Danos Permanentes</a:t>
            </a:r>
            <a:endParaRPr lang="pt-BR" sz="1400" b="0" u="none" strike="noStrike">
              <a:solidFill>
                <a:srgbClr val="FFFFFF"/>
              </a:solidFill>
              <a:effectLst/>
              <a:uFillTx/>
              <a:latin typeface="Arial"/>
            </a:endParaRPr>
          </a:p>
          <a:p>
            <a:pPr algn="ctr" defTabSz="457200">
              <a:lnSpc>
                <a:spcPct val="100000"/>
              </a:lnSpc>
            </a:pPr>
            <a:r>
              <a:rPr lang="en-US" sz="1200" b="0" u="none" strike="noStrike">
                <a:solidFill>
                  <a:srgbClr val="FFFFFF"/>
                </a:solidFill>
                <a:effectLst/>
                <a:uFillTx/>
                <a:latin typeface="Arial"/>
              </a:rPr>
              <a:t>A exposição continuada a níveis sonoros superiores a 85 dB pode causar degeneração progressiva e irreversível das células auditivas, exigindo o uso obrigatório de protetores auriculares.</a:t>
            </a:r>
            <a:endParaRPr lang="pt-BR" sz="1200" b="0" u="none" strike="noStrike">
              <a:solidFill>
                <a:srgbClr val="FFFFFF"/>
              </a:solidFill>
              <a:effectLst/>
              <a:uFillTx/>
              <a:latin typeface="Arial"/>
            </a:endParaRPr>
          </a:p>
        </p:txBody>
      </p:sp>
      <p:graphicFrame>
        <p:nvGraphicFramePr>
          <p:cNvPr id="107" name="Table 6"/>
          <p:cNvGraphicFramePr/>
          <p:nvPr/>
        </p:nvGraphicFramePr>
        <p:xfrm>
          <a:off x="6217920" y="1645920"/>
          <a:ext cx="5211720" cy="4388760"/>
        </p:xfrm>
        <a:graphic>
          <a:graphicData uri="http://schemas.openxmlformats.org/drawingml/2006/table">
            <a:tbl>
              <a:tblPr/>
              <a:tblGrid>
                <a:gridCol w="3200400"/>
                <a:gridCol w="2011680"/>
              </a:tblGrid>
              <a:tr h="877680">
                <a:tc>
                  <a:txBody>
                    <a:bodyPr anchor="t">
                      <a:noAutofit/>
                    </a:bodyPr>
                    <a:p>
                      <a:pPr algn="ctr" defTabSz="457200">
                        <a:lnSpc>
                          <a:spcPct val="100000"/>
                        </a:lnSpc>
                      </a:pPr>
                      <a:r>
                        <a:rPr lang="en-US" sz="1400" b="1" u="none" strike="noStrike">
                          <a:solidFill>
                            <a:srgbClr val="FFFFFF"/>
                          </a:solidFill>
                          <a:effectLst/>
                          <a:uFillTx/>
                          <a:latin typeface="Arial"/>
                        </a:rPr>
                        <a:t>Ambiente / Fonte</a:t>
                      </a:r>
                      <a:endParaRPr lang="pt-BR"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52C32"/>
                    </a:solidFill>
                  </a:tcPr>
                </a:tc>
                <a:tc>
                  <a:txBody>
                    <a:bodyPr anchor="t">
                      <a:noAutofit/>
                    </a:bodyPr>
                    <a:p>
                      <a:pPr algn="ctr" defTabSz="457200">
                        <a:lnSpc>
                          <a:spcPct val="100000"/>
                        </a:lnSpc>
                      </a:pPr>
                      <a:r>
                        <a:rPr lang="en-US" sz="1400" b="1" u="none" strike="noStrike">
                          <a:solidFill>
                            <a:srgbClr val="FFFFFF"/>
                          </a:solidFill>
                          <a:effectLst/>
                          <a:uFillTx/>
                          <a:latin typeface="Arial"/>
                        </a:rPr>
                        <a:t>Nível Sonoro</a:t>
                      </a:r>
                      <a:endParaRPr lang="pt-BR"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52C32"/>
                    </a:solidFill>
                  </a:tcPr>
                </a:tc>
              </a:tr>
              <a:tr h="877680">
                <a:tc>
                  <a:txBody>
                    <a:bodyPr anchor="t">
                      <a:noAutofit/>
                    </a:bodyPr>
                    <a:p>
                      <a:pPr algn="ctr" defTabSz="457200">
                        <a:lnSpc>
                          <a:spcPct val="100000"/>
                        </a:lnSpc>
                      </a:pPr>
                      <a:r>
                        <a:rPr lang="en-US" sz="1200" b="0" u="none" strike="noStrike">
                          <a:solidFill>
                            <a:srgbClr val="252C32"/>
                          </a:solidFill>
                          <a:effectLst/>
                          <a:uFillTx/>
                          <a:latin typeface="Arial"/>
                        </a:rPr>
                        <a:t>Jardim silencioso</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c>
                  <a:txBody>
                    <a:bodyPr anchor="t">
                      <a:noAutofit/>
                    </a:bodyPr>
                    <a:p>
                      <a:pPr algn="ctr" defTabSz="457200">
                        <a:lnSpc>
                          <a:spcPct val="100000"/>
                        </a:lnSpc>
                      </a:pPr>
                      <a:r>
                        <a:rPr lang="en-US" sz="1200" b="0" u="none" strike="noStrike">
                          <a:solidFill>
                            <a:srgbClr val="252C32"/>
                          </a:solidFill>
                          <a:effectLst/>
                          <a:uFillTx/>
                          <a:latin typeface="Arial"/>
                        </a:rPr>
                        <a:t>40 dB</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r>
              <a:tr h="877680">
                <a:tc>
                  <a:txBody>
                    <a:bodyPr anchor="t">
                      <a:noAutofit/>
                    </a:bodyPr>
                    <a:p>
                      <a:pPr algn="ctr" defTabSz="457200">
                        <a:lnSpc>
                          <a:spcPct val="100000"/>
                        </a:lnSpc>
                      </a:pPr>
                      <a:r>
                        <a:rPr lang="en-US" sz="1200" b="0" u="none" strike="noStrike">
                          <a:solidFill>
                            <a:srgbClr val="252C32"/>
                          </a:solidFill>
                          <a:effectLst/>
                          <a:uFillTx/>
                          <a:latin typeface="Arial"/>
                        </a:rPr>
                        <a:t>Restaurante ruidoso / Tráfego</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algn="ctr" defTabSz="457200">
                        <a:lnSpc>
                          <a:spcPct val="100000"/>
                        </a:lnSpc>
                      </a:pPr>
                      <a:r>
                        <a:rPr lang="en-US" sz="1200" b="0" u="none" strike="noStrike">
                          <a:solidFill>
                            <a:srgbClr val="252C32"/>
                          </a:solidFill>
                          <a:effectLst/>
                          <a:uFillTx/>
                          <a:latin typeface="Arial"/>
                        </a:rPr>
                        <a:t>70 dB – 90 dB</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77680">
                <a:tc>
                  <a:txBody>
                    <a:bodyPr anchor="t">
                      <a:noAutofit/>
                    </a:bodyPr>
                    <a:p>
                      <a:pPr algn="ctr" defTabSz="457200">
                        <a:lnSpc>
                          <a:spcPct val="100000"/>
                        </a:lnSpc>
                      </a:pPr>
                      <a:r>
                        <a:rPr lang="en-US" sz="1200" b="0" u="none" strike="noStrike">
                          <a:solidFill>
                            <a:srgbClr val="252C32"/>
                          </a:solidFill>
                          <a:effectLst/>
                          <a:uFillTx/>
                          <a:latin typeface="Arial"/>
                        </a:rPr>
                        <a:t>Britadeira / Buzina de caminhão</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c>
                  <a:txBody>
                    <a:bodyPr anchor="t">
                      <a:noAutofit/>
                    </a:bodyPr>
                    <a:p>
                      <a:pPr algn="ctr" defTabSz="457200">
                        <a:lnSpc>
                          <a:spcPct val="100000"/>
                        </a:lnSpc>
                      </a:pPr>
                      <a:r>
                        <a:rPr lang="en-US" sz="1200" b="0" u="none" strike="noStrike">
                          <a:solidFill>
                            <a:srgbClr val="252C32"/>
                          </a:solidFill>
                          <a:effectLst/>
                          <a:uFillTx/>
                          <a:latin typeface="Arial"/>
                        </a:rPr>
                        <a:t>100 dB</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6E0"/>
                    </a:solidFill>
                  </a:tcPr>
                </a:tc>
              </a:tr>
              <a:tr h="877680">
                <a:tc>
                  <a:txBody>
                    <a:bodyPr anchor="t">
                      <a:noAutofit/>
                    </a:bodyPr>
                    <a:p>
                      <a:pPr algn="ctr" defTabSz="457200">
                        <a:lnSpc>
                          <a:spcPct val="100000"/>
                        </a:lnSpc>
                      </a:pPr>
                      <a:r>
                        <a:rPr lang="en-US" sz="1200" b="0" u="none" strike="noStrike">
                          <a:solidFill>
                            <a:srgbClr val="252C32"/>
                          </a:solidFill>
                          <a:effectLst/>
                          <a:uFillTx/>
                          <a:latin typeface="Arial"/>
                        </a:rPr>
                        <a:t>Show de rock (próximo às caixas) / Jato</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algn="ctr" defTabSz="457200">
                        <a:lnSpc>
                          <a:spcPct val="100000"/>
                        </a:lnSpc>
                      </a:pPr>
                      <a:r>
                        <a:rPr lang="en-US" sz="1200" b="0" u="none" strike="noStrike">
                          <a:solidFill>
                            <a:srgbClr val="252C32"/>
                          </a:solidFill>
                          <a:effectLst/>
                          <a:uFillTx/>
                          <a:latin typeface="Arial"/>
                        </a:rPr>
                        <a:t>110 dB – 130 dB</a:t>
                      </a:r>
                      <a:endParaRPr lang="pt-BR"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108"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109"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Qualidades Fisiológicas: Timbre</a:t>
            </a:r>
            <a:endParaRPr lang="pt-BR" sz="2400" b="0" u="none" strike="noStrike">
              <a:solidFill>
                <a:srgbClr val="000000"/>
              </a:solidFill>
              <a:effectLst/>
              <a:uFillTx/>
              <a:latin typeface="Arial"/>
            </a:endParaRPr>
          </a:p>
        </p:txBody>
      </p:sp>
      <p:sp>
        <p:nvSpPr>
          <p:cNvPr id="110"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11"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O que é Timbre?</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É a qualidade fisiológica que nos permite diferenciar sons de mesma altura e mesma intensidade emitidos por fontes sonoras distintas.</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Identificação de Instrumentos: É graças ao timbre que uma pessoa distingue imediatamente o som de um piano, flauta ou violino tocando exatamente a mesma nota musical (mesma frequência fundamental).</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Identificação Vocacional: A 'assinatura' da voz de cada pessoa é governada por seu timbre individual.</a:t>
            </a:r>
            <a:endParaRPr lang="pt-BR" sz="1400" b="0" u="none" strike="noStrike">
              <a:solidFill>
                <a:srgbClr val="000000"/>
              </a:solidFill>
              <a:effectLst/>
              <a:uFillTx/>
              <a:latin typeface="Arial"/>
            </a:endParaRPr>
          </a:p>
        </p:txBody>
      </p:sp>
      <p:sp>
        <p:nvSpPr>
          <p:cNvPr id="112" name="Rounded Rectangle 5"/>
          <p:cNvSpPr/>
          <p:nvPr/>
        </p:nvSpPr>
        <p:spPr>
          <a:xfrm>
            <a:off x="6217920" y="1645920"/>
            <a:ext cx="5211720" cy="438876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5760" tIns="365760" rIns="365760" bIns="365760" anchor="ctr">
            <a:noAutofit/>
          </a:bodyPr>
          <a:p>
            <a:pPr algn="ctr" defTabSz="457200">
              <a:lnSpc>
                <a:spcPct val="100000"/>
              </a:lnSpc>
              <a:spcAft>
                <a:spcPts val="1400"/>
              </a:spcAft>
            </a:pPr>
            <a:r>
              <a:rPr lang="en-US" sz="2000" b="1" u="none" strike="noStrike">
                <a:solidFill>
                  <a:srgbClr val="252C32"/>
                </a:solidFill>
                <a:effectLst/>
                <a:uFillTx/>
                <a:latin typeface="Georgia"/>
              </a:rPr>
              <a:t>A Origem Física: Forma da Onda</a:t>
            </a:r>
            <a:endParaRPr lang="pt-BR" sz="2000" b="0" u="none" strike="noStrike">
              <a:solidFill>
                <a:srgbClr val="000000"/>
              </a:solidFill>
              <a:effectLst/>
              <a:uFillTx/>
              <a:latin typeface="Arial"/>
            </a:endParaRPr>
          </a:p>
          <a:p>
            <a:pPr algn="ctr" defTabSz="457200">
              <a:lnSpc>
                <a:spcPct val="100000"/>
              </a:lnSpc>
              <a:spcAft>
                <a:spcPts val="1400"/>
              </a:spcAft>
            </a:pPr>
            <a:r>
              <a:rPr lang="en-US" sz="1400" b="0" u="none" strike="noStrike">
                <a:solidFill>
                  <a:srgbClr val="252C32"/>
                </a:solidFill>
                <a:effectLst/>
                <a:uFillTx/>
                <a:latin typeface="Arial"/>
              </a:rPr>
              <a:t>Fisicamente, as fontes sonoras raramente emitem ondas senoidais puras. Em vez disso, emitem um som complexo resultante da sobreposição do som fundamental (1º harmônico) com diversas outras ondas de frequências múltiplas (harmônicos superiores).</a:t>
            </a:r>
            <a:endParaRPr lang="pt-BR" sz="1400" b="0" u="none" strike="noStrike">
              <a:solidFill>
                <a:srgbClr val="000000"/>
              </a:solidFill>
              <a:effectLst/>
              <a:uFillTx/>
              <a:latin typeface="Arial"/>
            </a:endParaRPr>
          </a:p>
          <a:p>
            <a:pPr algn="ctr" defTabSz="457200">
              <a:lnSpc>
                <a:spcPct val="100000"/>
              </a:lnSpc>
              <a:spcAft>
                <a:spcPts val="1400"/>
              </a:spcAft>
            </a:pPr>
            <a:endParaRPr lang="pt-BR" sz="1400" b="0" u="none" strike="noStrike">
              <a:solidFill>
                <a:srgbClr val="000000"/>
              </a:solidFill>
              <a:effectLst/>
              <a:uFillTx/>
              <a:latin typeface="Arial"/>
            </a:endParaRPr>
          </a:p>
          <a:p>
            <a:pPr algn="ctr" defTabSz="457200">
              <a:lnSpc>
                <a:spcPct val="100000"/>
              </a:lnSpc>
              <a:spcAft>
                <a:spcPts val="1400"/>
              </a:spcAft>
            </a:pPr>
            <a:r>
              <a:rPr lang="en-US" sz="1400" b="0" u="none" strike="noStrike">
                <a:solidFill>
                  <a:srgbClr val="252C32"/>
                </a:solidFill>
                <a:effectLst/>
                <a:uFillTx/>
                <a:latin typeface="Arial"/>
              </a:rPr>
              <a:t>A forma geométrica final da onda de pressão acústica é a assinatura que define o timbre:</a:t>
            </a:r>
            <a:endParaRPr lang="pt-BR" sz="1400" b="0" u="none" strike="noStrike">
              <a:solidFill>
                <a:srgbClr val="000000"/>
              </a:solidFill>
              <a:effectLst/>
              <a:uFillTx/>
              <a:latin typeface="Arial"/>
            </a:endParaRPr>
          </a:p>
          <a:p>
            <a:pPr algn="ctr" defTabSz="457200">
              <a:lnSpc>
                <a:spcPct val="100000"/>
              </a:lnSpc>
              <a:spcAft>
                <a:spcPts val="1400"/>
              </a:spcAft>
            </a:pPr>
            <a:endParaRPr lang="pt-BR" sz="1400" b="0" u="none" strike="noStrike">
              <a:solidFill>
                <a:srgbClr val="000000"/>
              </a:solidFill>
              <a:effectLst/>
              <a:uFillTx/>
              <a:latin typeface="Arial"/>
            </a:endParaRPr>
          </a:p>
          <a:p>
            <a:pPr algn="ctr" defTabSz="457200">
              <a:lnSpc>
                <a:spcPct val="100000"/>
              </a:lnSpc>
              <a:spcAft>
                <a:spcPts val="1400"/>
              </a:spcAft>
            </a:pPr>
            <a:r>
              <a:rPr lang="en-US" sz="1400" b="0" u="none" strike="noStrike">
                <a:solidFill>
                  <a:srgbClr val="252C32"/>
                </a:solidFill>
                <a:effectLst/>
                <a:uFillTx/>
                <a:latin typeface="Arial"/>
              </a:rPr>
              <a:t>• Som Fundamental: Define a altura (frequência) da nota.</a:t>
            </a:r>
            <a:endParaRPr lang="pt-BR" sz="1400" b="0" u="none" strike="noStrike">
              <a:solidFill>
                <a:srgbClr val="000000"/>
              </a:solidFill>
              <a:effectLst/>
              <a:uFillTx/>
              <a:latin typeface="Arial"/>
            </a:endParaRPr>
          </a:p>
          <a:p>
            <a:pPr algn="ct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Harmônicos Superiores: Modelam a geometria da onda complexa.</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113"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114"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Propriedades das Ondas Sonoras</a:t>
            </a:r>
            <a:endParaRPr lang="pt-BR" sz="2400" b="0" u="none" strike="noStrike">
              <a:solidFill>
                <a:srgbClr val="000000"/>
              </a:solidFill>
              <a:effectLst/>
              <a:uFillTx/>
              <a:latin typeface="Arial"/>
            </a:endParaRPr>
          </a:p>
        </p:txBody>
      </p:sp>
      <p:sp>
        <p:nvSpPr>
          <p:cNvPr id="115"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16" name="Rounded Rectangle 4"/>
          <p:cNvSpPr/>
          <p:nvPr/>
        </p:nvSpPr>
        <p:spPr>
          <a:xfrm>
            <a:off x="731520" y="1645920"/>
            <a:ext cx="4114440" cy="4388760"/>
          </a:xfrm>
          <a:prstGeom prst="roundRect">
            <a:avLst>
              <a:gd name="adj" fmla="val 16667"/>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5760" tIns="365760" rIns="365760" bIns="365760" anchor="ctr">
            <a:noAutofit/>
          </a:bodyPr>
          <a:p>
            <a:pPr algn="ctr" defTabSz="457200">
              <a:lnSpc>
                <a:spcPct val="100000"/>
              </a:lnSpc>
              <a:spcAft>
                <a:spcPts val="1400"/>
              </a:spcAft>
            </a:pPr>
            <a:r>
              <a:rPr lang="en-US" sz="2000" b="1" u="none" strike="noStrike">
                <a:solidFill>
                  <a:srgbClr val="FFFFFF"/>
                </a:solidFill>
                <a:effectLst/>
                <a:uFillTx/>
                <a:latin typeface="Georgia"/>
              </a:rPr>
              <a:t>⚠️ Impossibilidade de Polarização</a:t>
            </a:r>
            <a:endParaRPr lang="pt-BR" sz="2000" b="0" u="none" strike="noStrike">
              <a:solidFill>
                <a:srgbClr val="FFFFFF"/>
              </a:solidFill>
              <a:effectLst/>
              <a:uFillTx/>
              <a:latin typeface="Arial"/>
            </a:endParaRPr>
          </a:p>
          <a:p>
            <a:pPr algn="ctr" defTabSz="457200">
              <a:lnSpc>
                <a:spcPct val="100000"/>
              </a:lnSpc>
              <a:spcAft>
                <a:spcPts val="1400"/>
              </a:spcAft>
            </a:pPr>
            <a:r>
              <a:rPr lang="en-US" sz="1400" b="0" u="none" strike="noStrike">
                <a:solidFill>
                  <a:srgbClr val="FFFFFF"/>
                </a:solidFill>
                <a:effectLst/>
                <a:uFillTx/>
                <a:latin typeface="Arial"/>
              </a:rPr>
              <a:t>As ondas sonoras sofrem diversos fenômenos ondulatórios típicos, como reflexão, refração, difração e interferência.</a:t>
            </a:r>
            <a:endParaRPr lang="pt-BR" sz="1400" b="0" u="none" strike="noStrike">
              <a:solidFill>
                <a:srgbClr val="FFFFFF"/>
              </a:solidFill>
              <a:effectLst/>
              <a:uFillTx/>
              <a:latin typeface="Arial"/>
            </a:endParaRPr>
          </a:p>
          <a:p>
            <a:pPr algn="ctr" defTabSz="457200">
              <a:lnSpc>
                <a:spcPct val="100000"/>
              </a:lnSpc>
              <a:spcAft>
                <a:spcPts val="1400"/>
              </a:spcAft>
            </a:pPr>
            <a:endParaRPr lang="pt-BR" sz="1400" b="0" u="none" strike="noStrike">
              <a:solidFill>
                <a:srgbClr val="FFFFFF"/>
              </a:solidFill>
              <a:effectLst/>
              <a:uFillTx/>
              <a:latin typeface="Arial"/>
            </a:endParaRPr>
          </a:p>
          <a:p>
            <a:pPr algn="ctr" defTabSz="457200">
              <a:lnSpc>
                <a:spcPct val="100000"/>
              </a:lnSpc>
              <a:spcAft>
                <a:spcPts val="1400"/>
              </a:spcAft>
            </a:pPr>
            <a:r>
              <a:rPr lang="en-US" sz="1400" b="0" u="none" strike="noStrike">
                <a:solidFill>
                  <a:srgbClr val="FFFFFF"/>
                </a:solidFill>
                <a:effectLst/>
                <a:uFillTx/>
                <a:latin typeface="Arial"/>
              </a:rPr>
              <a:t>No entanto, por se tratarem de ondas longitudinales, as ondas sonoras NÃO podem ser polarizadas.</a:t>
            </a:r>
            <a:endParaRPr lang="pt-BR" sz="1400" b="0" u="none" strike="noStrike">
              <a:solidFill>
                <a:srgbClr val="FFFFFF"/>
              </a:solidFill>
              <a:effectLst/>
              <a:uFillTx/>
              <a:latin typeface="Arial"/>
            </a:endParaRPr>
          </a:p>
          <a:p>
            <a:pPr algn="ctr" defTabSz="457200">
              <a:lnSpc>
                <a:spcPct val="100000"/>
              </a:lnSpc>
              <a:spcAft>
                <a:spcPts val="1400"/>
              </a:spcAft>
            </a:pPr>
            <a:endParaRPr lang="pt-BR" sz="1400" b="0" u="none" strike="noStrike">
              <a:solidFill>
                <a:srgbClr val="FFFFFF"/>
              </a:solidFill>
              <a:effectLst/>
              <a:uFillTx/>
              <a:latin typeface="Arial"/>
            </a:endParaRPr>
          </a:p>
          <a:p>
            <a:pPr defTabSz="457200">
              <a:lnSpc>
                <a:spcPct val="100000"/>
              </a:lnSpc>
            </a:pPr>
            <a:r>
              <a:rPr lang="en-US" sz="1400" b="0" u="none" strike="noStrike">
                <a:solidFill>
                  <a:srgbClr val="FFFFFF"/>
                </a:solidFill>
                <a:effectLst/>
                <a:uFillTx/>
                <a:latin typeface="Arial"/>
              </a:rPr>
              <a:t>A polarização é um fenômeno exclusivo de ondas transversais (como a luz), onde as oscilações ocorrem em uma direção perpendicular à propagação.</a:t>
            </a:r>
            <a:endParaRPr lang="pt-BR" sz="1400" b="0" u="none" strike="noStrike">
              <a:solidFill>
                <a:srgbClr val="FFFFFF"/>
              </a:solidFill>
              <a:effectLst/>
              <a:uFillTx/>
              <a:latin typeface="Arial"/>
            </a:endParaRPr>
          </a:p>
        </p:txBody>
      </p:sp>
      <p:sp>
        <p:nvSpPr>
          <p:cNvPr id="117" name="TextBox 5"/>
          <p:cNvSpPr/>
          <p:nvPr/>
        </p:nvSpPr>
        <p:spPr>
          <a:xfrm>
            <a:off x="5303520" y="1645920"/>
            <a:ext cx="61261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Fenômenos Sonoros em Estudo</a:t>
            </a:r>
            <a:endParaRPr lang="pt-BR" sz="200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Reflexão: </a:t>
            </a:r>
            <a:r>
              <a:rPr lang="en-US" sz="1350" b="0" u="none" strike="noStrike">
                <a:solidFill>
                  <a:srgbClr val="252C32"/>
                </a:solidFill>
                <a:effectLst/>
                <a:uFillTx/>
                <a:latin typeface="Arial"/>
              </a:rPr>
              <a:t>Ocorre quando a onda sonora atinge um obstáculo e retorna ao meio de propagação originando eco ou reverberação.</a:t>
            </a:r>
            <a:endParaRPr lang="pt-BR" sz="135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Refração: </a:t>
            </a:r>
            <a:r>
              <a:rPr lang="en-US" sz="1350" b="0" u="none" strike="noStrike">
                <a:solidFill>
                  <a:srgbClr val="252C32"/>
                </a:solidFill>
                <a:effectLst/>
                <a:uFillTx/>
                <a:latin typeface="Arial"/>
              </a:rPr>
              <a:t>Mudança na velocidade e no comprimento de onda ao passar de um meio material para outro, mantendo a frequência.</a:t>
            </a:r>
            <a:endParaRPr lang="pt-BR" sz="135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Difração: </a:t>
            </a:r>
            <a:r>
              <a:rPr lang="en-US" sz="1350" b="0" u="none" strike="noStrike">
                <a:solidFill>
                  <a:srgbClr val="252C32"/>
                </a:solidFill>
                <a:effectLst/>
                <a:uFillTx/>
                <a:latin typeface="Arial"/>
              </a:rPr>
              <a:t>Capacidade das ondas de contornar obstáculos ou fendas que possuem dimensões comparáveis ao seu comprimento de onda.</a:t>
            </a:r>
            <a:endParaRPr lang="pt-BR" sz="1350" b="0" u="none" strike="noStrike">
              <a:solidFill>
                <a:srgbClr val="000000"/>
              </a:solidFill>
              <a:effectLst/>
              <a:uFillTx/>
              <a:latin typeface="Arial"/>
            </a:endParaRPr>
          </a:p>
          <a:p>
            <a:pPr defTabSz="457200">
              <a:lnSpc>
                <a:spcPct val="100000"/>
              </a:lnSpc>
              <a:spcAft>
                <a:spcPts val="1001"/>
              </a:spcAft>
            </a:pPr>
            <a:r>
              <a:rPr lang="en-US" sz="1400" b="1" u="none" strike="noStrike">
                <a:solidFill>
                  <a:srgbClr val="C09341"/>
                </a:solidFill>
                <a:effectLst/>
                <a:uFillTx/>
                <a:latin typeface="Arial"/>
              </a:rPr>
              <a:t>• Interferência: </a:t>
            </a:r>
            <a:r>
              <a:rPr lang="en-US" sz="1350" b="0" u="none" strike="noStrike">
                <a:solidFill>
                  <a:srgbClr val="252C32"/>
                </a:solidFill>
                <a:effectLst/>
                <a:uFillTx/>
                <a:latin typeface="Arial"/>
              </a:rPr>
              <a:t>Superposição de duas ou mais frentes de ondas sonoras no espaço, gerando pontos de reforço ou anulação acústica.</a:t>
            </a:r>
            <a:endParaRPr lang="pt-BR"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118"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119"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Reflexão Sonora: Reforço, Reverberação e Eco</a:t>
            </a:r>
            <a:endParaRPr lang="pt-BR" sz="2400" b="0" u="none" strike="noStrike">
              <a:solidFill>
                <a:srgbClr val="000000"/>
              </a:solidFill>
              <a:effectLst/>
              <a:uFillTx/>
              <a:latin typeface="Arial"/>
            </a:endParaRPr>
          </a:p>
        </p:txBody>
      </p:sp>
      <p:sp>
        <p:nvSpPr>
          <p:cNvPr id="120"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21" name="Rounded Rectangle 4"/>
          <p:cNvSpPr/>
          <p:nvPr/>
        </p:nvSpPr>
        <p:spPr>
          <a:xfrm>
            <a:off x="731520" y="1828800"/>
            <a:ext cx="3291480" cy="411444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274320" rIns="274320" bIns="274320" anchor="ctr">
            <a:noAutofit/>
          </a:bodyPr>
          <a:p>
            <a:pPr algn="ctr" defTabSz="457200">
              <a:lnSpc>
                <a:spcPct val="100000"/>
              </a:lnSpc>
            </a:pPr>
            <a:r>
              <a:rPr lang="en-US" sz="1200" b="1" u="none" strike="noStrike">
                <a:solidFill>
                  <a:srgbClr val="6E767D"/>
                </a:solidFill>
                <a:effectLst/>
                <a:uFillTx/>
                <a:latin typeface="Arial"/>
              </a:rPr>
              <a:t>REFORÇO</a:t>
            </a:r>
            <a:endParaRPr lang="pt-BR" sz="1200" b="0" u="none" strike="noStrike">
              <a:solidFill>
                <a:srgbClr val="000000"/>
              </a:solidFill>
              <a:effectLst/>
              <a:uFillTx/>
              <a:latin typeface="Arial"/>
            </a:endParaRPr>
          </a:p>
          <a:p>
            <a:pPr algn="ctr" defTabSz="457200">
              <a:lnSpc>
                <a:spcPct val="100000"/>
              </a:lnSpc>
              <a:spcAft>
                <a:spcPts val="1199"/>
              </a:spcAft>
            </a:pPr>
            <a:r>
              <a:rPr lang="en-US" sz="2000" b="1" u="none" strike="noStrike">
                <a:solidFill>
                  <a:srgbClr val="C09341"/>
                </a:solidFill>
                <a:effectLst/>
                <a:uFillTx/>
                <a:latin typeface="Georgia"/>
              </a:rPr>
              <a:t>t_refletido ≈ 0 s</a:t>
            </a:r>
            <a:endParaRPr lang="pt-BR" sz="20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O obstáculo está tão próximo da fonte que o som refletido retorna quase instantaneamente.</a:t>
            </a:r>
            <a:endParaRPr lang="pt-BR" sz="1200" b="0" u="none" strike="noStrike">
              <a:solidFill>
                <a:srgbClr val="000000"/>
              </a:solidFill>
              <a:effectLst/>
              <a:uFillTx/>
              <a:latin typeface="Arial"/>
            </a:endParaRPr>
          </a:p>
          <a:p>
            <a:pPr algn="ctr" defTabSz="457200">
              <a:lnSpc>
                <a:spcPct val="100000"/>
              </a:lnSpc>
              <a:spcAft>
                <a:spcPts val="1199"/>
              </a:spcAft>
            </a:pPr>
            <a:endParaRPr lang="pt-BR" sz="1200" b="0" u="none" strike="noStrike">
              <a:solidFill>
                <a:srgbClr val="000000"/>
              </a:solidFill>
              <a:effectLst/>
              <a:uFillTx/>
              <a:latin typeface="Arial"/>
            </a:endParaRPr>
          </a:p>
          <a:p>
            <a:pPr defTabSz="457200">
              <a:lnSpc>
                <a:spcPct val="100000"/>
              </a:lnSpc>
            </a:pPr>
            <a:r>
              <a:rPr lang="en-US" sz="1200" b="0" u="none" strike="noStrike">
                <a:solidFill>
                  <a:srgbClr val="252C32"/>
                </a:solidFill>
                <a:effectLst/>
                <a:uFillTx/>
                <a:latin typeface="Arial"/>
              </a:rPr>
              <a:t>• Efeito: O ouvido humano percebe ambos como um único som de intensidade reforçada.</a:t>
            </a:r>
            <a:endParaRPr lang="pt-BR" sz="1200" b="0" u="none" strike="noStrike">
              <a:solidFill>
                <a:srgbClr val="000000"/>
              </a:solidFill>
              <a:effectLst/>
              <a:uFillTx/>
              <a:latin typeface="Arial"/>
            </a:endParaRPr>
          </a:p>
        </p:txBody>
      </p:sp>
      <p:sp>
        <p:nvSpPr>
          <p:cNvPr id="122" name="Rounded Rectangle 5"/>
          <p:cNvSpPr/>
          <p:nvPr/>
        </p:nvSpPr>
        <p:spPr>
          <a:xfrm>
            <a:off x="4389120" y="1828800"/>
            <a:ext cx="3291480" cy="411444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274320" rIns="274320" bIns="274320" anchor="ctr">
            <a:noAutofit/>
          </a:bodyPr>
          <a:p>
            <a:pPr algn="ctr" defTabSz="457200">
              <a:lnSpc>
                <a:spcPct val="100000"/>
              </a:lnSpc>
            </a:pPr>
            <a:r>
              <a:rPr lang="en-US" sz="1200" b="1" u="none" strike="noStrike">
                <a:solidFill>
                  <a:srgbClr val="6E767D"/>
                </a:solidFill>
                <a:effectLst/>
                <a:uFillTx/>
                <a:latin typeface="Arial"/>
              </a:rPr>
              <a:t>REVERBERAÇÃO</a:t>
            </a:r>
            <a:endParaRPr lang="pt-BR" sz="1200" b="0" u="none" strike="noStrike">
              <a:solidFill>
                <a:srgbClr val="000000"/>
              </a:solidFill>
              <a:effectLst/>
              <a:uFillTx/>
              <a:latin typeface="Arial"/>
            </a:endParaRPr>
          </a:p>
          <a:p>
            <a:pPr algn="ctr" defTabSz="457200">
              <a:lnSpc>
                <a:spcPct val="100000"/>
              </a:lnSpc>
              <a:spcAft>
                <a:spcPts val="1199"/>
              </a:spcAft>
            </a:pPr>
            <a:r>
              <a:rPr lang="en-US" sz="2000" b="1" u="none" strike="noStrike">
                <a:solidFill>
                  <a:srgbClr val="C09341"/>
                </a:solidFill>
                <a:effectLst/>
                <a:uFillTx/>
                <a:latin typeface="Georgia"/>
              </a:rPr>
              <a:t>t_refletido &lt; 0.10 s</a:t>
            </a:r>
            <a:endParaRPr lang="pt-BR" sz="20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O som refletido chega antes que a sensação do som direto tenha se extinguido no cérebro.</a:t>
            </a:r>
            <a:endParaRPr lang="pt-BR" sz="1200" b="0" u="none" strike="noStrike">
              <a:solidFill>
                <a:srgbClr val="000000"/>
              </a:solidFill>
              <a:effectLst/>
              <a:uFillTx/>
              <a:latin typeface="Arial"/>
            </a:endParaRPr>
          </a:p>
          <a:p>
            <a:pPr algn="ctr" defTabSz="457200">
              <a:lnSpc>
                <a:spcPct val="100000"/>
              </a:lnSpc>
              <a:spcAft>
                <a:spcPts val="1199"/>
              </a:spcAft>
            </a:pPr>
            <a:endParaRPr lang="pt-BR" sz="1200" b="0" u="none" strike="noStrike">
              <a:solidFill>
                <a:srgbClr val="000000"/>
              </a:solidFill>
              <a:effectLst/>
              <a:uFillTx/>
              <a:latin typeface="Arial"/>
            </a:endParaRPr>
          </a:p>
          <a:p>
            <a:pPr defTabSz="457200">
              <a:lnSpc>
                <a:spcPct val="100000"/>
              </a:lnSpc>
            </a:pPr>
            <a:r>
              <a:rPr lang="en-US" sz="1200" b="0" u="none" strike="noStrike">
                <a:solidFill>
                  <a:srgbClr val="252C32"/>
                </a:solidFill>
                <a:effectLst/>
                <a:uFillTx/>
                <a:latin typeface="Arial"/>
              </a:rPr>
              <a:t>• Efeito: Sensação de prolongamento ou persistência do som no ambiente. Muito comum em catedrais e salas vazias.</a:t>
            </a:r>
            <a:endParaRPr lang="pt-BR" sz="1200" b="0" u="none" strike="noStrike">
              <a:solidFill>
                <a:srgbClr val="000000"/>
              </a:solidFill>
              <a:effectLst/>
              <a:uFillTx/>
              <a:latin typeface="Arial"/>
            </a:endParaRPr>
          </a:p>
        </p:txBody>
      </p:sp>
      <p:sp>
        <p:nvSpPr>
          <p:cNvPr id="123" name="Rounded Rectangle 6"/>
          <p:cNvSpPr/>
          <p:nvPr/>
        </p:nvSpPr>
        <p:spPr>
          <a:xfrm>
            <a:off x="8046720" y="1828800"/>
            <a:ext cx="3291480" cy="4114440"/>
          </a:xfrm>
          <a:prstGeom prst="roundRect">
            <a:avLst>
              <a:gd name="adj" fmla="val 16667"/>
            </a:avLst>
          </a:prstGeom>
          <a:solidFill>
            <a:srgbClr val="EBE6E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274320" rIns="274320" bIns="274320" anchor="ctr">
            <a:noAutofit/>
          </a:bodyPr>
          <a:p>
            <a:pPr algn="ctr" defTabSz="457200">
              <a:lnSpc>
                <a:spcPct val="100000"/>
              </a:lnSpc>
            </a:pPr>
            <a:r>
              <a:rPr lang="en-US" sz="1200" b="1" u="none" strike="noStrike">
                <a:solidFill>
                  <a:srgbClr val="6E767D"/>
                </a:solidFill>
                <a:effectLst/>
                <a:uFillTx/>
                <a:latin typeface="Arial"/>
              </a:rPr>
              <a:t>ECO</a:t>
            </a:r>
            <a:endParaRPr lang="pt-BR" sz="1200" b="0" u="none" strike="noStrike">
              <a:solidFill>
                <a:srgbClr val="000000"/>
              </a:solidFill>
              <a:effectLst/>
              <a:uFillTx/>
              <a:latin typeface="Arial"/>
            </a:endParaRPr>
          </a:p>
          <a:p>
            <a:pPr algn="ctr" defTabSz="457200">
              <a:lnSpc>
                <a:spcPct val="100000"/>
              </a:lnSpc>
              <a:spcAft>
                <a:spcPts val="1199"/>
              </a:spcAft>
            </a:pPr>
            <a:r>
              <a:rPr lang="en-US" sz="2000" b="1" u="none" strike="noStrike">
                <a:solidFill>
                  <a:srgbClr val="C09341"/>
                </a:solidFill>
                <a:effectLst/>
                <a:uFillTx/>
                <a:latin typeface="Georgia"/>
              </a:rPr>
              <a:t>t_refletido ≥ 0.10 s</a:t>
            </a:r>
            <a:endParaRPr lang="pt-BR" sz="20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O obstáculo está distante. O som direto e o refletido são distinguidos perfeitamente pelo ouvido.</a:t>
            </a:r>
            <a:endParaRPr lang="pt-BR" sz="1200" b="0" u="none" strike="noStrike">
              <a:solidFill>
                <a:srgbClr val="000000"/>
              </a:solidFill>
              <a:effectLst/>
              <a:uFillTx/>
              <a:latin typeface="Arial"/>
            </a:endParaRPr>
          </a:p>
          <a:p>
            <a:pPr algn="ctr" defTabSz="457200">
              <a:lnSpc>
                <a:spcPct val="100000"/>
              </a:lnSpc>
              <a:spcAft>
                <a:spcPts val="1199"/>
              </a:spcAft>
            </a:pPr>
            <a:endParaRPr lang="pt-BR" sz="12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 Distância Mínima no Ar: 17 m</a:t>
            </a:r>
            <a:endParaRPr lang="pt-BR" sz="1200" b="0" u="none" strike="noStrike">
              <a:solidFill>
                <a:srgbClr val="000000"/>
              </a:solidFill>
              <a:effectLst/>
              <a:uFillTx/>
              <a:latin typeface="Arial"/>
            </a:endParaRPr>
          </a:p>
          <a:p>
            <a:pPr algn="ctr" defTabSz="457200">
              <a:lnSpc>
                <a:spcPct val="100000"/>
              </a:lnSpc>
              <a:spcAft>
                <a:spcPts val="1199"/>
              </a:spcAft>
            </a:pPr>
            <a:r>
              <a:rPr lang="en-US" sz="1200" b="0" u="none" strike="noStrike">
                <a:solidFill>
                  <a:srgbClr val="252C32"/>
                </a:solidFill>
                <a:effectLst/>
                <a:uFillTx/>
                <a:latin typeface="Arial"/>
              </a:rPr>
              <a:t>(calculada a v = 340 m/s)</a:t>
            </a:r>
            <a:endParaRPr lang="pt-BR" sz="1200" b="0" u="none" strike="noStrike">
              <a:solidFill>
                <a:srgbClr val="000000"/>
              </a:solidFill>
              <a:effectLst/>
              <a:uFillTx/>
              <a:latin typeface="Arial"/>
            </a:endParaRPr>
          </a:p>
          <a:p>
            <a:pPr defTabSz="457200">
              <a:lnSpc>
                <a:spcPct val="100000"/>
              </a:lnSpc>
            </a:pPr>
            <a:r>
              <a:rPr lang="en-US" sz="1200" b="0" u="none" strike="noStrike">
                <a:solidFill>
                  <a:srgbClr val="252C32"/>
                </a:solidFill>
                <a:effectLst/>
                <a:uFillTx/>
                <a:latin typeface="Arial"/>
              </a:rPr>
              <a:t>• Distância na Água: 80 m</a:t>
            </a:r>
            <a:endParaRPr lang="pt-B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124"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125"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Refração e Difração Sonora</a:t>
            </a:r>
            <a:endParaRPr lang="pt-BR" sz="2400" b="0" u="none" strike="noStrike">
              <a:solidFill>
                <a:srgbClr val="000000"/>
              </a:solidFill>
              <a:effectLst/>
              <a:uFillTx/>
              <a:latin typeface="Arial"/>
            </a:endParaRPr>
          </a:p>
        </p:txBody>
      </p:sp>
      <p:sp>
        <p:nvSpPr>
          <p:cNvPr id="126"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27"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Refração Sonora</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Ocorre quando a onda sonora atravessa a fronteira de separação entre dois meios com propriedades físicas distintas, provocando uma mudança na sua velocidade de propagação e no seu comprimento de onda.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Frequência Constante: A frequência é determinada unicamente pela fonte emissora e NUNCA varia durante a refração.</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Equação de Propagação:</a:t>
            </a: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v = λ * f  ⇒  λ_água / λ_ar = v_água / v_ar</a:t>
            </a:r>
            <a:endParaRPr lang="pt-BR" sz="1400" b="0" u="none" strike="noStrike">
              <a:solidFill>
                <a:srgbClr val="000000"/>
              </a:solidFill>
              <a:effectLst/>
              <a:uFillTx/>
              <a:latin typeface="Arial"/>
            </a:endParaRPr>
          </a:p>
        </p:txBody>
      </p:sp>
      <p:sp>
        <p:nvSpPr>
          <p:cNvPr id="128" name="TextBox 5"/>
          <p:cNvSpPr/>
          <p:nvPr/>
        </p:nvSpPr>
        <p:spPr>
          <a:xfrm>
            <a:off x="6217920" y="1645920"/>
            <a:ext cx="52117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Difração Sonora</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A difração é a capacidade de uma onda de contornar obstáculos ou fendas. Este fenômeno só é expressivo quando as dimensões do obstáculo/fenda são semelhantes ao comprimento de onda (λ) da onda incidente.</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Comprimentos de Onda do Som: No ar (v = 340 m/s), o som audível (20 Hz a 20 kHz) tem comprimentos de onda de:</a:t>
            </a: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   λ = 2 cm  até  17 metros</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 Consequência: Como os obstáculos do cotidiano (portas, muros, postes) possuem dimensões dentro dessa faixa, o som difrata muito facilmente, permitindo-nos ouvir alguém falando atrás de um muro.</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B"/>
        </a:solidFill>
      </p:bgPr>
    </p:bg>
    <p:spTree>
      <p:nvGrpSpPr>
        <p:cNvPr id="1" name=""/>
        <p:cNvGrpSpPr/>
        <p:nvPr/>
      </p:nvGrpSpPr>
      <p:grpSpPr>
        <a:xfrm>
          <a:off x="0" y="0"/>
          <a:ext cx="0" cy="0"/>
          <a:chOff x="0" y="0"/>
          <a:chExt cx="0" cy="0"/>
        </a:xfrm>
      </p:grpSpPr>
      <p:sp>
        <p:nvSpPr>
          <p:cNvPr id="129" name="TextBox 1"/>
          <p:cNvSpPr/>
          <p:nvPr/>
        </p:nvSpPr>
        <p:spPr>
          <a:xfrm>
            <a:off x="731520" y="365760"/>
            <a:ext cx="1069812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1" u="none" strike="noStrike">
                <a:solidFill>
                  <a:srgbClr val="C09341"/>
                </a:solidFill>
                <a:effectLst/>
                <a:uFillTx/>
                <a:latin typeface="Arial"/>
              </a:rPr>
              <a:t>FUNDAMENTOS DA ACÚSTICA</a:t>
            </a:r>
            <a:endParaRPr lang="pt-BR" sz="1000" b="0" u="none" strike="noStrike">
              <a:solidFill>
                <a:srgbClr val="000000"/>
              </a:solidFill>
              <a:effectLst/>
              <a:uFillTx/>
              <a:latin typeface="Arial"/>
            </a:endParaRPr>
          </a:p>
        </p:txBody>
      </p:sp>
      <p:sp>
        <p:nvSpPr>
          <p:cNvPr id="130" name="TextBox 2"/>
          <p:cNvSpPr/>
          <p:nvPr/>
        </p:nvSpPr>
        <p:spPr>
          <a:xfrm>
            <a:off x="731520" y="594360"/>
            <a:ext cx="1069812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52C32"/>
                </a:solidFill>
                <a:effectLst/>
                <a:uFillTx/>
                <a:latin typeface="Georgia"/>
              </a:rPr>
              <a:t>Batimento e Cancelamento Ativo de Ruído</a:t>
            </a:r>
            <a:endParaRPr lang="pt-BR" sz="2400" b="0" u="none" strike="noStrike">
              <a:solidFill>
                <a:srgbClr val="000000"/>
              </a:solidFill>
              <a:effectLst/>
              <a:uFillTx/>
              <a:latin typeface="Arial"/>
            </a:endParaRPr>
          </a:p>
        </p:txBody>
      </p:sp>
      <p:sp>
        <p:nvSpPr>
          <p:cNvPr id="131" name="Rectangle 3"/>
          <p:cNvSpPr/>
          <p:nvPr/>
        </p:nvSpPr>
        <p:spPr>
          <a:xfrm>
            <a:off x="731520" y="1234440"/>
            <a:ext cx="10728360" cy="18720"/>
          </a:xfrm>
          <a:prstGeom prst="rect">
            <a:avLst/>
          </a:prstGeom>
          <a:solidFill>
            <a:srgbClr val="7A8D7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32" name="TextBox 4"/>
          <p:cNvSpPr/>
          <p:nvPr/>
        </p:nvSpPr>
        <p:spPr>
          <a:xfrm>
            <a:off x="731520" y="1645920"/>
            <a:ext cx="502884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O Fenômeno dos Batimentos</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Ocorre quando há interferência de duas ondas sonoras de frequências ligeiramente diferentes (por exemplo, f_1 = 100 Hz e f_2 = 102 Hz).</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 som resultante tem uma oscilação de amplitude (modulação de volume), alternando periodicamente entre sons fortes (interferência construtiva) e silêncio (interferência destrutiva).</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A frequência de batimento (f_b) é a diferença absoluta das frequências componentes:</a:t>
            </a:r>
            <a:endParaRPr lang="pt-BR" sz="1400" b="0" u="none" strike="noStrike">
              <a:solidFill>
                <a:srgbClr val="000000"/>
              </a:solidFill>
              <a:effectLst/>
              <a:uFillTx/>
              <a:latin typeface="Arial"/>
            </a:endParaRPr>
          </a:p>
          <a:p>
            <a:pPr defTabSz="457200">
              <a:lnSpc>
                <a:spcPct val="100000"/>
              </a:lnSpc>
              <a:spcAft>
                <a:spcPts val="799"/>
              </a:spcAft>
            </a:pPr>
            <a:endParaRPr lang="pt-BR" sz="1400" b="0" u="none" strike="noStrike">
              <a:solidFill>
                <a:srgbClr val="000000"/>
              </a:solidFill>
              <a:effectLst/>
              <a:uFillTx/>
              <a:latin typeface="Arial"/>
            </a:endParaRPr>
          </a:p>
          <a:p>
            <a:pPr defTabSz="457200">
              <a:lnSpc>
                <a:spcPct val="100000"/>
              </a:lnSpc>
            </a:pPr>
            <a:r>
              <a:rPr lang="en-US" sz="2000" b="1" u="none" strike="noStrike">
                <a:solidFill>
                  <a:srgbClr val="C09341"/>
                </a:solidFill>
                <a:effectLst/>
                <a:uFillTx/>
                <a:latin typeface="Georgia"/>
              </a:rPr>
              <a:t>f_b = | f_1 - f_2 |</a:t>
            </a:r>
            <a:endParaRPr lang="pt-BR" sz="2000" b="0" u="none" strike="noStrike">
              <a:solidFill>
                <a:srgbClr val="000000"/>
              </a:solidFill>
              <a:effectLst/>
              <a:uFillTx/>
              <a:latin typeface="Arial"/>
            </a:endParaRPr>
          </a:p>
        </p:txBody>
      </p:sp>
      <p:sp>
        <p:nvSpPr>
          <p:cNvPr id="133" name="TextBox 5"/>
          <p:cNvSpPr/>
          <p:nvPr/>
        </p:nvSpPr>
        <p:spPr>
          <a:xfrm>
            <a:off x="6217920" y="1645920"/>
            <a:ext cx="5211720" cy="4388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400"/>
              </a:spcAft>
            </a:pPr>
            <a:r>
              <a:rPr lang="en-US" sz="2000" b="1" u="none" strike="noStrike">
                <a:solidFill>
                  <a:srgbClr val="252C32"/>
                </a:solidFill>
                <a:effectLst/>
                <a:uFillTx/>
                <a:latin typeface="Georgia"/>
              </a:rPr>
              <a:t>Tecnologia de Silêncio Ativo</a:t>
            </a:r>
            <a:endParaRPr lang="pt-BR" sz="20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Os fones de cancelamento de ruído ativos baseiam-se diretamente na interferência destrutiva das ondas.</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1. Captação: Microfones embutidos captam em tempo real as ondas sonoras do ruído externo ambiente.</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spcAft>
                <a:spcPts val="1400"/>
              </a:spcAft>
            </a:pPr>
            <a:r>
              <a:rPr lang="en-US" sz="1400" b="0" u="none" strike="noStrike">
                <a:solidFill>
                  <a:srgbClr val="252C32"/>
                </a:solidFill>
                <a:effectLst/>
                <a:uFillTx/>
                <a:latin typeface="Arial"/>
              </a:rPr>
              <a:t>2. Inversão de Fase: Um processador digital eletrônico rápido gera uma onda idêntica em oposição de fase (180º fora de fase).</a:t>
            </a:r>
            <a:endParaRPr lang="pt-BR" sz="1400" b="0" u="none" strike="noStrike">
              <a:solidFill>
                <a:srgbClr val="000000"/>
              </a:solidFill>
              <a:effectLst/>
              <a:uFillTx/>
              <a:latin typeface="Arial"/>
            </a:endParaRPr>
          </a:p>
          <a:p>
            <a:pPr defTabSz="457200">
              <a:lnSpc>
                <a:spcPct val="100000"/>
              </a:lnSpc>
              <a:spcAft>
                <a:spcPts val="1400"/>
              </a:spcAft>
            </a:pPr>
            <a:endParaRPr lang="pt-BR" sz="1400" b="0" u="none" strike="noStrike">
              <a:solidFill>
                <a:srgbClr val="000000"/>
              </a:solidFill>
              <a:effectLst/>
              <a:uFillTx/>
              <a:latin typeface="Arial"/>
            </a:endParaRPr>
          </a:p>
          <a:p>
            <a:pPr defTabSz="457200">
              <a:lnSpc>
                <a:spcPct val="100000"/>
              </a:lnSpc>
            </a:pPr>
            <a:r>
              <a:rPr lang="en-US" sz="1400" b="0" u="none" strike="noStrike">
                <a:solidFill>
                  <a:srgbClr val="252C32"/>
                </a:solidFill>
                <a:effectLst/>
                <a:uFillTx/>
                <a:latin typeface="Arial"/>
              </a:rPr>
              <a:t>3. Anulação: Ambas as ondas interferem destrutivamente nos ouvidos do usuário, cancelando o barulho quase por completo.</a:t>
            </a:r>
            <a:endParaRPr lang="pt-B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LibreOffice/26.2.4.2$Linux_X86_64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pt-BR</dc:language>
  <cp:lastModifiedBy/>
  <cp:lastPrinted>2026-08-03T17:30:24Z</cp:lastPrinted>
  <dcterms:modified xsi:type="dcterms:W3CDTF">2026-08-03T17:30:47Z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